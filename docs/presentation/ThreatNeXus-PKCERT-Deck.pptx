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positioning line before anything else: 'ThreatNeXus is a research prototype, built during a PKCERT/NCERT internship. It's not a deployed system and I'm not claiming otherwise today.' Setting that expectation first makes every claim that follows easier to trust, not harder. DON'T OVERCLAIM: no 'production-ready', no 'deployed', no national-scale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not abstract. Don't open with 'cyberattacks are increasing' — open with the exact failure: a CERT receives the same exposure report a second time, months later, and the process has no way to connect it to the first one. It looks brand new. Nobody can say whether it was fixed, whether it's recurring, or who's accountable for it. VISUAL: the hook statement carries the slide, no diagram needed. DON'T OVERCLAIM: generic and structural, not a fabricated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card as a real behavior, not a hypothetical. This is the cost of fragmentation, stated plainly. DON'T OVERCLAIM: don't imply every CERT works this exact way — frame it as the common failure mode this project was built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sentence exactly as written, then pause — it's the one line the rest of the talk supports. DON'T OVERCLAIM: 'real identity' is a real, tested claim — don't extend into 'never loses a report' or any absolute.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arrow chain left to right, once, slowly. Emphasize 'every arrow writes its own audit event' — implemented at the service layer so a missing audit call fails a test rather than shipping silently. DEMO CUE: this is the map the live demo will walk physically.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Analyst who drafts a notification structurally cannot also approve it. It's a 403 the system returns, not a policy someone has to remember to follow. DON'T OVERCLAIM: name the actual mechanism (capability-based, non-hierarchical), not 'enterprise RBAC'. DEMO CUE: flag that the demo will show a role's request get refused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what each provider adds in one breath — the point is breadth and uniformity, not depth on any one. Say explicitly: every one is optional, and a missing key disables exactly one provider, never the whole application. DON'T OVERCLAIM: never state uptime, latency, or accuracy for any provider. FALLBACK: if no key is configured in the demo env, say so directly — 'shown as not-configured here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governance slide, not a features slide — slow down here. A high reputation score, an open port: none of it closes a case by itself. An analyst reads it and decides. Land 'unknown is never zero' specifically — it's the rule that makes every other number on the dashboard trustworthy. DON'T OVERCLAIM: evidence 'supports' or 'informs', never 'proves' or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ahead of the AI question. Honest framing: AI here does less than people expect, deliberately. Off by default, no live AI provider wired up at all today — enabling the switch activates a provider that safely resolves to 'disabled'. It has no access to a database, transaction, or capability token, so there's nothing for it to close, send, or score even if you wanted it to. DON'T OVERCLAIM: never 'AI decides' or 'AI helps close cases faster' — no such measurement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specific, checkable claim, so make it specific: a mapping justified only by exposure or risk score is refused by the server, not just discouraged in the interface. Same rule for the AI path — no separate, looser rule. DEMO CUE: if time allows, show the actual refusal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as a checklist, not a story — this is for anyone doing technical diligence. Four controls, stated specifically. DON'T OVERCLAIM: don't say 'enterprise-grade' or 'bank-level' — name the mechanism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once: frontend talks only to the API; the API talks to services; services talk to Postgres and, only on a human-triggered request, to a provider. The frontend never reaches a provider or the database directly. DON'T OVERCLAIM: not microservices — a single Express app with a modular service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the exact sequence about to happen. DEMO CUE: this slide IS the demo cue — transition directly into the live walkthrough (docs/presentation/DEMO_WALKTHROUGH.md) from here. FALLBACK: if live demo isn't possible, narrate from static screenshots or this slide's description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numbers breathe — don't over-narrate each one. The evaluators are the actual bar this project holds itself to: a human wrote down the correct answer by hand, and the real production code has to reproduce it exactly. DON'T OVERCLAIM: these are test/CI counts, not an external security-audit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or skip this slide. Say each limit plainly, without softening language. This is the slide that makes every earlier claim believable. DON'T follow any of these with 'but we're fixing that soon' unless it's genuinely on the roadmap next — false reassurance undoes the credibility this slide is building. DEMO CUE: none — deliberately not demoed.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same tagline the deck opened with. State 'ready for technical review' exactly as worded — the ceiling, not 'ready for deployment' or 'ready for adoption', even if asked directly; redirect to the honest-limits slide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210"/>
        </a:solidFill>
      </p:bgPr>
    </p:bg>
    <p:spTree>
      <p:nvGrpSpPr>
        <p:cNvPr id="1" name=""/>
        <p:cNvGrpSpPr/>
        <p:nvPr/>
      </p:nvGrpSpPr>
      <p:grpSpPr>
        <a:xfrm>
          <a:off x="0" y="0"/>
          <a:ext cx="0" cy="0"/>
          <a:chOff x="0" y="0"/>
          <a:chExt cx="0" cy="0"/>
        </a:xfrm>
      </p:grpSpPr>
      <p:sp>
        <p:nvSpPr>
          <p:cNvPr id="2" name="Shape 0"/>
          <p:cNvSpPr/>
          <p:nvPr/>
        </p:nvSpPr>
        <p:spPr>
          <a:xfrm>
            <a:off x="5638648" y="1005840"/>
            <a:ext cx="914400" cy="914400"/>
          </a:xfrm>
          <a:prstGeom prst="ellipse">
            <a:avLst/>
          </a:prstGeom>
          <a:solidFill>
            <a:srgbClr val="14251E"/>
          </a:solidFill>
          <a:ln/>
        </p:spPr>
      </p:sp>
      <p:sp>
        <p:nvSpPr>
          <p:cNvPr id="3" name="Text 1"/>
          <p:cNvSpPr/>
          <p:nvPr/>
        </p:nvSpPr>
        <p:spPr>
          <a:xfrm>
            <a:off x="5638648" y="1005840"/>
            <a:ext cx="914400" cy="914400"/>
          </a:xfrm>
          <a:prstGeom prst="rect">
            <a:avLst/>
          </a:prstGeom>
          <a:noFill/>
          <a:ln/>
        </p:spPr>
        <p:txBody>
          <a:bodyPr wrap="square" lIns="0" tIns="0" rIns="0" bIns="0" rtlCol="0" anchor="ctr"/>
          <a:lstStyle/>
          <a:p>
            <a:pPr algn="ctr" indent="0" marL="0">
              <a:buNone/>
            </a:pPr>
            <a:r>
              <a:rPr lang="en-US" sz="3000" b="1" dirty="0">
                <a:solidFill>
                  <a:srgbClr val="35C477"/>
                </a:solidFill>
                <a:latin typeface="Cambria" pitchFamily="34" charset="0"/>
                <a:ea typeface="Cambria" pitchFamily="34" charset="-122"/>
                <a:cs typeface="Cambria" pitchFamily="34" charset="-120"/>
              </a:rPr>
              <a:t>T</a:t>
            </a:r>
            <a:endParaRPr lang="en-US" sz="3000" dirty="0"/>
          </a:p>
        </p:txBody>
      </p:sp>
      <p:sp>
        <p:nvSpPr>
          <p:cNvPr id="4" name="Text 2"/>
          <p:cNvSpPr/>
          <p:nvPr/>
        </p:nvSpPr>
        <p:spPr>
          <a:xfrm>
            <a:off x="0" y="2286000"/>
            <a:ext cx="12191695" cy="1005840"/>
          </a:xfrm>
          <a:prstGeom prst="rect">
            <a:avLst/>
          </a:prstGeom>
          <a:noFill/>
          <a:ln/>
        </p:spPr>
        <p:txBody>
          <a:bodyPr wrap="square" lIns="0" tIns="0" rIns="0" bIns="0" rtlCol="0" anchor="ctr"/>
          <a:lstStyle/>
          <a:p>
            <a:pPr algn="ctr" indent="0" marL="0">
              <a:buNone/>
            </a:pPr>
            <a:r>
              <a:rPr lang="en-US" sz="5400" b="1" dirty="0">
                <a:solidFill>
                  <a:srgbClr val="EAF1F9"/>
                </a:solidFill>
                <a:latin typeface="Cambria" pitchFamily="34" charset="0"/>
                <a:ea typeface="Cambria" pitchFamily="34" charset="-122"/>
                <a:cs typeface="Cambria" pitchFamily="34" charset="-120"/>
              </a:rPr>
              <a:t>ThreatNeXus</a:t>
            </a:r>
            <a:endParaRPr lang="en-US" sz="5400" dirty="0"/>
          </a:p>
        </p:txBody>
      </p:sp>
      <p:sp>
        <p:nvSpPr>
          <p:cNvPr id="5" name="Text 3"/>
          <p:cNvSpPr/>
          <p:nvPr/>
        </p:nvSpPr>
        <p:spPr>
          <a:xfrm>
            <a:off x="0" y="3246120"/>
            <a:ext cx="12191695" cy="548640"/>
          </a:xfrm>
          <a:prstGeom prst="rect">
            <a:avLst/>
          </a:prstGeom>
          <a:noFill/>
          <a:ln/>
        </p:spPr>
        <p:txBody>
          <a:bodyPr wrap="square" lIns="0" tIns="0" rIns="0" bIns="0" rtlCol="0" anchor="ctr"/>
          <a:lstStyle/>
          <a:p>
            <a:pPr algn="ctr" indent="0" marL="0">
              <a:buNone/>
            </a:pPr>
            <a:r>
              <a:rPr lang="en-US" sz="2000" i="1" dirty="0">
                <a:solidFill>
                  <a:srgbClr val="35C477"/>
                </a:solidFill>
                <a:latin typeface="Calibri" pitchFamily="34" charset="0"/>
                <a:ea typeface="Calibri" pitchFamily="34" charset="-122"/>
                <a:cs typeface="Calibri" pitchFamily="34" charset="-120"/>
              </a:rPr>
              <a:t>Connecting Intelligence with Action</a:t>
            </a:r>
            <a:endParaRPr lang="en-US" sz="2000" dirty="0"/>
          </a:p>
        </p:txBody>
      </p:sp>
      <p:sp>
        <p:nvSpPr>
          <p:cNvPr id="6" name="Text 4"/>
          <p:cNvSpPr/>
          <p:nvPr/>
        </p:nvSpPr>
        <p:spPr>
          <a:xfrm>
            <a:off x="1523848" y="3886200"/>
            <a:ext cx="9144000" cy="457200"/>
          </a:xfrm>
          <a:prstGeom prst="rect">
            <a:avLst/>
          </a:prstGeom>
          <a:noFill/>
          <a:ln/>
        </p:spPr>
        <p:txBody>
          <a:bodyPr wrap="square" lIns="0" tIns="0" rIns="0" bIns="0" rtlCol="0" anchor="ctr"/>
          <a:lstStyle/>
          <a:p>
            <a:pPr algn="ctr" indent="0" marL="0">
              <a:buNone/>
            </a:pPr>
            <a:r>
              <a:rPr lang="en-US" sz="1500" dirty="0">
                <a:solidFill>
                  <a:srgbClr val="9DAFC2"/>
                </a:solidFill>
                <a:latin typeface="Calibri" pitchFamily="34" charset="0"/>
                <a:ea typeface="Calibri" pitchFamily="34" charset="-122"/>
                <a:cs typeface="Calibri" pitchFamily="34" charset="-120"/>
              </a:rPr>
              <a:t>A defensive threat-intelligence orchestration and incident-response workflow</a:t>
            </a:r>
            <a:endParaRPr lang="en-US" sz="1500" dirty="0"/>
          </a:p>
        </p:txBody>
      </p:sp>
      <p:sp>
        <p:nvSpPr>
          <p:cNvPr id="7" name="Text 5"/>
          <p:cNvSpPr/>
          <p:nvPr/>
        </p:nvSpPr>
        <p:spPr>
          <a:xfrm>
            <a:off x="0" y="6035040"/>
            <a:ext cx="12191695" cy="365760"/>
          </a:xfrm>
          <a:prstGeom prst="rect">
            <a:avLst/>
          </a:prstGeom>
          <a:noFill/>
          <a:ln/>
        </p:spPr>
        <p:txBody>
          <a:bodyPr wrap="square" lIns="0" tIns="0" rIns="0" bIns="0" rtlCol="0" anchor="ctr"/>
          <a:lstStyle/>
          <a:p>
            <a:pPr algn="ctr" indent="0" marL="0">
              <a:buNone/>
            </a:pPr>
            <a:r>
              <a:rPr lang="en-US" sz="1200" dirty="0">
                <a:solidFill>
                  <a:srgbClr val="9DAFC2"/>
                </a:solidFill>
                <a:latin typeface="Calibri" pitchFamily="34" charset="0"/>
                <a:ea typeface="Calibri" pitchFamily="34" charset="-122"/>
                <a:cs typeface="Calibri" pitchFamily="34" charset="-120"/>
              </a:rPr>
              <a:t>Research prototype — built during a PKCERT/NCERT internship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THE PROBLEM</a:t>
            </a:r>
            <a:endParaRPr lang="en-US" sz="1200" dirty="0"/>
          </a:p>
        </p:txBody>
      </p:sp>
      <p:sp>
        <p:nvSpPr>
          <p:cNvPr id="3" name="Shape 1"/>
          <p:cNvSpPr/>
          <p:nvPr/>
        </p:nvSpPr>
        <p:spPr>
          <a:xfrm>
            <a:off x="548640" y="1371600"/>
            <a:ext cx="11094415" cy="3291840"/>
          </a:xfrm>
          <a:prstGeom prst="roundRect">
            <a:avLst>
              <a:gd name="adj" fmla="val 2222"/>
            </a:avLst>
          </a:prstGeom>
          <a:solidFill>
            <a:srgbClr val="F5F8F6"/>
          </a:solidFill>
          <a:ln/>
          <a:effectLst>
            <a:outerShdw sx="100000" sy="100000" kx="0" ky="0" algn="bl" rotWithShape="0" blurRad="76200" dist="25400" dir="5400000">
              <a:srgbClr val="9AA8A2">
                <a:alpha val="35000"/>
              </a:srgbClr>
            </a:outerShdw>
          </a:effectLst>
        </p:spPr>
      </p:sp>
      <p:sp>
        <p:nvSpPr>
          <p:cNvPr id="4" name="Text 2"/>
          <p:cNvSpPr/>
          <p:nvPr/>
        </p:nvSpPr>
        <p:spPr>
          <a:xfrm>
            <a:off x="1097280" y="1737360"/>
            <a:ext cx="9997135" cy="1280160"/>
          </a:xfrm>
          <a:prstGeom prst="rect">
            <a:avLst/>
          </a:prstGeom>
          <a:noFill/>
          <a:ln/>
        </p:spPr>
        <p:txBody>
          <a:bodyPr wrap="square" lIns="0" tIns="0" rIns="0" bIns="0" rtlCol="0" anchor="ctr"/>
          <a:lstStyle/>
          <a:p>
            <a:pPr algn="l" indent="0" marL="0">
              <a:buNone/>
            </a:pPr>
            <a:r>
              <a:rPr lang="en-US" sz="3000" b="1" dirty="0">
                <a:solidFill>
                  <a:srgbClr val="10201A"/>
                </a:solidFill>
                <a:latin typeface="Cambria" pitchFamily="34" charset="0"/>
                <a:ea typeface="Cambria" pitchFamily="34" charset="-122"/>
                <a:cs typeface="Cambria" pitchFamily="34" charset="-120"/>
              </a:rPr>
              <a:t>A CERT gets the same exposure report twice, and has no way to know it.</a:t>
            </a:r>
            <a:endParaRPr lang="en-US" sz="3000" dirty="0"/>
          </a:p>
        </p:txBody>
      </p:sp>
      <p:sp>
        <p:nvSpPr>
          <p:cNvPr id="5" name="Text 3"/>
          <p:cNvSpPr/>
          <p:nvPr/>
        </p:nvSpPr>
        <p:spPr>
          <a:xfrm>
            <a:off x="1097280" y="3200400"/>
            <a:ext cx="9997135" cy="12801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D36"/>
                </a:solidFill>
                <a:latin typeface="Calibri" pitchFamily="34" charset="0"/>
                <a:ea typeface="Calibri" pitchFamily="34" charset="-122"/>
                <a:cs typeface="Calibri" pitchFamily="34" charset="-120"/>
              </a:rPr>
              <a:t>Recurring exposure reports arrive as flat files</a:t>
            </a:r>
            <a:endParaRPr lang="en-US" sz="1600" dirty="0"/>
          </a:p>
          <a:p>
            <a:pPr marL="342900" indent="-342900">
              <a:spcAft>
                <a:spcPts val="1200"/>
              </a:spcAft>
              <a:buSzPct val="100000"/>
              <a:buChar char="–"/>
            </a:pPr>
            <a:r>
              <a:rPr lang="en-US" sz="1600" dirty="0">
                <a:solidFill>
                  <a:srgbClr val="2B3D36"/>
                </a:solidFill>
                <a:latin typeface="Calibri" pitchFamily="34" charset="0"/>
                <a:ea typeface="Calibri" pitchFamily="34" charset="-122"/>
                <a:cs typeface="Calibri" pitchFamily="34" charset="-120"/>
              </a:rPr>
              <a:t>Handled by hand, the same host gets re-reported, re-triaged, re-notified</a:t>
            </a:r>
            <a:endParaRPr lang="en-US" sz="1600" dirty="0"/>
          </a:p>
          <a:p>
            <a:pPr marL="342900" indent="-342900">
              <a:spcAft>
                <a:spcPts val="1200"/>
              </a:spcAft>
              <a:buSzPct val="100000"/>
              <a:buChar char="–"/>
            </a:pPr>
            <a:r>
              <a:rPr lang="en-US" sz="1600" dirty="0">
                <a:solidFill>
                  <a:srgbClr val="2B3D36"/>
                </a:solidFill>
                <a:latin typeface="Calibri" pitchFamily="34" charset="0"/>
                <a:ea typeface="Calibri" pitchFamily="34" charset="-122"/>
                <a:cs typeface="Calibri" pitchFamily="34" charset="-120"/>
              </a:rPr>
              <a:t>Nobody can say: was it fixed? Did it come back? Who owns it?</a:t>
            </a:r>
            <a:endParaRPr lang="en-US" sz="1600" dirty="0"/>
          </a:p>
        </p:txBody>
      </p:sp>
      <p:sp>
        <p:nvSpPr>
          <p:cNvPr id="6" name="Text 4"/>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7" name="Text 5"/>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WHY CURRENT WORKFLOWS BREAK DOWN</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Fragmentation has a cost analysts pay every day</a:t>
            </a:r>
            <a:endParaRPr lang="en-US" sz="2800" dirty="0"/>
          </a:p>
        </p:txBody>
      </p:sp>
      <p:sp>
        <p:nvSpPr>
          <p:cNvPr id="4" name="Shape 2"/>
          <p:cNvSpPr/>
          <p:nvPr/>
        </p:nvSpPr>
        <p:spPr>
          <a:xfrm>
            <a:off x="548640" y="1828800"/>
            <a:ext cx="5364328" cy="1965960"/>
          </a:xfrm>
          <a:prstGeom prst="roundRect">
            <a:avLst>
              <a:gd name="adj" fmla="val 3721"/>
            </a:avLst>
          </a:prstGeom>
          <a:solidFill>
            <a:srgbClr val="EEF3F0"/>
          </a:solidFill>
          <a:ln/>
          <a:effectLst>
            <a:outerShdw sx="100000" sy="100000" kx="0" ky="0" algn="bl" rotWithShape="0" blurRad="76200" dist="25400" dir="5400000">
              <a:srgbClr val="9AA8A2">
                <a:alpha val="35000"/>
              </a:srgbClr>
            </a:outerShdw>
          </a:effectLst>
        </p:spPr>
      </p:sp>
      <p:sp>
        <p:nvSpPr>
          <p:cNvPr id="5" name="Shape 3"/>
          <p:cNvSpPr/>
          <p:nvPr/>
        </p:nvSpPr>
        <p:spPr>
          <a:xfrm>
            <a:off x="868680" y="2148840"/>
            <a:ext cx="548640" cy="548640"/>
          </a:xfrm>
          <a:prstGeom prst="ellipse">
            <a:avLst/>
          </a:prstGeom>
          <a:solidFill>
            <a:srgbClr val="14251E"/>
          </a:solidFill>
          <a:ln/>
        </p:spPr>
      </p:sp>
      <p:sp>
        <p:nvSpPr>
          <p:cNvPr id="6" name="Text 4"/>
          <p:cNvSpPr/>
          <p:nvPr/>
        </p:nvSpPr>
        <p:spPr>
          <a:xfrm>
            <a:off x="868680" y="214884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00200" y="2103120"/>
            <a:ext cx="4084168" cy="365760"/>
          </a:xfrm>
          <a:prstGeom prst="rect">
            <a:avLst/>
          </a:prstGeom>
          <a:noFill/>
          <a:ln/>
        </p:spPr>
        <p:txBody>
          <a:bodyPr wrap="square" lIns="0" tIns="0" rIns="0" bIns="0" rtlCol="0" anchor="ctr"/>
          <a:lstStyle/>
          <a:p>
            <a:pPr indent="0" marL="0">
              <a:buNone/>
            </a:pPr>
            <a:r>
              <a:rPr lang="en-US" sz="1600" b="1" dirty="0">
                <a:solidFill>
                  <a:srgbClr val="10201A"/>
                </a:solidFill>
                <a:latin typeface="Cambria" pitchFamily="34" charset="0"/>
                <a:ea typeface="Cambria" pitchFamily="34" charset="-122"/>
                <a:cs typeface="Cambria" pitchFamily="34" charset="-120"/>
              </a:rPr>
              <a:t>Separate portals</a:t>
            </a:r>
            <a:endParaRPr lang="en-US" sz="1600" dirty="0"/>
          </a:p>
        </p:txBody>
      </p:sp>
      <p:sp>
        <p:nvSpPr>
          <p:cNvPr id="8" name="Text 6"/>
          <p:cNvSpPr/>
          <p:nvPr/>
        </p:nvSpPr>
        <p:spPr>
          <a:xfrm>
            <a:off x="1600200" y="2514600"/>
            <a:ext cx="4084168" cy="1051560"/>
          </a:xfrm>
          <a:prstGeom prst="rect">
            <a:avLst/>
          </a:prstGeom>
          <a:noFill/>
          <a:ln/>
        </p:spPr>
        <p:txBody>
          <a:bodyPr wrap="square" lIns="0" tIns="0" rIns="0" bIns="0" rtlCol="0" anchor="t"/>
          <a:lstStyle/>
          <a:p>
            <a:pPr indent="0" marL="0">
              <a:buNone/>
            </a:pPr>
            <a:r>
              <a:rPr lang="en-US" sz="1300" dirty="0">
                <a:solidFill>
                  <a:srgbClr val="2B3D36"/>
                </a:solidFill>
                <a:latin typeface="Calibri" pitchFamily="34" charset="0"/>
                <a:ea typeface="Calibri" pitchFamily="34" charset="-122"/>
                <a:cs typeface="Calibri" pitchFamily="34" charset="-120"/>
              </a:rPr>
              <a:t>Analysts move between separate provider portals, one tab per source</a:t>
            </a:r>
            <a:endParaRPr lang="en-US" sz="1300" dirty="0"/>
          </a:p>
        </p:txBody>
      </p:sp>
      <p:sp>
        <p:nvSpPr>
          <p:cNvPr id="9" name="Shape 7"/>
          <p:cNvSpPr/>
          <p:nvPr/>
        </p:nvSpPr>
        <p:spPr>
          <a:xfrm>
            <a:off x="6278728" y="1828800"/>
            <a:ext cx="5364328" cy="1965960"/>
          </a:xfrm>
          <a:prstGeom prst="roundRect">
            <a:avLst>
              <a:gd name="adj" fmla="val 3721"/>
            </a:avLst>
          </a:prstGeom>
          <a:solidFill>
            <a:srgbClr val="EEF3F0"/>
          </a:solidFill>
          <a:ln/>
          <a:effectLst>
            <a:outerShdw sx="100000" sy="100000" kx="0" ky="0" algn="bl" rotWithShape="0" blurRad="76200" dist="25400" dir="5400000">
              <a:srgbClr val="9AA8A2">
                <a:alpha val="35000"/>
              </a:srgbClr>
            </a:outerShdw>
          </a:effectLst>
        </p:spPr>
      </p:sp>
      <p:sp>
        <p:nvSpPr>
          <p:cNvPr id="10" name="Shape 8"/>
          <p:cNvSpPr/>
          <p:nvPr/>
        </p:nvSpPr>
        <p:spPr>
          <a:xfrm>
            <a:off x="6598768" y="2148840"/>
            <a:ext cx="548640" cy="548640"/>
          </a:xfrm>
          <a:prstGeom prst="ellipse">
            <a:avLst/>
          </a:prstGeom>
          <a:solidFill>
            <a:srgbClr val="14251E"/>
          </a:solidFill>
          <a:ln/>
        </p:spPr>
      </p:sp>
      <p:sp>
        <p:nvSpPr>
          <p:cNvPr id="11" name="Text 9"/>
          <p:cNvSpPr/>
          <p:nvPr/>
        </p:nvSpPr>
        <p:spPr>
          <a:xfrm>
            <a:off x="6598768" y="214884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7330288" y="2103120"/>
            <a:ext cx="4084168" cy="365760"/>
          </a:xfrm>
          <a:prstGeom prst="rect">
            <a:avLst/>
          </a:prstGeom>
          <a:noFill/>
          <a:ln/>
        </p:spPr>
        <p:txBody>
          <a:bodyPr wrap="square" lIns="0" tIns="0" rIns="0" bIns="0" rtlCol="0" anchor="ctr"/>
          <a:lstStyle/>
          <a:p>
            <a:pPr indent="0" marL="0">
              <a:buNone/>
            </a:pPr>
            <a:r>
              <a:rPr lang="en-US" sz="1600" b="1" dirty="0">
                <a:solidFill>
                  <a:srgbClr val="10201A"/>
                </a:solidFill>
                <a:latin typeface="Cambria" pitchFamily="34" charset="0"/>
                <a:ea typeface="Cambria" pitchFamily="34" charset="-122"/>
                <a:cs typeface="Cambria" pitchFamily="34" charset="-120"/>
              </a:rPr>
              <a:t>Judged from memory</a:t>
            </a:r>
            <a:endParaRPr lang="en-US" sz="1600" dirty="0"/>
          </a:p>
        </p:txBody>
      </p:sp>
      <p:sp>
        <p:nvSpPr>
          <p:cNvPr id="13" name="Text 11"/>
          <p:cNvSpPr/>
          <p:nvPr/>
        </p:nvSpPr>
        <p:spPr>
          <a:xfrm>
            <a:off x="7330288" y="2514600"/>
            <a:ext cx="4084168" cy="1051560"/>
          </a:xfrm>
          <a:prstGeom prst="rect">
            <a:avLst/>
          </a:prstGeom>
          <a:noFill/>
          <a:ln/>
        </p:spPr>
        <p:txBody>
          <a:bodyPr wrap="square" lIns="0" tIns="0" rIns="0" bIns="0" rtlCol="0" anchor="t"/>
          <a:lstStyle/>
          <a:p>
            <a:pPr indent="0" marL="0">
              <a:buNone/>
            </a:pPr>
            <a:r>
              <a:rPr lang="en-US" sz="1300" dirty="0">
                <a:solidFill>
                  <a:srgbClr val="2B3D36"/>
                </a:solidFill>
                <a:latin typeface="Calibri" pitchFamily="34" charset="0"/>
                <a:ea typeface="Calibri" pitchFamily="34" charset="-122"/>
                <a:cs typeface="Calibri" pitchFamily="34" charset="-120"/>
              </a:rPr>
              <a:t>Evidence is judged from memory, under time pressure, with no consistent record</a:t>
            </a:r>
            <a:endParaRPr lang="en-US" sz="1300" dirty="0"/>
          </a:p>
        </p:txBody>
      </p:sp>
      <p:sp>
        <p:nvSpPr>
          <p:cNvPr id="14" name="Shape 12"/>
          <p:cNvSpPr/>
          <p:nvPr/>
        </p:nvSpPr>
        <p:spPr>
          <a:xfrm>
            <a:off x="548640" y="4160520"/>
            <a:ext cx="5364328" cy="1965960"/>
          </a:xfrm>
          <a:prstGeom prst="roundRect">
            <a:avLst>
              <a:gd name="adj" fmla="val 3721"/>
            </a:avLst>
          </a:prstGeom>
          <a:solidFill>
            <a:srgbClr val="EEF3F0"/>
          </a:solidFill>
          <a:ln/>
          <a:effectLst>
            <a:outerShdw sx="100000" sy="100000" kx="0" ky="0" algn="bl" rotWithShape="0" blurRad="76200" dist="25400" dir="5400000">
              <a:srgbClr val="9AA8A2">
                <a:alpha val="35000"/>
              </a:srgbClr>
            </a:outerShdw>
          </a:effectLst>
        </p:spPr>
      </p:sp>
      <p:sp>
        <p:nvSpPr>
          <p:cNvPr id="15" name="Shape 13"/>
          <p:cNvSpPr/>
          <p:nvPr/>
        </p:nvSpPr>
        <p:spPr>
          <a:xfrm>
            <a:off x="868680" y="4480560"/>
            <a:ext cx="548640" cy="548640"/>
          </a:xfrm>
          <a:prstGeom prst="ellipse">
            <a:avLst/>
          </a:prstGeom>
          <a:solidFill>
            <a:srgbClr val="14251E"/>
          </a:solidFill>
          <a:ln/>
        </p:spPr>
      </p:sp>
      <p:sp>
        <p:nvSpPr>
          <p:cNvPr id="16" name="Text 14"/>
          <p:cNvSpPr/>
          <p:nvPr/>
        </p:nvSpPr>
        <p:spPr>
          <a:xfrm>
            <a:off x="868680" y="448056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00200" y="4434840"/>
            <a:ext cx="4084168" cy="365760"/>
          </a:xfrm>
          <a:prstGeom prst="rect">
            <a:avLst/>
          </a:prstGeom>
          <a:noFill/>
          <a:ln/>
        </p:spPr>
        <p:txBody>
          <a:bodyPr wrap="square" lIns="0" tIns="0" rIns="0" bIns="0" rtlCol="0" anchor="ctr"/>
          <a:lstStyle/>
          <a:p>
            <a:pPr indent="0" marL="0">
              <a:buNone/>
            </a:pPr>
            <a:r>
              <a:rPr lang="en-US" sz="1600" b="1" dirty="0">
                <a:solidFill>
                  <a:srgbClr val="10201A"/>
                </a:solidFill>
                <a:latin typeface="Cambria" pitchFamily="34" charset="0"/>
                <a:ea typeface="Cambria" pitchFamily="34" charset="-122"/>
                <a:cs typeface="Cambria" pitchFamily="34" charset="-120"/>
              </a:rPr>
              <a:t>No second reviewer</a:t>
            </a:r>
            <a:endParaRPr lang="en-US" sz="1600" dirty="0"/>
          </a:p>
        </p:txBody>
      </p:sp>
      <p:sp>
        <p:nvSpPr>
          <p:cNvPr id="18" name="Text 16"/>
          <p:cNvSpPr/>
          <p:nvPr/>
        </p:nvSpPr>
        <p:spPr>
          <a:xfrm>
            <a:off x="1600200" y="4846320"/>
            <a:ext cx="4084168" cy="1051560"/>
          </a:xfrm>
          <a:prstGeom prst="rect">
            <a:avLst/>
          </a:prstGeom>
          <a:noFill/>
          <a:ln/>
        </p:spPr>
        <p:txBody>
          <a:bodyPr wrap="square" lIns="0" tIns="0" rIns="0" bIns="0" rtlCol="0" anchor="t"/>
          <a:lstStyle/>
          <a:p>
            <a:pPr indent="0" marL="0">
              <a:buNone/>
            </a:pPr>
            <a:r>
              <a:rPr lang="en-US" sz="1300" dirty="0">
                <a:solidFill>
                  <a:srgbClr val="2B3D36"/>
                </a:solidFill>
                <a:latin typeface="Calibri" pitchFamily="34" charset="0"/>
                <a:ea typeface="Calibri" pitchFamily="34" charset="-122"/>
                <a:cs typeface="Calibri" pitchFamily="34" charset="-120"/>
              </a:rPr>
              <a:t>Notifications can leave without a required independent review</a:t>
            </a:r>
            <a:endParaRPr lang="en-US" sz="1300" dirty="0"/>
          </a:p>
        </p:txBody>
      </p:sp>
      <p:sp>
        <p:nvSpPr>
          <p:cNvPr id="19" name="Shape 17"/>
          <p:cNvSpPr/>
          <p:nvPr/>
        </p:nvSpPr>
        <p:spPr>
          <a:xfrm>
            <a:off x="6278728" y="4160520"/>
            <a:ext cx="5364328" cy="1965960"/>
          </a:xfrm>
          <a:prstGeom prst="roundRect">
            <a:avLst>
              <a:gd name="adj" fmla="val 3721"/>
            </a:avLst>
          </a:prstGeom>
          <a:solidFill>
            <a:srgbClr val="EEF3F0"/>
          </a:solidFill>
          <a:ln/>
          <a:effectLst>
            <a:outerShdw sx="100000" sy="100000" kx="0" ky="0" algn="bl" rotWithShape="0" blurRad="76200" dist="25400" dir="5400000">
              <a:srgbClr val="9AA8A2">
                <a:alpha val="35000"/>
              </a:srgbClr>
            </a:outerShdw>
          </a:effectLst>
        </p:spPr>
      </p:sp>
      <p:sp>
        <p:nvSpPr>
          <p:cNvPr id="20" name="Shape 18"/>
          <p:cNvSpPr/>
          <p:nvPr/>
        </p:nvSpPr>
        <p:spPr>
          <a:xfrm>
            <a:off x="6598768" y="4480560"/>
            <a:ext cx="548640" cy="548640"/>
          </a:xfrm>
          <a:prstGeom prst="ellipse">
            <a:avLst/>
          </a:prstGeom>
          <a:solidFill>
            <a:srgbClr val="14251E"/>
          </a:solidFill>
          <a:ln/>
        </p:spPr>
      </p:sp>
      <p:sp>
        <p:nvSpPr>
          <p:cNvPr id="21" name="Text 19"/>
          <p:cNvSpPr/>
          <p:nvPr/>
        </p:nvSpPr>
        <p:spPr>
          <a:xfrm>
            <a:off x="6598768" y="448056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4</a:t>
            </a:r>
            <a:endParaRPr lang="en-US" sz="1800" dirty="0"/>
          </a:p>
        </p:txBody>
      </p:sp>
      <p:sp>
        <p:nvSpPr>
          <p:cNvPr id="22" name="Text 20"/>
          <p:cNvSpPr/>
          <p:nvPr/>
        </p:nvSpPr>
        <p:spPr>
          <a:xfrm>
            <a:off x="7330288" y="4434840"/>
            <a:ext cx="4084168" cy="365760"/>
          </a:xfrm>
          <a:prstGeom prst="rect">
            <a:avLst/>
          </a:prstGeom>
          <a:noFill/>
          <a:ln/>
        </p:spPr>
        <p:txBody>
          <a:bodyPr wrap="square" lIns="0" tIns="0" rIns="0" bIns="0" rtlCol="0" anchor="ctr"/>
          <a:lstStyle/>
          <a:p>
            <a:pPr indent="0" marL="0">
              <a:buNone/>
            </a:pPr>
            <a:r>
              <a:rPr lang="en-US" sz="1600" b="1" dirty="0">
                <a:solidFill>
                  <a:srgbClr val="10201A"/>
                </a:solidFill>
                <a:latin typeface="Cambria" pitchFamily="34" charset="0"/>
                <a:ea typeface="Cambria" pitchFamily="34" charset="-122"/>
                <a:cs typeface="Cambria" pitchFamily="34" charset="-120"/>
              </a:rPr>
              <a:t>No accountability trail</a:t>
            </a:r>
            <a:endParaRPr lang="en-US" sz="1600" dirty="0"/>
          </a:p>
        </p:txBody>
      </p:sp>
      <p:sp>
        <p:nvSpPr>
          <p:cNvPr id="23" name="Text 21"/>
          <p:cNvSpPr/>
          <p:nvPr/>
        </p:nvSpPr>
        <p:spPr>
          <a:xfrm>
            <a:off x="7330288" y="4846320"/>
            <a:ext cx="4084168" cy="1051560"/>
          </a:xfrm>
          <a:prstGeom prst="rect">
            <a:avLst/>
          </a:prstGeom>
          <a:noFill/>
          <a:ln/>
        </p:spPr>
        <p:txBody>
          <a:bodyPr wrap="square" lIns="0" tIns="0" rIns="0" bIns="0" rtlCol="0" anchor="t"/>
          <a:lstStyle/>
          <a:p>
            <a:pPr indent="0" marL="0">
              <a:buNone/>
            </a:pPr>
            <a:r>
              <a:rPr lang="en-US" sz="1300" dirty="0">
                <a:solidFill>
                  <a:srgbClr val="2B3D36"/>
                </a:solidFill>
                <a:latin typeface="Calibri" pitchFamily="34" charset="0"/>
                <a:ea typeface="Calibri" pitchFamily="34" charset="-122"/>
                <a:cs typeface="Calibri" pitchFamily="34" charset="-120"/>
              </a:rPr>
              <a:t>The record of who decided what doesn't survive the process</a:t>
            </a:r>
            <a:endParaRPr lang="en-US" sz="1300" dirty="0"/>
          </a:p>
        </p:txBody>
      </p:sp>
      <p:sp>
        <p:nvSpPr>
          <p:cNvPr id="24" name="Text 22"/>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25" name="Text 23"/>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THREATNEXUS IN ONE SENTENCE</a:t>
            </a:r>
            <a:endParaRPr lang="en-US" sz="1200" dirty="0"/>
          </a:p>
        </p:txBody>
      </p:sp>
      <p:sp>
        <p:nvSpPr>
          <p:cNvPr id="3" name="Shape 1"/>
          <p:cNvSpPr/>
          <p:nvPr/>
        </p:nvSpPr>
        <p:spPr>
          <a:xfrm>
            <a:off x="548640" y="1554480"/>
            <a:ext cx="11094415" cy="3108960"/>
          </a:xfrm>
          <a:prstGeom prst="roundRect">
            <a:avLst>
              <a:gd name="adj" fmla="val 2353"/>
            </a:avLst>
          </a:prstGeom>
          <a:solidFill>
            <a:srgbClr val="F5F8F6"/>
          </a:solidFill>
          <a:ln/>
          <a:effectLst>
            <a:outerShdw sx="100000" sy="100000" kx="0" ky="0" algn="bl" rotWithShape="0" blurRad="76200" dist="25400" dir="5400000">
              <a:srgbClr val="9AA8A2">
                <a:alpha val="35000"/>
              </a:srgbClr>
            </a:outerShdw>
          </a:effectLst>
        </p:spPr>
      </p:sp>
      <p:sp>
        <p:nvSpPr>
          <p:cNvPr id="4" name="Text 2"/>
          <p:cNvSpPr/>
          <p:nvPr/>
        </p:nvSpPr>
        <p:spPr>
          <a:xfrm>
            <a:off x="1097280" y="1920240"/>
            <a:ext cx="9997135" cy="146304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One analyst flow — </a:t>
            </a:r>
            <a:pPr algn="l" indent="0" marL="0">
              <a:buNone/>
            </a:pPr>
            <a:r>
              <a:rPr lang="en-US" sz="2800" b="1" dirty="0">
                <a:solidFill>
                  <a:srgbClr val="1E9E5D"/>
                </a:solidFill>
                <a:latin typeface="Cambria" pitchFamily="34" charset="0"/>
                <a:ea typeface="Cambria" pitchFamily="34" charset="-122"/>
                <a:cs typeface="Cambria" pitchFamily="34" charset="-120"/>
              </a:rPr>
              <a:t>ingest, triage, enrich, map, draft, review, act</a:t>
            </a:r>
            <a:pPr algn="l" indent="0" marL="0">
              <a:buNone/>
            </a:pPr>
            <a:r>
              <a:rPr lang="en-US" sz="2800" b="1" dirty="0">
                <a:solidFill>
                  <a:srgbClr val="10201A"/>
                </a:solidFill>
                <a:latin typeface="Cambria" pitchFamily="34" charset="0"/>
                <a:ea typeface="Cambria" pitchFamily="34" charset="-122"/>
                <a:cs typeface="Cambria" pitchFamily="34" charset="-120"/>
              </a:rPr>
              <a:t> — with every step audited.</a:t>
            </a:r>
            <a:endParaRPr lang="en-US" sz="2800" dirty="0"/>
          </a:p>
        </p:txBody>
      </p:sp>
      <p:sp>
        <p:nvSpPr>
          <p:cNvPr id="5" name="Text 3"/>
          <p:cNvSpPr/>
          <p:nvPr/>
        </p:nvSpPr>
        <p:spPr>
          <a:xfrm>
            <a:off x="1097280" y="3566160"/>
            <a:ext cx="9997135" cy="731520"/>
          </a:xfrm>
          <a:prstGeom prst="rect">
            <a:avLst/>
          </a:prstGeom>
          <a:noFill/>
          <a:ln/>
        </p:spPr>
        <p:txBody>
          <a:bodyPr wrap="square" lIns="0" tIns="0" rIns="0" bIns="0" rtlCol="0" anchor="ctr"/>
          <a:lstStyle/>
          <a:p>
            <a:pPr indent="0" marL="0">
              <a:buNone/>
            </a:pPr>
            <a:r>
              <a:rPr lang="en-US" sz="1500" dirty="0">
                <a:solidFill>
                  <a:srgbClr val="2B3D36"/>
                </a:solidFill>
                <a:latin typeface="Calibri" pitchFamily="34" charset="0"/>
                <a:ea typeface="Calibri" pitchFamily="34" charset="-122"/>
                <a:cs typeface="Calibri" pitchFamily="34" charset="-120"/>
              </a:rPr>
              <a:t>A Shadowserver-style report becomes a persistent, deduplicated Finding with a real identity — not a fresh row every time it's re-reported.</a:t>
            </a:r>
            <a:endParaRPr lang="en-US" sz="1500" dirty="0"/>
          </a:p>
        </p:txBody>
      </p:sp>
      <p:sp>
        <p:nvSpPr>
          <p:cNvPr id="6" name="Text 4"/>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7" name="Text 5"/>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THE END-TO-END WORKFLOW</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600" b="1" dirty="0">
                <a:solidFill>
                  <a:srgbClr val="10201A"/>
                </a:solidFill>
                <a:latin typeface="Cambria" pitchFamily="34" charset="0"/>
                <a:ea typeface="Cambria" pitchFamily="34" charset="-122"/>
                <a:cs typeface="Cambria" pitchFamily="34" charset="-120"/>
              </a:rPr>
              <a:t>Every arrow writes its own audit event</a:t>
            </a:r>
            <a:endParaRPr lang="en-US" sz="2600" dirty="0"/>
          </a:p>
        </p:txBody>
      </p:sp>
      <p:sp>
        <p:nvSpPr>
          <p:cNvPr id="4" name="Shape 2"/>
          <p:cNvSpPr/>
          <p:nvPr/>
        </p:nvSpPr>
        <p:spPr>
          <a:xfrm>
            <a:off x="641452"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5" name="Text 3"/>
          <p:cNvSpPr/>
          <p:nvPr/>
        </p:nvSpPr>
        <p:spPr>
          <a:xfrm>
            <a:off x="641452"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Upload</a:t>
            </a:r>
            <a:endParaRPr lang="en-US" sz="1300" dirty="0"/>
          </a:p>
        </p:txBody>
      </p:sp>
      <p:sp>
        <p:nvSpPr>
          <p:cNvPr id="6" name="Text 4"/>
          <p:cNvSpPr/>
          <p:nvPr/>
        </p:nvSpPr>
        <p:spPr>
          <a:xfrm>
            <a:off x="2058772"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2223364"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8" name="Text 6"/>
          <p:cNvSpPr/>
          <p:nvPr/>
        </p:nvSpPr>
        <p:spPr>
          <a:xfrm>
            <a:off x="2223364"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Triage</a:t>
            </a:r>
            <a:endParaRPr lang="en-US" sz="1300" dirty="0"/>
          </a:p>
        </p:txBody>
      </p:sp>
      <p:sp>
        <p:nvSpPr>
          <p:cNvPr id="9" name="Text 7"/>
          <p:cNvSpPr/>
          <p:nvPr/>
        </p:nvSpPr>
        <p:spPr>
          <a:xfrm>
            <a:off x="3640684"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805276"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11" name="Text 9"/>
          <p:cNvSpPr/>
          <p:nvPr/>
        </p:nvSpPr>
        <p:spPr>
          <a:xfrm>
            <a:off x="3805276"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Enrich</a:t>
            </a:r>
            <a:endParaRPr lang="en-US" sz="1300" dirty="0"/>
          </a:p>
        </p:txBody>
      </p:sp>
      <p:sp>
        <p:nvSpPr>
          <p:cNvPr id="12" name="Text 10"/>
          <p:cNvSpPr/>
          <p:nvPr/>
        </p:nvSpPr>
        <p:spPr>
          <a:xfrm>
            <a:off x="5222596"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5387188"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14" name="Text 12"/>
          <p:cNvSpPr/>
          <p:nvPr/>
        </p:nvSpPr>
        <p:spPr>
          <a:xfrm>
            <a:off x="5387188"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Map</a:t>
            </a:r>
            <a:endParaRPr lang="en-US" sz="1300" dirty="0"/>
          </a:p>
        </p:txBody>
      </p:sp>
      <p:sp>
        <p:nvSpPr>
          <p:cNvPr id="15" name="Text 13"/>
          <p:cNvSpPr/>
          <p:nvPr/>
        </p:nvSpPr>
        <p:spPr>
          <a:xfrm>
            <a:off x="6804508"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969100" y="2743200"/>
            <a:ext cx="1417320" cy="914400"/>
          </a:xfrm>
          <a:prstGeom prst="roundRect">
            <a:avLst>
              <a:gd name="adj" fmla="val 8000"/>
            </a:avLst>
          </a:prstGeom>
          <a:solidFill>
            <a:srgbClr val="E4E9E6"/>
          </a:solidFill>
          <a:ln/>
        </p:spPr>
      </p:sp>
      <p:sp>
        <p:nvSpPr>
          <p:cNvPr id="17" name="Text 15"/>
          <p:cNvSpPr/>
          <p:nvPr/>
        </p:nvSpPr>
        <p:spPr>
          <a:xfrm>
            <a:off x="6969100" y="2743200"/>
            <a:ext cx="1417320" cy="914400"/>
          </a:xfrm>
          <a:prstGeom prst="rect">
            <a:avLst/>
          </a:prstGeom>
          <a:noFill/>
          <a:ln/>
        </p:spPr>
        <p:txBody>
          <a:bodyPr wrap="square" lIns="0" tIns="0" rIns="0" bIns="0" rtlCol="0" anchor="ctr"/>
          <a:lstStyle/>
          <a:p>
            <a:pPr algn="ctr" indent="0" marL="0">
              <a:buNone/>
            </a:pPr>
            <a:r>
              <a:rPr lang="en-US" sz="1300" b="1" dirty="0">
                <a:solidFill>
                  <a:srgbClr val="6B7A74"/>
                </a:solidFill>
                <a:latin typeface="Calibri" pitchFamily="34" charset="0"/>
                <a:ea typeface="Calibri" pitchFamily="34" charset="-122"/>
                <a:cs typeface="Calibri" pitchFamily="34" charset="-120"/>
              </a:rPr>
              <a:t>AI draft</a:t>
            </a:r>
            <a:endParaRPr lang="en-US" sz="1300" dirty="0"/>
          </a:p>
        </p:txBody>
      </p:sp>
      <p:sp>
        <p:nvSpPr>
          <p:cNvPr id="18" name="Text 16"/>
          <p:cNvSpPr/>
          <p:nvPr/>
        </p:nvSpPr>
        <p:spPr>
          <a:xfrm>
            <a:off x="8386420"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8551012"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20" name="Text 18"/>
          <p:cNvSpPr/>
          <p:nvPr/>
        </p:nvSpPr>
        <p:spPr>
          <a:xfrm>
            <a:off x="8551012"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Review</a:t>
            </a:r>
            <a:endParaRPr lang="en-US" sz="1300" dirty="0"/>
          </a:p>
        </p:txBody>
      </p:sp>
      <p:sp>
        <p:nvSpPr>
          <p:cNvPr id="21" name="Text 19"/>
          <p:cNvSpPr/>
          <p:nvPr/>
        </p:nvSpPr>
        <p:spPr>
          <a:xfrm>
            <a:off x="9968332" y="2743200"/>
            <a:ext cx="182880" cy="91440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10132924" y="2743200"/>
            <a:ext cx="141732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23" name="Text 21"/>
          <p:cNvSpPr/>
          <p:nvPr/>
        </p:nvSpPr>
        <p:spPr>
          <a:xfrm>
            <a:off x="10132924" y="2743200"/>
            <a:ext cx="1417320" cy="914400"/>
          </a:xfrm>
          <a:prstGeom prst="rect">
            <a:avLst/>
          </a:prstGeom>
          <a:noFill/>
          <a:ln/>
        </p:spPr>
        <p:txBody>
          <a:bodyPr wrap="square" lIns="0" tIns="0" rIns="0" bIns="0" rtlCol="0" anchor="ctr"/>
          <a:lstStyle/>
          <a:p>
            <a:pPr algn="ctr" indent="0" marL="0">
              <a:buNone/>
            </a:pPr>
            <a:r>
              <a:rPr lang="en-US" sz="1300" b="1" dirty="0">
                <a:solidFill>
                  <a:srgbClr val="10201A"/>
                </a:solidFill>
                <a:latin typeface="Calibri" pitchFamily="34" charset="0"/>
                <a:ea typeface="Calibri" pitchFamily="34" charset="-122"/>
                <a:cs typeface="Calibri" pitchFamily="34" charset="-120"/>
              </a:rPr>
              <a:t>Act</a:t>
            </a:r>
            <a:endParaRPr lang="en-US" sz="1300" dirty="0"/>
          </a:p>
        </p:txBody>
      </p:sp>
      <p:sp>
        <p:nvSpPr>
          <p:cNvPr id="24" name="Text 22"/>
          <p:cNvSpPr/>
          <p:nvPr/>
        </p:nvSpPr>
        <p:spPr>
          <a:xfrm>
            <a:off x="641452" y="3931920"/>
            <a:ext cx="10908792" cy="365760"/>
          </a:xfrm>
          <a:prstGeom prst="rect">
            <a:avLst/>
          </a:prstGeom>
          <a:noFill/>
          <a:ln/>
        </p:spPr>
        <p:txBody>
          <a:bodyPr wrap="square" lIns="0" tIns="0" rIns="0" bIns="0" rtlCol="0" anchor="ctr"/>
          <a:lstStyle/>
          <a:p>
            <a:pPr algn="ctr" indent="0" marL="0">
              <a:buNone/>
            </a:pPr>
            <a:r>
              <a:rPr lang="en-US" sz="1100" i="1" dirty="0">
                <a:solidFill>
                  <a:srgbClr val="6B7A74"/>
                </a:solidFill>
                <a:latin typeface="Calibri" pitchFamily="34" charset="0"/>
                <a:ea typeface="Calibri" pitchFamily="34" charset="-122"/>
                <a:cs typeface="Calibri" pitchFamily="34" charset="-120"/>
              </a:rPr>
              <a:t>* AI draft is optional and off by default — the flow completes without it.</a:t>
            </a:r>
            <a:endParaRPr lang="en-US" sz="1100" dirty="0"/>
          </a:p>
        </p:txBody>
      </p:sp>
      <p:sp>
        <p:nvSpPr>
          <p:cNvPr id="25" name="Text 23"/>
          <p:cNvSpPr/>
          <p:nvPr/>
        </p:nvSpPr>
        <p:spPr>
          <a:xfrm>
            <a:off x="548640" y="4663440"/>
            <a:ext cx="11094415" cy="548640"/>
          </a:xfrm>
          <a:prstGeom prst="rect">
            <a:avLst/>
          </a:prstGeom>
          <a:noFill/>
          <a:ln/>
        </p:spPr>
        <p:txBody>
          <a:bodyPr wrap="square" lIns="0" tIns="0" rIns="0" bIns="0" rtlCol="0" anchor="ctr"/>
          <a:lstStyle/>
          <a:p>
            <a:pPr algn="ctr" indent="0" marL="0">
              <a:buNone/>
            </a:pPr>
            <a:r>
              <a:rPr lang="en-US" sz="1600" dirty="0">
                <a:solidFill>
                  <a:srgbClr val="2B3D36"/>
                </a:solidFill>
                <a:latin typeface="Calibri" pitchFamily="34" charset="0"/>
                <a:ea typeface="Calibri" pitchFamily="34" charset="-122"/>
                <a:cs typeface="Calibri" pitchFamily="34" charset="-120"/>
              </a:rPr>
              <a:t>Every arrow in this chain writes its own audit event. Nothing skips a step.</a:t>
            </a:r>
            <a:endParaRPr lang="en-US" sz="1600" dirty="0"/>
          </a:p>
        </p:txBody>
      </p:sp>
      <p:sp>
        <p:nvSpPr>
          <p:cNvPr id="26" name="Text 24"/>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27" name="Text 25"/>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ROLE MODEL</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No role inherits another's authority</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3108960"/>
        </p:xfrm>
        <a:graphic>
          <a:graphicData uri="http://schemas.openxmlformats.org/drawingml/2006/table">
            <a:tbl>
              <a:tblPr/>
              <a:tblGrid>
                <a:gridCol w="2377440"/>
                <a:gridCol w="8716975"/>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Role</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solidFill>
                      <a:srgbClr val="14251E"/>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Does</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solidFill>
                      <a:srgbClr val="14251E"/>
                    </a:solidFill>
                  </a:tcPr>
                </a:tc>
              </a:tr>
              <a:tr h="685800">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Admin</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Every capability, including the closure/notification override grants</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r>
              <a:tr h="685800">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Analyst</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Ingests, triages, builds cases, drafts notifications, requests enrichment/AI</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r>
              <a:tr h="685800">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Reviewer</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Approves — case closures, notification content, AI-suggestion decisions</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r>
              <a:tr h="685800">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Viewer</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c>
                  <a:txBody>
                    <a:bodyPr/>
                    <a:lstStyle/>
                    <a:p>
                      <a:pPr indent="0" marL="0">
                        <a:buNone/>
                      </a:pPr>
                      <a:r>
                        <a:rPr lang="en-US" sz="1500" dirty="0">
                          <a:solidFill>
                            <a:srgbClr val="2B3D36"/>
                          </a:solidFill>
                          <a:latin typeface="Calibri" pitchFamily="34" charset="0"/>
                          <a:ea typeface="Calibri" pitchFamily="34" charset="-122"/>
                          <a:cs typeface="Calibri" pitchFamily="34" charset="-120"/>
                        </a:rPr>
                        <a:t>Read-only oversight — deliberately excluded from notification visibility</a:t>
                      </a:r>
                      <a:endParaRPr lang="en-US" sz="1500" dirty="0">
                        <a:latin typeface="Calibri" charset="0"/>
                        <a:ea typeface="Calibri" charset="0"/>
                        <a:cs typeface="Calibri" charset="0"/>
                      </a:endParaRPr>
                    </a:p>
                  </a:txBody>
                  <a:tcPr marL="127000" marR="127000" marT="76200" marB="76200" anchor="ctr">
                    <a:lnL w="12700" cap="flat" cmpd="sng" algn="ctr">
                      <a:solidFill>
                        <a:srgbClr val="E4E9E6"/>
                      </a:solidFill>
                      <a:prstDash val="solid"/>
                      <a:round/>
                      <a:headEnd type="none" w="med" len="med"/>
                      <a:tailEnd type="none" w="med" len="med"/>
                    </a:lnL>
                    <a:lnR w="12700" cap="flat" cmpd="sng" algn="ctr">
                      <a:solidFill>
                        <a:srgbClr val="E4E9E6"/>
                      </a:solidFill>
                      <a:prstDash val="solid"/>
                      <a:round/>
                      <a:headEnd type="none" w="med" len="med"/>
                      <a:tailEnd type="none" w="med" len="med"/>
                    </a:lnR>
                    <a:lnT w="12700" cap="flat" cmpd="sng" algn="ctr">
                      <a:solidFill>
                        <a:srgbClr val="E4E9E6"/>
                      </a:solidFill>
                      <a:prstDash val="solid"/>
                      <a:round/>
                      <a:headEnd type="none" w="med" len="med"/>
                      <a:tailEnd type="none" w="med" len="med"/>
                    </a:lnT>
                    <a:lnB w="12700" cap="flat" cmpd="sng" algn="ctr">
                      <a:solidFill>
                        <a:srgbClr val="E4E9E6"/>
                      </a:solidFill>
                      <a:prstDash val="solid"/>
                      <a:round/>
                      <a:headEnd type="none" w="med" len="med"/>
                      <a:tailEnd type="none" w="med" len="med"/>
                    </a:lnB>
                  </a:tcPr>
                </a:tc>
              </a:tr>
            </a:tbl>
          </a:graphicData>
        </a:graphic>
      </p:graphicFrame>
      <p:sp>
        <p:nvSpPr>
          <p:cNvPr id="5" name="Text 2"/>
          <p:cNvSpPr/>
          <p:nvPr/>
        </p:nvSpPr>
        <p:spPr>
          <a:xfrm>
            <a:off x="548640" y="5074920"/>
            <a:ext cx="11094415" cy="457200"/>
          </a:xfrm>
          <a:prstGeom prst="rect">
            <a:avLst/>
          </a:prstGeom>
          <a:noFill/>
          <a:ln/>
        </p:spPr>
        <p:txBody>
          <a:bodyPr wrap="square" lIns="0" tIns="0" rIns="0" bIns="0" rtlCol="0" anchor="ctr"/>
          <a:lstStyle/>
          <a:p>
            <a:pPr indent="0" marL="0">
              <a:buNone/>
            </a:pPr>
            <a:r>
              <a:rPr lang="en-US" sz="1300" i="1" dirty="0">
                <a:solidFill>
                  <a:srgbClr val="6B7A74"/>
                </a:solidFill>
                <a:latin typeface="Calibri" pitchFamily="34" charset="0"/>
                <a:ea typeface="Calibri" pitchFamily="34" charset="-122"/>
                <a:cs typeface="Calibri" pitchFamily="34" charset="-120"/>
              </a:rPr>
              <a:t>No role inherits another's authority — capabilities are explicit grants, not a hierarchy.</a:t>
            </a:r>
            <a:endParaRPr lang="en-US" sz="1300" dirty="0"/>
          </a:p>
        </p:txBody>
      </p:sp>
      <p:sp>
        <p:nvSpPr>
          <p:cNvPr id="6" name="Text 3"/>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7" name="Text 4"/>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A SIX-PROVIDER INTELLIGENCE STACK</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600" b="1" dirty="0">
                <a:solidFill>
                  <a:srgbClr val="10201A"/>
                </a:solidFill>
                <a:latin typeface="Cambria" pitchFamily="34" charset="0"/>
                <a:ea typeface="Cambria" pitchFamily="34" charset="-122"/>
                <a:cs typeface="Cambria" pitchFamily="34" charset="-120"/>
              </a:rPr>
              <a:t>All optional. All fail safe. One shared budget.</a:t>
            </a:r>
            <a:endParaRPr lang="en-US" sz="2600" dirty="0"/>
          </a:p>
        </p:txBody>
      </p:sp>
      <p:sp>
        <p:nvSpPr>
          <p:cNvPr id="4" name="Shape 2"/>
          <p:cNvSpPr/>
          <p:nvPr/>
        </p:nvSpPr>
        <p:spPr>
          <a:xfrm>
            <a:off x="548640" y="187452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5" name="Shape 3"/>
          <p:cNvSpPr/>
          <p:nvPr/>
        </p:nvSpPr>
        <p:spPr>
          <a:xfrm>
            <a:off x="804672" y="2130552"/>
            <a:ext cx="457200" cy="457200"/>
          </a:xfrm>
          <a:prstGeom prst="ellipse">
            <a:avLst/>
          </a:prstGeom>
          <a:solidFill>
            <a:srgbClr val="14251E"/>
          </a:solidFill>
          <a:ln/>
        </p:spPr>
      </p:sp>
      <p:sp>
        <p:nvSpPr>
          <p:cNvPr id="6" name="Text 4"/>
          <p:cNvSpPr/>
          <p:nvPr/>
        </p:nvSpPr>
        <p:spPr>
          <a:xfrm>
            <a:off x="804672" y="213055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A</a:t>
            </a:r>
            <a:endParaRPr lang="en-US" sz="1500" dirty="0"/>
          </a:p>
        </p:txBody>
      </p:sp>
      <p:sp>
        <p:nvSpPr>
          <p:cNvPr id="7" name="Text 5"/>
          <p:cNvSpPr/>
          <p:nvPr/>
        </p:nvSpPr>
        <p:spPr>
          <a:xfrm>
            <a:off x="1463040" y="207568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AbuseIPDB</a:t>
            </a:r>
            <a:endParaRPr lang="en-US" sz="1400" dirty="0"/>
          </a:p>
        </p:txBody>
      </p:sp>
      <p:sp>
        <p:nvSpPr>
          <p:cNvPr id="8" name="Text 6"/>
          <p:cNvSpPr/>
          <p:nvPr/>
        </p:nvSpPr>
        <p:spPr>
          <a:xfrm>
            <a:off x="822960" y="265176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IP reputation</a:t>
            </a:r>
            <a:endParaRPr lang="en-US" sz="1150" dirty="0"/>
          </a:p>
        </p:txBody>
      </p:sp>
      <p:sp>
        <p:nvSpPr>
          <p:cNvPr id="9" name="Shape 7"/>
          <p:cNvSpPr/>
          <p:nvPr/>
        </p:nvSpPr>
        <p:spPr>
          <a:xfrm>
            <a:off x="4277258" y="187452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10" name="Shape 8"/>
          <p:cNvSpPr/>
          <p:nvPr/>
        </p:nvSpPr>
        <p:spPr>
          <a:xfrm>
            <a:off x="4533290" y="2130552"/>
            <a:ext cx="457200" cy="457200"/>
          </a:xfrm>
          <a:prstGeom prst="ellipse">
            <a:avLst/>
          </a:prstGeom>
          <a:solidFill>
            <a:srgbClr val="14251E"/>
          </a:solidFill>
          <a:ln/>
        </p:spPr>
      </p:sp>
      <p:sp>
        <p:nvSpPr>
          <p:cNvPr id="11" name="Text 9"/>
          <p:cNvSpPr/>
          <p:nvPr/>
        </p:nvSpPr>
        <p:spPr>
          <a:xfrm>
            <a:off x="4533290" y="213055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N</a:t>
            </a:r>
            <a:endParaRPr lang="en-US" sz="1500" dirty="0"/>
          </a:p>
        </p:txBody>
      </p:sp>
      <p:sp>
        <p:nvSpPr>
          <p:cNvPr id="12" name="Text 10"/>
          <p:cNvSpPr/>
          <p:nvPr/>
        </p:nvSpPr>
        <p:spPr>
          <a:xfrm>
            <a:off x="5191658" y="207568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NVD / KEV / EPSS</a:t>
            </a:r>
            <a:endParaRPr lang="en-US" sz="1400" dirty="0"/>
          </a:p>
        </p:txBody>
      </p:sp>
      <p:sp>
        <p:nvSpPr>
          <p:cNvPr id="13" name="Text 11"/>
          <p:cNvSpPr/>
          <p:nvPr/>
        </p:nvSpPr>
        <p:spPr>
          <a:xfrm>
            <a:off x="4551578" y="265176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CVE metadata, exploited status, exploit prediction</a:t>
            </a:r>
            <a:endParaRPr lang="en-US" sz="1150" dirty="0"/>
          </a:p>
        </p:txBody>
      </p:sp>
      <p:sp>
        <p:nvSpPr>
          <p:cNvPr id="14" name="Shape 12"/>
          <p:cNvSpPr/>
          <p:nvPr/>
        </p:nvSpPr>
        <p:spPr>
          <a:xfrm>
            <a:off x="8005877" y="187452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15" name="Shape 13"/>
          <p:cNvSpPr/>
          <p:nvPr/>
        </p:nvSpPr>
        <p:spPr>
          <a:xfrm>
            <a:off x="8261909" y="2130552"/>
            <a:ext cx="457200" cy="457200"/>
          </a:xfrm>
          <a:prstGeom prst="ellipse">
            <a:avLst/>
          </a:prstGeom>
          <a:solidFill>
            <a:srgbClr val="14251E"/>
          </a:solidFill>
          <a:ln/>
        </p:spPr>
      </p:sp>
      <p:sp>
        <p:nvSpPr>
          <p:cNvPr id="16" name="Text 14"/>
          <p:cNvSpPr/>
          <p:nvPr/>
        </p:nvSpPr>
        <p:spPr>
          <a:xfrm>
            <a:off x="8261909" y="213055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C</a:t>
            </a:r>
            <a:endParaRPr lang="en-US" sz="1500" dirty="0"/>
          </a:p>
        </p:txBody>
      </p:sp>
      <p:sp>
        <p:nvSpPr>
          <p:cNvPr id="17" name="Text 15"/>
          <p:cNvSpPr/>
          <p:nvPr/>
        </p:nvSpPr>
        <p:spPr>
          <a:xfrm>
            <a:off x="8920277" y="207568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Censys</a:t>
            </a:r>
            <a:endParaRPr lang="en-US" sz="1400" dirty="0"/>
          </a:p>
        </p:txBody>
      </p:sp>
      <p:sp>
        <p:nvSpPr>
          <p:cNvPr id="18" name="Text 16"/>
          <p:cNvSpPr/>
          <p:nvPr/>
        </p:nvSpPr>
        <p:spPr>
          <a:xfrm>
            <a:off x="8280197" y="265176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Open services, AS ownership</a:t>
            </a:r>
            <a:endParaRPr lang="en-US" sz="1150" dirty="0"/>
          </a:p>
        </p:txBody>
      </p:sp>
      <p:sp>
        <p:nvSpPr>
          <p:cNvPr id="19" name="Shape 17"/>
          <p:cNvSpPr/>
          <p:nvPr/>
        </p:nvSpPr>
        <p:spPr>
          <a:xfrm>
            <a:off x="548640" y="356616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20" name="Shape 18"/>
          <p:cNvSpPr/>
          <p:nvPr/>
        </p:nvSpPr>
        <p:spPr>
          <a:xfrm>
            <a:off x="804672" y="3822192"/>
            <a:ext cx="457200" cy="457200"/>
          </a:xfrm>
          <a:prstGeom prst="ellipse">
            <a:avLst/>
          </a:prstGeom>
          <a:solidFill>
            <a:srgbClr val="14251E"/>
          </a:solidFill>
          <a:ln/>
        </p:spPr>
      </p:sp>
      <p:sp>
        <p:nvSpPr>
          <p:cNvPr id="21" name="Text 19"/>
          <p:cNvSpPr/>
          <p:nvPr/>
        </p:nvSpPr>
        <p:spPr>
          <a:xfrm>
            <a:off x="804672" y="382219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G</a:t>
            </a:r>
            <a:endParaRPr lang="en-US" sz="1500" dirty="0"/>
          </a:p>
        </p:txBody>
      </p:sp>
      <p:sp>
        <p:nvSpPr>
          <p:cNvPr id="22" name="Text 20"/>
          <p:cNvSpPr/>
          <p:nvPr/>
        </p:nvSpPr>
        <p:spPr>
          <a:xfrm>
            <a:off x="1463040" y="376732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GreyNoise</a:t>
            </a:r>
            <a:endParaRPr lang="en-US" sz="1400" dirty="0"/>
          </a:p>
        </p:txBody>
      </p:sp>
      <p:sp>
        <p:nvSpPr>
          <p:cNvPr id="23" name="Text 21"/>
          <p:cNvSpPr/>
          <p:nvPr/>
        </p:nvSpPr>
        <p:spPr>
          <a:xfrm>
            <a:off x="822960" y="434340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Internet noise classification</a:t>
            </a:r>
            <a:endParaRPr lang="en-US" sz="1150" dirty="0"/>
          </a:p>
        </p:txBody>
      </p:sp>
      <p:sp>
        <p:nvSpPr>
          <p:cNvPr id="24" name="Shape 22"/>
          <p:cNvSpPr/>
          <p:nvPr/>
        </p:nvSpPr>
        <p:spPr>
          <a:xfrm>
            <a:off x="4277258" y="356616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25" name="Shape 23"/>
          <p:cNvSpPr/>
          <p:nvPr/>
        </p:nvSpPr>
        <p:spPr>
          <a:xfrm>
            <a:off x="4533290" y="3822192"/>
            <a:ext cx="457200" cy="457200"/>
          </a:xfrm>
          <a:prstGeom prst="ellipse">
            <a:avLst/>
          </a:prstGeom>
          <a:solidFill>
            <a:srgbClr val="14251E"/>
          </a:solidFill>
          <a:ln/>
        </p:spPr>
      </p:sp>
      <p:sp>
        <p:nvSpPr>
          <p:cNvPr id="26" name="Text 24"/>
          <p:cNvSpPr/>
          <p:nvPr/>
        </p:nvSpPr>
        <p:spPr>
          <a:xfrm>
            <a:off x="4533290" y="382219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S</a:t>
            </a:r>
            <a:endParaRPr lang="en-US" sz="1500" dirty="0"/>
          </a:p>
        </p:txBody>
      </p:sp>
      <p:sp>
        <p:nvSpPr>
          <p:cNvPr id="27" name="Text 25"/>
          <p:cNvSpPr/>
          <p:nvPr/>
        </p:nvSpPr>
        <p:spPr>
          <a:xfrm>
            <a:off x="5191658" y="376732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Shodan</a:t>
            </a:r>
            <a:endParaRPr lang="en-US" sz="1400" dirty="0"/>
          </a:p>
        </p:txBody>
      </p:sp>
      <p:sp>
        <p:nvSpPr>
          <p:cNvPr id="28" name="Text 26"/>
          <p:cNvSpPr/>
          <p:nvPr/>
        </p:nvSpPr>
        <p:spPr>
          <a:xfrm>
            <a:off x="4551578" y="434340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Exposed services, banners, CVEs</a:t>
            </a:r>
            <a:endParaRPr lang="en-US" sz="1150" dirty="0"/>
          </a:p>
        </p:txBody>
      </p:sp>
      <p:sp>
        <p:nvSpPr>
          <p:cNvPr id="29" name="Shape 27"/>
          <p:cNvSpPr/>
          <p:nvPr/>
        </p:nvSpPr>
        <p:spPr>
          <a:xfrm>
            <a:off x="8005877" y="3566160"/>
            <a:ext cx="3454298" cy="1417320"/>
          </a:xfrm>
          <a:prstGeom prst="roundRect">
            <a:avLst>
              <a:gd name="adj" fmla="val 5161"/>
            </a:avLst>
          </a:prstGeom>
          <a:solidFill>
            <a:srgbClr val="EEF3F0"/>
          </a:solidFill>
          <a:ln/>
          <a:effectLst>
            <a:outerShdw sx="100000" sy="100000" kx="0" ky="0" algn="bl" rotWithShape="0" blurRad="76200" dist="25400" dir="5400000">
              <a:srgbClr val="9AA8A2">
                <a:alpha val="35000"/>
              </a:srgbClr>
            </a:outerShdw>
          </a:effectLst>
        </p:spPr>
      </p:sp>
      <p:sp>
        <p:nvSpPr>
          <p:cNvPr id="30" name="Shape 28"/>
          <p:cNvSpPr/>
          <p:nvPr/>
        </p:nvSpPr>
        <p:spPr>
          <a:xfrm>
            <a:off x="8261909" y="3822192"/>
            <a:ext cx="457200" cy="457200"/>
          </a:xfrm>
          <a:prstGeom prst="ellipse">
            <a:avLst/>
          </a:prstGeom>
          <a:solidFill>
            <a:srgbClr val="14251E"/>
          </a:solidFill>
          <a:ln/>
        </p:spPr>
      </p:sp>
      <p:sp>
        <p:nvSpPr>
          <p:cNvPr id="31" name="Text 29"/>
          <p:cNvSpPr/>
          <p:nvPr/>
        </p:nvSpPr>
        <p:spPr>
          <a:xfrm>
            <a:off x="8261909" y="3822192"/>
            <a:ext cx="4572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N</a:t>
            </a:r>
            <a:endParaRPr lang="en-US" sz="1500" dirty="0"/>
          </a:p>
        </p:txBody>
      </p:sp>
      <p:sp>
        <p:nvSpPr>
          <p:cNvPr id="32" name="Text 30"/>
          <p:cNvSpPr/>
          <p:nvPr/>
        </p:nvSpPr>
        <p:spPr>
          <a:xfrm>
            <a:off x="8920277" y="3767328"/>
            <a:ext cx="2357018" cy="365760"/>
          </a:xfrm>
          <a:prstGeom prst="rect">
            <a:avLst/>
          </a:prstGeom>
          <a:noFill/>
          <a:ln/>
        </p:spPr>
        <p:txBody>
          <a:bodyPr wrap="square" lIns="0" tIns="0" rIns="0" bIns="0" rtlCol="0" anchor="ctr"/>
          <a:lstStyle/>
          <a:p>
            <a:pPr indent="0" marL="0">
              <a:buNone/>
            </a:pPr>
            <a:r>
              <a:rPr lang="en-US" sz="1400" b="1" dirty="0">
                <a:solidFill>
                  <a:srgbClr val="10201A"/>
                </a:solidFill>
                <a:latin typeface="Cambria" pitchFamily="34" charset="0"/>
                <a:ea typeface="Cambria" pitchFamily="34" charset="-122"/>
                <a:cs typeface="Cambria" pitchFamily="34" charset="-120"/>
              </a:rPr>
              <a:t>Netlas</a:t>
            </a:r>
            <a:endParaRPr lang="en-US" sz="1400" dirty="0"/>
          </a:p>
        </p:txBody>
      </p:sp>
      <p:sp>
        <p:nvSpPr>
          <p:cNvPr id="33" name="Text 31"/>
          <p:cNvSpPr/>
          <p:nvPr/>
        </p:nvSpPr>
        <p:spPr>
          <a:xfrm>
            <a:off x="8280197" y="4343400"/>
            <a:ext cx="2905658" cy="548640"/>
          </a:xfrm>
          <a:prstGeom prst="rect">
            <a:avLst/>
          </a:prstGeom>
          <a:noFill/>
          <a:ln/>
        </p:spPr>
        <p:txBody>
          <a:bodyPr wrap="square" lIns="0" tIns="0" rIns="0" bIns="0" rtlCol="0" anchor="t"/>
          <a:lstStyle/>
          <a:p>
            <a:pPr indent="0" marL="0">
              <a:buNone/>
            </a:pPr>
            <a:r>
              <a:rPr lang="en-US" sz="1150" dirty="0">
                <a:solidFill>
                  <a:srgbClr val="2B3D36"/>
                </a:solidFill>
                <a:latin typeface="Calibri" pitchFamily="34" charset="0"/>
                <a:ea typeface="Calibri" pitchFamily="34" charset="-122"/>
                <a:cs typeface="Calibri" pitchFamily="34" charset="-120"/>
              </a:rPr>
              <a:t>DNS, certificates, ASN ownership</a:t>
            </a:r>
            <a:endParaRPr lang="en-US" sz="1150" dirty="0"/>
          </a:p>
        </p:txBody>
      </p:sp>
      <p:sp>
        <p:nvSpPr>
          <p:cNvPr id="34" name="Text 32"/>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35" name="Text 33"/>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210"/>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35C477"/>
                </a:solidFill>
                <a:latin typeface="Calibri" pitchFamily="34" charset="0"/>
                <a:ea typeface="Calibri" pitchFamily="34" charset="-122"/>
                <a:cs typeface="Calibri" pitchFamily="34" charset="-120"/>
              </a:rPr>
              <a:t>EVIDENCE, NOT PROOF</a:t>
            </a:r>
            <a:endParaRPr lang="en-US" sz="1200" dirty="0"/>
          </a:p>
        </p:txBody>
      </p:sp>
      <p:sp>
        <p:nvSpPr>
          <p:cNvPr id="3" name="Text 1"/>
          <p:cNvSpPr/>
          <p:nvPr/>
        </p:nvSpPr>
        <p:spPr>
          <a:xfrm>
            <a:off x="548640" y="1554480"/>
            <a:ext cx="11094415" cy="1280160"/>
          </a:xfrm>
          <a:prstGeom prst="rect">
            <a:avLst/>
          </a:prstGeom>
          <a:noFill/>
          <a:ln/>
        </p:spPr>
        <p:txBody>
          <a:bodyPr wrap="square" lIns="0" tIns="0" rIns="0" bIns="0" rtlCol="0" anchor="ctr"/>
          <a:lstStyle/>
          <a:p>
            <a:pPr indent="0" marL="0">
              <a:buNone/>
            </a:pPr>
            <a:r>
              <a:rPr lang="en-US" sz="2800" b="1" dirty="0">
                <a:solidFill>
                  <a:srgbClr val="EAF1F9"/>
                </a:solidFill>
                <a:latin typeface="Cambria" pitchFamily="34" charset="0"/>
                <a:ea typeface="Cambria" pitchFamily="34" charset="-122"/>
                <a:cs typeface="Cambria" pitchFamily="34" charset="-120"/>
              </a:rPr>
              <a:t>Every provider result is supporting context for an analyst decision — never automatic proof.</a:t>
            </a:r>
            <a:endParaRPr lang="en-US" sz="2800" dirty="0"/>
          </a:p>
        </p:txBody>
      </p:sp>
      <p:sp>
        <p:nvSpPr>
          <p:cNvPr id="4" name="Shape 2"/>
          <p:cNvSpPr/>
          <p:nvPr/>
        </p:nvSpPr>
        <p:spPr>
          <a:xfrm>
            <a:off x="548640" y="3200400"/>
            <a:ext cx="5364328" cy="1828800"/>
          </a:xfrm>
          <a:prstGeom prst="roundRect">
            <a:avLst>
              <a:gd name="adj" fmla="val 4000"/>
            </a:avLst>
          </a:prstGeom>
          <a:solidFill>
            <a:srgbClr val="14251E"/>
          </a:solidFill>
          <a:ln/>
        </p:spPr>
      </p:sp>
      <p:sp>
        <p:nvSpPr>
          <p:cNvPr id="5" name="Text 3"/>
          <p:cNvSpPr/>
          <p:nvPr/>
        </p:nvSpPr>
        <p:spPr>
          <a:xfrm>
            <a:off x="914400" y="3474720"/>
            <a:ext cx="4632808" cy="457200"/>
          </a:xfrm>
          <a:prstGeom prst="rect">
            <a:avLst/>
          </a:prstGeom>
          <a:noFill/>
          <a:ln/>
        </p:spPr>
        <p:txBody>
          <a:bodyPr wrap="square" lIns="0" tIns="0" rIns="0" bIns="0" rtlCol="0" anchor="ctr"/>
          <a:lstStyle/>
          <a:p>
            <a:pPr indent="0" marL="0">
              <a:buNone/>
            </a:pPr>
            <a:r>
              <a:rPr lang="en-US" sz="1800" b="1" dirty="0">
                <a:solidFill>
                  <a:srgbClr val="35C477"/>
                </a:solidFill>
                <a:latin typeface="Cambria" pitchFamily="34" charset="0"/>
                <a:ea typeface="Cambria" pitchFamily="34" charset="-122"/>
                <a:cs typeface="Cambria" pitchFamily="34" charset="-120"/>
              </a:rPr>
              <a:t>Unknown is never zero.</a:t>
            </a:r>
            <a:endParaRPr lang="en-US" sz="1800" dirty="0"/>
          </a:p>
        </p:txBody>
      </p:sp>
      <p:sp>
        <p:nvSpPr>
          <p:cNvPr id="6" name="Text 4"/>
          <p:cNvSpPr/>
          <p:nvPr/>
        </p:nvSpPr>
        <p:spPr>
          <a:xfrm>
            <a:off x="914400" y="3977640"/>
            <a:ext cx="4632808" cy="914400"/>
          </a:xfrm>
          <a:prstGeom prst="rect">
            <a:avLst/>
          </a:prstGeom>
          <a:noFill/>
          <a:ln/>
        </p:spPr>
        <p:txBody>
          <a:bodyPr wrap="square" lIns="0" tIns="0" rIns="0" bIns="0" rtlCol="0" anchor="ctr"/>
          <a:lstStyle/>
          <a:p>
            <a:pPr indent="0" marL="0">
              <a:buNone/>
            </a:pPr>
            <a:r>
              <a:rPr lang="en-US" sz="1300" dirty="0">
                <a:solidFill>
                  <a:srgbClr val="9DAFC2"/>
                </a:solidFill>
                <a:latin typeface="Calibri" pitchFamily="34" charset="0"/>
                <a:ea typeface="Calibri" pitchFamily="34" charset="-122"/>
                <a:cs typeface="Calibri" pitchFamily="34" charset="-120"/>
              </a:rPr>
              <a:t>A figure that couldn't be computed says so — it never renders as a reassuring zero.</a:t>
            </a:r>
            <a:endParaRPr lang="en-US" sz="1300" dirty="0"/>
          </a:p>
        </p:txBody>
      </p:sp>
      <p:sp>
        <p:nvSpPr>
          <p:cNvPr id="7" name="Shape 5"/>
          <p:cNvSpPr/>
          <p:nvPr/>
        </p:nvSpPr>
        <p:spPr>
          <a:xfrm>
            <a:off x="6278728" y="3200400"/>
            <a:ext cx="5364328" cy="1828800"/>
          </a:xfrm>
          <a:prstGeom prst="roundRect">
            <a:avLst>
              <a:gd name="adj" fmla="val 4000"/>
            </a:avLst>
          </a:prstGeom>
          <a:solidFill>
            <a:srgbClr val="14251E"/>
          </a:solidFill>
          <a:ln/>
        </p:spPr>
      </p:sp>
      <p:sp>
        <p:nvSpPr>
          <p:cNvPr id="8" name="Text 6"/>
          <p:cNvSpPr/>
          <p:nvPr/>
        </p:nvSpPr>
        <p:spPr>
          <a:xfrm>
            <a:off x="6644488" y="3474720"/>
            <a:ext cx="4632808" cy="457200"/>
          </a:xfrm>
          <a:prstGeom prst="rect">
            <a:avLst/>
          </a:prstGeom>
          <a:noFill/>
          <a:ln/>
        </p:spPr>
        <p:txBody>
          <a:bodyPr wrap="square" lIns="0" tIns="0" rIns="0" bIns="0" rtlCol="0" anchor="ctr"/>
          <a:lstStyle/>
          <a:p>
            <a:pPr indent="0" marL="0">
              <a:buNone/>
            </a:pPr>
            <a:r>
              <a:rPr lang="en-US" sz="1800" b="1" dirty="0">
                <a:solidFill>
                  <a:srgbClr val="35C477"/>
                </a:solidFill>
                <a:latin typeface="Cambria" pitchFamily="34" charset="0"/>
                <a:ea typeface="Cambria" pitchFamily="34" charset="-122"/>
                <a:cs typeface="Cambria" pitchFamily="34" charset="-120"/>
              </a:rPr>
              <a:t>Three states, never collapsed.</a:t>
            </a:r>
            <a:endParaRPr lang="en-US" sz="1800" dirty="0"/>
          </a:p>
        </p:txBody>
      </p:sp>
      <p:sp>
        <p:nvSpPr>
          <p:cNvPr id="9" name="Text 7"/>
          <p:cNvSpPr/>
          <p:nvPr/>
        </p:nvSpPr>
        <p:spPr>
          <a:xfrm>
            <a:off x="6644488" y="3977640"/>
            <a:ext cx="4632808" cy="914400"/>
          </a:xfrm>
          <a:prstGeom prst="rect">
            <a:avLst/>
          </a:prstGeom>
          <a:noFill/>
          <a:ln/>
        </p:spPr>
        <p:txBody>
          <a:bodyPr wrap="square" lIns="0" tIns="0" rIns="0" bIns="0" rtlCol="0" anchor="ctr"/>
          <a:lstStyle/>
          <a:p>
            <a:pPr indent="0" marL="0">
              <a:buNone/>
            </a:pPr>
            <a:r>
              <a:rPr lang="en-US" sz="1300" dirty="0">
                <a:solidFill>
                  <a:srgbClr val="9DAFC2"/>
                </a:solidFill>
                <a:latin typeface="Calibri" pitchFamily="34" charset="0"/>
                <a:ea typeface="Calibri" pitchFamily="34" charset="-122"/>
                <a:cs typeface="Calibri" pitchFamily="34" charset="-120"/>
              </a:rPr>
              <a:t>Applied, Not available, or Not applicable — “we couldn’t check” is never shown as “clean.”</a:t>
            </a:r>
            <a:endParaRPr lang="en-US" sz="1300" dirty="0"/>
          </a:p>
        </p:txBody>
      </p:sp>
      <p:sp>
        <p:nvSpPr>
          <p:cNvPr id="10" name="Text 8"/>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9DAFC2"/>
                </a:solidFill>
                <a:latin typeface="Calibri" pitchFamily="34" charset="0"/>
                <a:ea typeface="Calibri" pitchFamily="34" charset="-122"/>
                <a:cs typeface="Calibri" pitchFamily="34" charset="-120"/>
              </a:rPr>
              <a:t>ThreatNeXus — PKCERT technical review</a:t>
            </a:r>
            <a:endParaRPr lang="en-US" sz="1000" dirty="0"/>
          </a:p>
        </p:txBody>
      </p:sp>
      <p:sp>
        <p:nvSpPr>
          <p:cNvPr id="11" name="Text 9"/>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9DAFC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AI ASSISTANCE — DRAFTS ONLY</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600" b="1" dirty="0">
                <a:solidFill>
                  <a:srgbClr val="10201A"/>
                </a:solidFill>
                <a:latin typeface="Cambria" pitchFamily="34" charset="0"/>
                <a:ea typeface="Cambria" pitchFamily="34" charset="-122"/>
                <a:cs typeface="Cambria" pitchFamily="34" charset="-120"/>
              </a:rPr>
              <a:t>A human decides. Structurally, not by policy.</a:t>
            </a:r>
            <a:endParaRPr lang="en-US" sz="2600" dirty="0"/>
          </a:p>
        </p:txBody>
      </p:sp>
      <p:sp>
        <p:nvSpPr>
          <p:cNvPr id="4" name="Shape 2"/>
          <p:cNvSpPr/>
          <p:nvPr/>
        </p:nvSpPr>
        <p:spPr>
          <a:xfrm>
            <a:off x="1432408" y="2011680"/>
            <a:ext cx="274320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5" name="Text 3"/>
          <p:cNvSpPr/>
          <p:nvPr/>
        </p:nvSpPr>
        <p:spPr>
          <a:xfrm>
            <a:off x="1432408" y="2011680"/>
            <a:ext cx="2743200" cy="914400"/>
          </a:xfrm>
          <a:prstGeom prst="rect">
            <a:avLst/>
          </a:prstGeom>
          <a:noFill/>
          <a:ln/>
        </p:spPr>
        <p:txBody>
          <a:bodyPr wrap="square" lIns="0" tIns="0" rIns="0" bIns="0" rtlCol="0" anchor="ctr"/>
          <a:lstStyle/>
          <a:p>
            <a:pPr algn="ctr" indent="0" marL="0">
              <a:buNone/>
            </a:pPr>
            <a:r>
              <a:rPr lang="en-US" sz="1600" b="1" dirty="0">
                <a:solidFill>
                  <a:srgbClr val="10201A"/>
                </a:solidFill>
                <a:latin typeface="Cambria" pitchFamily="34" charset="0"/>
                <a:ea typeface="Cambria" pitchFamily="34" charset="-122"/>
                <a:cs typeface="Cambria" pitchFamily="34" charset="-120"/>
              </a:rPr>
              <a:t>Provider</a:t>
            </a:r>
            <a:endParaRPr lang="en-US" sz="1600" dirty="0"/>
          </a:p>
        </p:txBody>
      </p:sp>
      <p:sp>
        <p:nvSpPr>
          <p:cNvPr id="6" name="Text 4"/>
          <p:cNvSpPr/>
          <p:nvPr/>
        </p:nvSpPr>
        <p:spPr>
          <a:xfrm>
            <a:off x="4175608" y="2011680"/>
            <a:ext cx="548640" cy="914400"/>
          </a:xfrm>
          <a:prstGeom prst="rect">
            <a:avLst/>
          </a:prstGeom>
          <a:noFill/>
          <a:ln/>
        </p:spPr>
        <p:txBody>
          <a:bodyPr wrap="square" lIns="0" tIns="0" rIns="0" bIns="0" rtlCol="0" anchor="ctr"/>
          <a:lstStyle/>
          <a:p>
            <a:pPr algn="ctr" indent="0" marL="0">
              <a:buNone/>
            </a:pPr>
            <a:r>
              <a:rPr lang="en-US" sz="2000" b="1" dirty="0">
                <a:solidFill>
                  <a:srgbClr val="1E9E5D"/>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4724248" y="2011680"/>
            <a:ext cx="2743200" cy="914400"/>
          </a:xfrm>
          <a:prstGeom prst="roundRect">
            <a:avLst>
              <a:gd name="adj" fmla="val 8000"/>
            </a:avLst>
          </a:prstGeom>
          <a:solidFill>
            <a:srgbClr val="EEF3F0"/>
          </a:solidFill>
          <a:ln/>
          <a:effectLst>
            <a:outerShdw sx="100000" sy="100000" kx="0" ky="0" algn="bl" rotWithShape="0" blurRad="76200" dist="25400" dir="5400000">
              <a:srgbClr val="9AA8A2">
                <a:alpha val="35000"/>
              </a:srgbClr>
            </a:outerShdw>
          </a:effectLst>
        </p:spPr>
      </p:sp>
      <p:sp>
        <p:nvSpPr>
          <p:cNvPr id="8" name="Text 6"/>
          <p:cNvSpPr/>
          <p:nvPr/>
        </p:nvSpPr>
        <p:spPr>
          <a:xfrm>
            <a:off x="4724248" y="2011680"/>
            <a:ext cx="2743200" cy="914400"/>
          </a:xfrm>
          <a:prstGeom prst="rect">
            <a:avLst/>
          </a:prstGeom>
          <a:noFill/>
          <a:ln/>
        </p:spPr>
        <p:txBody>
          <a:bodyPr wrap="square" lIns="0" tIns="0" rIns="0" bIns="0" rtlCol="0" anchor="ctr"/>
          <a:lstStyle/>
          <a:p>
            <a:pPr algn="ctr" indent="0" marL="0">
              <a:buNone/>
            </a:pPr>
            <a:r>
              <a:rPr lang="en-US" sz="1600" b="1" dirty="0">
                <a:solidFill>
                  <a:srgbClr val="10201A"/>
                </a:solidFill>
                <a:latin typeface="Cambria" pitchFamily="34" charset="0"/>
                <a:ea typeface="Cambria" pitchFamily="34" charset="-122"/>
                <a:cs typeface="Cambria" pitchFamily="34" charset="-120"/>
              </a:rPr>
              <a:t>Suggestion</a:t>
            </a:r>
            <a:endParaRPr lang="en-US" sz="1600" dirty="0"/>
          </a:p>
        </p:txBody>
      </p:sp>
      <p:sp>
        <p:nvSpPr>
          <p:cNvPr id="9" name="Text 7"/>
          <p:cNvSpPr/>
          <p:nvPr/>
        </p:nvSpPr>
        <p:spPr>
          <a:xfrm>
            <a:off x="7467448" y="2011680"/>
            <a:ext cx="548640" cy="914400"/>
          </a:xfrm>
          <a:prstGeom prst="rect">
            <a:avLst/>
          </a:prstGeom>
          <a:noFill/>
          <a:ln/>
        </p:spPr>
        <p:txBody>
          <a:bodyPr wrap="square" lIns="0" tIns="0" rIns="0" bIns="0" rtlCol="0" anchor="ctr"/>
          <a:lstStyle/>
          <a:p>
            <a:pPr algn="ctr" indent="0" marL="0">
              <a:buNone/>
            </a:pPr>
            <a:r>
              <a:rPr lang="en-US" sz="2000" b="1" dirty="0">
                <a:solidFill>
                  <a:srgbClr val="1E9E5D"/>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8016088" y="2011680"/>
            <a:ext cx="2743200" cy="914400"/>
          </a:xfrm>
          <a:prstGeom prst="roundRect">
            <a:avLst>
              <a:gd name="adj" fmla="val 8000"/>
            </a:avLst>
          </a:prstGeom>
          <a:solidFill>
            <a:srgbClr val="14251E"/>
          </a:solidFill>
          <a:ln/>
        </p:spPr>
      </p:sp>
      <p:sp>
        <p:nvSpPr>
          <p:cNvPr id="11" name="Text 9"/>
          <p:cNvSpPr/>
          <p:nvPr/>
        </p:nvSpPr>
        <p:spPr>
          <a:xfrm>
            <a:off x="8016088" y="2011680"/>
            <a:ext cx="2743200" cy="914400"/>
          </a:xfrm>
          <a:prstGeom prst="rect">
            <a:avLst/>
          </a:prstGeom>
          <a:noFill/>
          <a:ln/>
        </p:spPr>
        <p:txBody>
          <a:bodyPr wrap="square" lIns="0" tIns="0" rIns="0" bIns="0" rtlCol="0" anchor="ctr"/>
          <a:lstStyle/>
          <a:p>
            <a:pPr algn="ctr" indent="0" marL="0">
              <a:buNone/>
            </a:pPr>
            <a:r>
              <a:rPr lang="en-US" sz="1600" b="1" dirty="0">
                <a:solidFill>
                  <a:srgbClr val="35C477"/>
                </a:solidFill>
                <a:latin typeface="Cambria" pitchFamily="34" charset="0"/>
                <a:ea typeface="Cambria" pitchFamily="34" charset="-122"/>
                <a:cs typeface="Cambria" pitchFamily="34" charset="-120"/>
              </a:rPr>
              <a:t>Human decision</a:t>
            </a:r>
            <a:endParaRPr lang="en-US" sz="1600" dirty="0"/>
          </a:p>
        </p:txBody>
      </p:sp>
      <p:sp>
        <p:nvSpPr>
          <p:cNvPr id="12" name="Text 10"/>
          <p:cNvSpPr/>
          <p:nvPr/>
        </p:nvSpPr>
        <p:spPr>
          <a:xfrm>
            <a:off x="548640" y="3383280"/>
            <a:ext cx="11094415"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D36"/>
                </a:solidFill>
                <a:latin typeface="Calibri" pitchFamily="34" charset="0"/>
                <a:ea typeface="Calibri" pitchFamily="34" charset="-122"/>
                <a:cs typeface="Calibri" pitchFamily="34" charset="-120"/>
              </a:rPr>
              <a:t>Disabled by default. No live AI provider ships in this codebase.</a:t>
            </a:r>
            <a:endParaRPr lang="en-US" sz="1500" dirty="0"/>
          </a:p>
          <a:p>
            <a:pPr marL="342900" indent="-342900">
              <a:spcAft>
                <a:spcPts val="1000"/>
              </a:spcAft>
              <a:buSzPct val="100000"/>
              <a:buChar char="–"/>
            </a:pPr>
            <a:r>
              <a:rPr lang="en-US" sz="1500" dirty="0">
                <a:solidFill>
                  <a:srgbClr val="2B3D36"/>
                </a:solidFill>
                <a:latin typeface="Calibri" pitchFamily="34" charset="0"/>
                <a:ea typeface="Calibri" pitchFamily="34" charset="-122"/>
                <a:cs typeface="Calibri" pitchFamily="34" charset="-120"/>
              </a:rPr>
              <a:t>Drafts a mapping suggestion or a finding summary — nothing more</a:t>
            </a:r>
            <a:endParaRPr lang="en-US" sz="1500" dirty="0"/>
          </a:p>
          <a:p>
            <a:pPr marL="342900" indent="-342900">
              <a:spcAft>
                <a:spcPts val="1000"/>
              </a:spcAft>
              <a:buSzPct val="100000"/>
              <a:buChar char="–"/>
            </a:pPr>
            <a:r>
              <a:rPr lang="en-US" sz="1500" dirty="0">
                <a:solidFill>
                  <a:srgbClr val="2B3D36"/>
                </a:solidFill>
                <a:latin typeface="Calibri" pitchFamily="34" charset="0"/>
                <a:ea typeface="Calibri" pitchFamily="34" charset="-122"/>
                <a:cs typeface="Calibri" pitchFamily="34" charset="-120"/>
              </a:rPr>
              <a:t>One method, a stripped snapshot: no database access, no capability token</a:t>
            </a:r>
            <a:endParaRPr lang="en-US" sz="1500" dirty="0"/>
          </a:p>
          <a:p>
            <a:pPr marL="342900" indent="-342900">
              <a:spcAft>
                <a:spcPts val="1000"/>
              </a:spcAft>
              <a:buSzPct val="100000"/>
              <a:buChar char="–"/>
            </a:pPr>
            <a:r>
              <a:rPr lang="en-US" sz="1500" dirty="0">
                <a:solidFill>
                  <a:srgbClr val="2B3D36"/>
                </a:solidFill>
                <a:latin typeface="Calibri" pitchFamily="34" charset="0"/>
                <a:ea typeface="Calibri" pitchFamily="34" charset="-122"/>
                <a:cs typeface="Calibri" pitchFamily="34" charset="-120"/>
              </a:rPr>
              <a:t>Every draft needs a human accept before it counts as anything</a:t>
            </a:r>
            <a:endParaRPr lang="en-US" sz="1500" dirty="0"/>
          </a:p>
        </p:txBody>
      </p:sp>
      <p:sp>
        <p:nvSpPr>
          <p:cNvPr id="13" name="Text 11"/>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14" name="Text 12"/>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ATT&amp;CK MAPPING AND EVIDENCE INTEGRITY</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400" b="1" dirty="0">
                <a:solidFill>
                  <a:srgbClr val="10201A"/>
                </a:solidFill>
                <a:latin typeface="Cambria" pitchFamily="34" charset="0"/>
                <a:ea typeface="Cambria" pitchFamily="34" charset="-122"/>
                <a:cs typeface="Cambria" pitchFamily="34" charset="-120"/>
              </a:rPr>
              <a:t>Refused server-side. Same rule for AI and humans.</a:t>
            </a:r>
            <a:endParaRPr lang="en-US" sz="2400" dirty="0"/>
          </a:p>
        </p:txBody>
      </p:sp>
      <p:sp>
        <p:nvSpPr>
          <p:cNvPr id="4" name="Shape 2"/>
          <p:cNvSpPr/>
          <p:nvPr/>
        </p:nvSpPr>
        <p:spPr>
          <a:xfrm>
            <a:off x="548640" y="1920240"/>
            <a:ext cx="5364328" cy="2651760"/>
          </a:xfrm>
          <a:prstGeom prst="roundRect">
            <a:avLst>
              <a:gd name="adj" fmla="val 2759"/>
            </a:avLst>
          </a:prstGeom>
          <a:solidFill>
            <a:srgbClr val="FCEDEF"/>
          </a:solidFill>
          <a:ln/>
          <a:effectLst>
            <a:outerShdw sx="100000" sy="100000" kx="0" ky="0" algn="bl" rotWithShape="0" blurRad="76200" dist="25400" dir="5400000">
              <a:srgbClr val="9AA8A2">
                <a:alpha val="35000"/>
              </a:srgbClr>
            </a:outerShdw>
          </a:effectLst>
        </p:spPr>
      </p:sp>
      <p:sp>
        <p:nvSpPr>
          <p:cNvPr id="5" name="Shape 3"/>
          <p:cNvSpPr/>
          <p:nvPr/>
        </p:nvSpPr>
        <p:spPr>
          <a:xfrm>
            <a:off x="822960" y="2194560"/>
            <a:ext cx="502920" cy="502920"/>
          </a:xfrm>
          <a:prstGeom prst="ellipse">
            <a:avLst/>
          </a:prstGeom>
          <a:solidFill>
            <a:srgbClr val="F2617A"/>
          </a:solidFill>
          <a:ln/>
        </p:spPr>
      </p:sp>
      <p:sp>
        <p:nvSpPr>
          <p:cNvPr id="6" name="Text 4"/>
          <p:cNvSpPr/>
          <p:nvPr/>
        </p:nvSpPr>
        <p:spPr>
          <a:xfrm>
            <a:off x="822960" y="219456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t>
            </a:r>
            <a:endParaRPr lang="en-US" sz="1650" dirty="0"/>
          </a:p>
        </p:txBody>
      </p:sp>
      <p:sp>
        <p:nvSpPr>
          <p:cNvPr id="7" name="Text 5"/>
          <p:cNvSpPr/>
          <p:nvPr/>
        </p:nvSpPr>
        <p:spPr>
          <a:xfrm>
            <a:off x="1463040" y="2194560"/>
            <a:ext cx="4175608" cy="457200"/>
          </a:xfrm>
          <a:prstGeom prst="rect">
            <a:avLst/>
          </a:prstGeom>
          <a:noFill/>
          <a:ln/>
        </p:spPr>
        <p:txBody>
          <a:bodyPr wrap="square" lIns="0" tIns="0" rIns="0" bIns="0" rtlCol="0" anchor="ctr"/>
          <a:lstStyle/>
          <a:p>
            <a:pPr indent="0" marL="0">
              <a:buNone/>
            </a:pPr>
            <a:r>
              <a:rPr lang="en-US" sz="1600" b="1" dirty="0">
                <a:solidFill>
                  <a:srgbClr val="F2617A"/>
                </a:solidFill>
                <a:latin typeface="Cambria" pitchFamily="34" charset="0"/>
                <a:ea typeface="Cambria" pitchFamily="34" charset="-122"/>
                <a:cs typeface="Cambria" pitchFamily="34" charset="-120"/>
              </a:rPr>
              <a:t>Refused</a:t>
            </a:r>
            <a:endParaRPr lang="en-US" sz="1600" dirty="0"/>
          </a:p>
        </p:txBody>
      </p:sp>
      <p:sp>
        <p:nvSpPr>
          <p:cNvPr id="8" name="Text 6"/>
          <p:cNvSpPr/>
          <p:nvPr/>
        </p:nvSpPr>
        <p:spPr>
          <a:xfrm>
            <a:off x="868680" y="2834640"/>
            <a:ext cx="4724248" cy="731520"/>
          </a:xfrm>
          <a:prstGeom prst="rect">
            <a:avLst/>
          </a:prstGeom>
          <a:noFill/>
          <a:ln/>
        </p:spPr>
        <p:txBody>
          <a:bodyPr wrap="square" lIns="0" tIns="0" rIns="0" bIns="0" rtlCol="0" anchor="ctr"/>
          <a:lstStyle/>
          <a:p>
            <a:pPr indent="0" marL="0">
              <a:buNone/>
            </a:pPr>
            <a:r>
              <a:rPr lang="en-US" sz="1300" i="1" dirty="0">
                <a:solidFill>
                  <a:srgbClr val="2B3D36"/>
                </a:solidFill>
                <a:latin typeface="Calibri" pitchFamily="34" charset="0"/>
                <a:ea typeface="Calibri" pitchFamily="34" charset="-122"/>
                <a:cs typeface="Calibri" pitchFamily="34" charset="-120"/>
              </a:rPr>
              <a:t>“The host exposes RDP and has a high risk score.”</a:t>
            </a:r>
            <a:endParaRPr lang="en-US" sz="1300" dirty="0"/>
          </a:p>
        </p:txBody>
      </p:sp>
      <p:sp>
        <p:nvSpPr>
          <p:cNvPr id="9" name="Text 7"/>
          <p:cNvSpPr/>
          <p:nvPr/>
        </p:nvSpPr>
        <p:spPr>
          <a:xfrm>
            <a:off x="868680" y="3657600"/>
            <a:ext cx="4724248" cy="822960"/>
          </a:xfrm>
          <a:prstGeom prst="rect">
            <a:avLst/>
          </a:prstGeom>
          <a:noFill/>
          <a:ln/>
        </p:spPr>
        <p:txBody>
          <a:bodyPr wrap="square" lIns="0" tIns="0" rIns="0" bIns="0" rtlCol="0" anchor="ctr"/>
          <a:lstStyle/>
          <a:p>
            <a:pPr indent="0" marL="0">
              <a:buNone/>
            </a:pPr>
            <a:r>
              <a:rPr lang="en-US" sz="1200" dirty="0">
                <a:solidFill>
                  <a:srgbClr val="6B7A74"/>
                </a:solidFill>
                <a:latin typeface="Calibri" pitchFamily="34" charset="0"/>
                <a:ea typeface="Calibri" pitchFamily="34" charset="-122"/>
                <a:cs typeface="Calibri" pitchFamily="34" charset="-120"/>
              </a:rPr>
              <a:t>Exposure and risk score are individually insufficient — this is not observed behaviour.</a:t>
            </a:r>
            <a:endParaRPr lang="en-US" sz="1200" dirty="0"/>
          </a:p>
        </p:txBody>
      </p:sp>
      <p:sp>
        <p:nvSpPr>
          <p:cNvPr id="10" name="Shape 8"/>
          <p:cNvSpPr/>
          <p:nvPr/>
        </p:nvSpPr>
        <p:spPr>
          <a:xfrm>
            <a:off x="6278728" y="1920240"/>
            <a:ext cx="5364328" cy="2651760"/>
          </a:xfrm>
          <a:prstGeom prst="roundRect">
            <a:avLst>
              <a:gd name="adj" fmla="val 2759"/>
            </a:avLst>
          </a:prstGeom>
          <a:solidFill>
            <a:srgbClr val="EAF7EF"/>
          </a:solidFill>
          <a:ln/>
          <a:effectLst>
            <a:outerShdw sx="100000" sy="100000" kx="0" ky="0" algn="bl" rotWithShape="0" blurRad="76200" dist="25400" dir="5400000">
              <a:srgbClr val="9AA8A2">
                <a:alpha val="35000"/>
              </a:srgbClr>
            </a:outerShdw>
          </a:effectLst>
        </p:spPr>
      </p:sp>
      <p:sp>
        <p:nvSpPr>
          <p:cNvPr id="11" name="Shape 9"/>
          <p:cNvSpPr/>
          <p:nvPr/>
        </p:nvSpPr>
        <p:spPr>
          <a:xfrm>
            <a:off x="6553048" y="2194560"/>
            <a:ext cx="502920" cy="502920"/>
          </a:xfrm>
          <a:prstGeom prst="ellipse">
            <a:avLst/>
          </a:prstGeom>
          <a:solidFill>
            <a:srgbClr val="35C477"/>
          </a:solidFill>
          <a:ln/>
        </p:spPr>
      </p:sp>
      <p:sp>
        <p:nvSpPr>
          <p:cNvPr id="12" name="Text 10"/>
          <p:cNvSpPr/>
          <p:nvPr/>
        </p:nvSpPr>
        <p:spPr>
          <a:xfrm>
            <a:off x="6553048" y="219456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t>
            </a:r>
            <a:endParaRPr lang="en-US" sz="1650" dirty="0"/>
          </a:p>
        </p:txBody>
      </p:sp>
      <p:sp>
        <p:nvSpPr>
          <p:cNvPr id="13" name="Text 11"/>
          <p:cNvSpPr/>
          <p:nvPr/>
        </p:nvSpPr>
        <p:spPr>
          <a:xfrm>
            <a:off x="7193128" y="2194560"/>
            <a:ext cx="4175608" cy="457200"/>
          </a:xfrm>
          <a:prstGeom prst="rect">
            <a:avLst/>
          </a:prstGeom>
          <a:noFill/>
          <a:ln/>
        </p:spPr>
        <p:txBody>
          <a:bodyPr wrap="square" lIns="0" tIns="0" rIns="0" bIns="0" rtlCol="0" anchor="ctr"/>
          <a:lstStyle/>
          <a:p>
            <a:pPr indent="0" marL="0">
              <a:buNone/>
            </a:pPr>
            <a:r>
              <a:rPr lang="en-US" sz="1600" b="1" dirty="0">
                <a:solidFill>
                  <a:srgbClr val="1E9E5D"/>
                </a:solidFill>
                <a:latin typeface="Cambria" pitchFamily="34" charset="0"/>
                <a:ea typeface="Cambria" pitchFamily="34" charset="-122"/>
                <a:cs typeface="Cambria" pitchFamily="34" charset="-120"/>
              </a:rPr>
              <a:t>Accepted</a:t>
            </a:r>
            <a:endParaRPr lang="en-US" sz="1600" dirty="0"/>
          </a:p>
        </p:txBody>
      </p:sp>
      <p:sp>
        <p:nvSpPr>
          <p:cNvPr id="14" name="Text 12"/>
          <p:cNvSpPr/>
          <p:nvPr/>
        </p:nvSpPr>
        <p:spPr>
          <a:xfrm>
            <a:off x="6598768" y="2834640"/>
            <a:ext cx="4724248" cy="731520"/>
          </a:xfrm>
          <a:prstGeom prst="rect">
            <a:avLst/>
          </a:prstGeom>
          <a:noFill/>
          <a:ln/>
        </p:spPr>
        <p:txBody>
          <a:bodyPr wrap="square" lIns="0" tIns="0" rIns="0" bIns="0" rtlCol="0" anchor="ctr"/>
          <a:lstStyle/>
          <a:p>
            <a:pPr indent="0" marL="0">
              <a:buNone/>
            </a:pPr>
            <a:r>
              <a:rPr lang="en-US" sz="1300" i="1" dirty="0">
                <a:solidFill>
                  <a:srgbClr val="2B3D36"/>
                </a:solidFill>
                <a:latin typeface="Calibri" pitchFamily="34" charset="0"/>
                <a:ea typeface="Calibri" pitchFamily="34" charset="-122"/>
                <a:cs typeface="Calibri" pitchFamily="34" charset="-120"/>
              </a:rPr>
              <a:t>A rationale describing observed adversary behaviour, tied to case evidence.</a:t>
            </a:r>
            <a:endParaRPr lang="en-US" sz="1300" dirty="0"/>
          </a:p>
        </p:txBody>
      </p:sp>
      <p:sp>
        <p:nvSpPr>
          <p:cNvPr id="15" name="Text 13"/>
          <p:cNvSpPr/>
          <p:nvPr/>
        </p:nvSpPr>
        <p:spPr>
          <a:xfrm>
            <a:off x="6598768" y="3657600"/>
            <a:ext cx="4724248" cy="822960"/>
          </a:xfrm>
          <a:prstGeom prst="rect">
            <a:avLst/>
          </a:prstGeom>
          <a:noFill/>
          <a:ln/>
        </p:spPr>
        <p:txBody>
          <a:bodyPr wrap="square" lIns="0" tIns="0" rIns="0" bIns="0" rtlCol="0" anchor="ctr"/>
          <a:lstStyle/>
          <a:p>
            <a:pPr indent="0" marL="0">
              <a:buNone/>
            </a:pPr>
            <a:r>
              <a:rPr lang="en-US" sz="1200" dirty="0">
                <a:solidFill>
                  <a:srgbClr val="6B7A74"/>
                </a:solidFill>
                <a:latin typeface="Calibri" pitchFamily="34" charset="0"/>
                <a:ea typeface="Calibri" pitchFamily="34" charset="-122"/>
                <a:cs typeface="Calibri" pitchFamily="34" charset="-120"/>
              </a:rPr>
              <a:t>Enforced identically whether the mapping came from an analyst or an accepted AI suggestion.</a:t>
            </a:r>
            <a:endParaRPr lang="en-US" sz="1200" dirty="0"/>
          </a:p>
        </p:txBody>
      </p:sp>
      <p:sp>
        <p:nvSpPr>
          <p:cNvPr id="16" name="Text 14"/>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17" name="Text 15"/>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SECURITY CONTROLS</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Named mechanisms, not adjectives</a:t>
            </a:r>
            <a:endParaRPr lang="en-US" sz="2800" dirty="0"/>
          </a:p>
        </p:txBody>
      </p:sp>
      <p:sp>
        <p:nvSpPr>
          <p:cNvPr id="4" name="Shape 2"/>
          <p:cNvSpPr/>
          <p:nvPr/>
        </p:nvSpPr>
        <p:spPr>
          <a:xfrm>
            <a:off x="548640" y="1874520"/>
            <a:ext cx="548640" cy="548640"/>
          </a:xfrm>
          <a:prstGeom prst="ellipse">
            <a:avLst/>
          </a:prstGeom>
          <a:solidFill>
            <a:srgbClr val="14251E"/>
          </a:solidFill>
          <a:ln/>
        </p:spPr>
      </p:sp>
      <p:sp>
        <p:nvSpPr>
          <p:cNvPr id="5" name="Text 3"/>
          <p:cNvSpPr/>
          <p:nvPr/>
        </p:nvSpPr>
        <p:spPr>
          <a:xfrm>
            <a:off x="548640" y="187452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828800"/>
            <a:ext cx="2103120" cy="457200"/>
          </a:xfrm>
          <a:prstGeom prst="rect">
            <a:avLst/>
          </a:prstGeom>
          <a:noFill/>
          <a:ln/>
        </p:spPr>
        <p:txBody>
          <a:bodyPr wrap="square" lIns="0" tIns="0" rIns="0" bIns="0" rtlCol="0" anchor="ctr"/>
          <a:lstStyle/>
          <a:p>
            <a:pPr indent="0" marL="0">
              <a:buNone/>
            </a:pPr>
            <a:r>
              <a:rPr lang="en-US" sz="1500" b="1" dirty="0">
                <a:solidFill>
                  <a:srgbClr val="10201A"/>
                </a:solidFill>
                <a:latin typeface="Cambria" pitchFamily="34" charset="0"/>
                <a:ea typeface="Cambria" pitchFamily="34" charset="-122"/>
                <a:cs typeface="Cambria" pitchFamily="34" charset="-120"/>
              </a:rPr>
              <a:t>RBAC</a:t>
            </a:r>
            <a:endParaRPr lang="en-US" sz="1500" dirty="0"/>
          </a:p>
        </p:txBody>
      </p:sp>
      <p:sp>
        <p:nvSpPr>
          <p:cNvPr id="7" name="Text 5"/>
          <p:cNvSpPr/>
          <p:nvPr/>
        </p:nvSpPr>
        <p:spPr>
          <a:xfrm>
            <a:off x="3566160" y="1828800"/>
            <a:ext cx="8076895" cy="640080"/>
          </a:xfrm>
          <a:prstGeom prst="rect">
            <a:avLst/>
          </a:prstGeom>
          <a:noFill/>
          <a:ln/>
        </p:spPr>
        <p:txBody>
          <a:bodyPr wrap="square" lIns="0" tIns="0" rIns="0" bIns="0" rtlCol="0" anchor="ctr"/>
          <a:lstStyle/>
          <a:p>
            <a:pPr indent="0" marL="0">
              <a:buNone/>
            </a:pPr>
            <a:r>
              <a:rPr lang="en-US" sz="1400" dirty="0">
                <a:solidFill>
                  <a:srgbClr val="2B3D36"/>
                </a:solidFill>
                <a:latin typeface="Calibri" pitchFamily="34" charset="0"/>
                <a:ea typeface="Calibri" pitchFamily="34" charset="-122"/>
                <a:cs typeface="Calibri" pitchFamily="34" charset="-120"/>
              </a:rPr>
              <a:t>Capability-based RBAC — the backend is the only enforcement boundary</a:t>
            </a:r>
            <a:endParaRPr lang="en-US" sz="1400" dirty="0"/>
          </a:p>
        </p:txBody>
      </p:sp>
      <p:sp>
        <p:nvSpPr>
          <p:cNvPr id="8" name="Shape 6"/>
          <p:cNvSpPr/>
          <p:nvPr/>
        </p:nvSpPr>
        <p:spPr>
          <a:xfrm>
            <a:off x="548640" y="2926080"/>
            <a:ext cx="548640" cy="548640"/>
          </a:xfrm>
          <a:prstGeom prst="ellipse">
            <a:avLst/>
          </a:prstGeom>
          <a:solidFill>
            <a:srgbClr val="14251E"/>
          </a:solidFill>
          <a:ln/>
        </p:spPr>
      </p:sp>
      <p:sp>
        <p:nvSpPr>
          <p:cNvPr id="9" name="Text 7"/>
          <p:cNvSpPr/>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325880" y="2880360"/>
            <a:ext cx="2103120" cy="457200"/>
          </a:xfrm>
          <a:prstGeom prst="rect">
            <a:avLst/>
          </a:prstGeom>
          <a:noFill/>
          <a:ln/>
        </p:spPr>
        <p:txBody>
          <a:bodyPr wrap="square" lIns="0" tIns="0" rIns="0" bIns="0" rtlCol="0" anchor="ctr"/>
          <a:lstStyle/>
          <a:p>
            <a:pPr indent="0" marL="0">
              <a:buNone/>
            </a:pPr>
            <a:r>
              <a:rPr lang="en-US" sz="1500" b="1" dirty="0">
                <a:solidFill>
                  <a:srgbClr val="10201A"/>
                </a:solidFill>
                <a:latin typeface="Cambria" pitchFamily="34" charset="0"/>
                <a:ea typeface="Cambria" pitchFamily="34" charset="-122"/>
                <a:cs typeface="Cambria" pitchFamily="34" charset="-120"/>
              </a:rPr>
              <a:t>Audit</a:t>
            </a:r>
            <a:endParaRPr lang="en-US" sz="1500" dirty="0"/>
          </a:p>
        </p:txBody>
      </p:sp>
      <p:sp>
        <p:nvSpPr>
          <p:cNvPr id="11" name="Text 9"/>
          <p:cNvSpPr/>
          <p:nvPr/>
        </p:nvSpPr>
        <p:spPr>
          <a:xfrm>
            <a:off x="3566160" y="2880360"/>
            <a:ext cx="8076895" cy="640080"/>
          </a:xfrm>
          <a:prstGeom prst="rect">
            <a:avLst/>
          </a:prstGeom>
          <a:noFill/>
          <a:ln/>
        </p:spPr>
        <p:txBody>
          <a:bodyPr wrap="square" lIns="0" tIns="0" rIns="0" bIns="0" rtlCol="0" anchor="ctr"/>
          <a:lstStyle/>
          <a:p>
            <a:pPr indent="0" marL="0">
              <a:buNone/>
            </a:pPr>
            <a:r>
              <a:rPr lang="en-US" sz="1400" dirty="0">
                <a:solidFill>
                  <a:srgbClr val="2B3D36"/>
                </a:solidFill>
                <a:latin typeface="Calibri" pitchFamily="34" charset="0"/>
                <a:ea typeface="Calibri" pitchFamily="34" charset="-122"/>
                <a:cs typeface="Calibri" pitchFamily="34" charset="-120"/>
              </a:rPr>
              <a:t>Every write audited from the service layer, not the controller</a:t>
            </a:r>
            <a:endParaRPr lang="en-US" sz="1400" dirty="0"/>
          </a:p>
        </p:txBody>
      </p:sp>
      <p:sp>
        <p:nvSpPr>
          <p:cNvPr id="12" name="Shape 10"/>
          <p:cNvSpPr/>
          <p:nvPr/>
        </p:nvSpPr>
        <p:spPr>
          <a:xfrm>
            <a:off x="548640" y="3977640"/>
            <a:ext cx="548640" cy="548640"/>
          </a:xfrm>
          <a:prstGeom prst="ellipse">
            <a:avLst/>
          </a:prstGeom>
          <a:solidFill>
            <a:srgbClr val="14251E"/>
          </a:solidFill>
          <a:ln/>
        </p:spPr>
      </p:sp>
      <p:sp>
        <p:nvSpPr>
          <p:cNvPr id="13" name="Text 11"/>
          <p:cNvSpPr/>
          <p:nvPr/>
        </p:nvSpPr>
        <p:spPr>
          <a:xfrm>
            <a:off x="548640" y="397764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325880" y="3931920"/>
            <a:ext cx="2103120" cy="457200"/>
          </a:xfrm>
          <a:prstGeom prst="rect">
            <a:avLst/>
          </a:prstGeom>
          <a:noFill/>
          <a:ln/>
        </p:spPr>
        <p:txBody>
          <a:bodyPr wrap="square" lIns="0" tIns="0" rIns="0" bIns="0" rtlCol="0" anchor="ctr"/>
          <a:lstStyle/>
          <a:p>
            <a:pPr indent="0" marL="0">
              <a:buNone/>
            </a:pPr>
            <a:r>
              <a:rPr lang="en-US" sz="1500" b="1" dirty="0">
                <a:solidFill>
                  <a:srgbClr val="10201A"/>
                </a:solidFill>
                <a:latin typeface="Cambria" pitchFamily="34" charset="0"/>
                <a:ea typeface="Cambria" pitchFamily="34" charset="-122"/>
                <a:cs typeface="Cambria" pitchFamily="34" charset="-120"/>
              </a:rPr>
              <a:t>Rate limits</a:t>
            </a:r>
            <a:endParaRPr lang="en-US" sz="1500" dirty="0"/>
          </a:p>
        </p:txBody>
      </p:sp>
      <p:sp>
        <p:nvSpPr>
          <p:cNvPr id="15" name="Text 13"/>
          <p:cNvSpPr/>
          <p:nvPr/>
        </p:nvSpPr>
        <p:spPr>
          <a:xfrm>
            <a:off x="3566160" y="3931920"/>
            <a:ext cx="8076895" cy="640080"/>
          </a:xfrm>
          <a:prstGeom prst="rect">
            <a:avLst/>
          </a:prstGeom>
          <a:noFill/>
          <a:ln/>
        </p:spPr>
        <p:txBody>
          <a:bodyPr wrap="square" lIns="0" tIns="0" rIns="0" bIns="0" rtlCol="0" anchor="ctr"/>
          <a:lstStyle/>
          <a:p>
            <a:pPr indent="0" marL="0">
              <a:buNone/>
            </a:pPr>
            <a:r>
              <a:rPr lang="en-US" sz="1400" dirty="0">
                <a:solidFill>
                  <a:srgbClr val="2B3D36"/>
                </a:solidFill>
                <a:latin typeface="Calibri" pitchFamily="34" charset="0"/>
                <a:ea typeface="Calibri" pitchFamily="34" charset="-122"/>
                <a:cs typeface="Calibri" pitchFamily="34" charset="-120"/>
              </a:rPr>
              <a:t>Three independent buckets: auth, upload, provider execution</a:t>
            </a:r>
            <a:endParaRPr lang="en-US" sz="1400" dirty="0"/>
          </a:p>
        </p:txBody>
      </p:sp>
      <p:sp>
        <p:nvSpPr>
          <p:cNvPr id="16" name="Shape 14"/>
          <p:cNvSpPr/>
          <p:nvPr/>
        </p:nvSpPr>
        <p:spPr>
          <a:xfrm>
            <a:off x="548640" y="5029200"/>
            <a:ext cx="548640" cy="548640"/>
          </a:xfrm>
          <a:prstGeom prst="ellipse">
            <a:avLst/>
          </a:prstGeom>
          <a:solidFill>
            <a:srgbClr val="14251E"/>
          </a:solidFill>
          <a:ln/>
        </p:spPr>
      </p:sp>
      <p:sp>
        <p:nvSpPr>
          <p:cNvPr id="17" name="Text 15"/>
          <p:cNvSpPr/>
          <p:nvPr/>
        </p:nvSpPr>
        <p:spPr>
          <a:xfrm>
            <a:off x="548640" y="5029200"/>
            <a:ext cx="548640" cy="548640"/>
          </a:xfrm>
          <a:prstGeom prst="rect">
            <a:avLst/>
          </a:prstGeom>
          <a:noFill/>
          <a:ln/>
        </p:spPr>
        <p:txBody>
          <a:bodyPr wrap="square" lIns="0" tIns="0" rIns="0" bIns="0" rtlCol="0" anchor="ctr"/>
          <a:lstStyle/>
          <a:p>
            <a:pPr algn="ctr" indent="0" marL="0">
              <a:buNone/>
            </a:pPr>
            <a:r>
              <a:rPr lang="en-US" sz="1800" b="1" dirty="0">
                <a:solidFill>
                  <a:srgbClr val="35C477"/>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325880" y="4983480"/>
            <a:ext cx="2103120" cy="457200"/>
          </a:xfrm>
          <a:prstGeom prst="rect">
            <a:avLst/>
          </a:prstGeom>
          <a:noFill/>
          <a:ln/>
        </p:spPr>
        <p:txBody>
          <a:bodyPr wrap="square" lIns="0" tIns="0" rIns="0" bIns="0" rtlCol="0" anchor="ctr"/>
          <a:lstStyle/>
          <a:p>
            <a:pPr indent="0" marL="0">
              <a:buNone/>
            </a:pPr>
            <a:r>
              <a:rPr lang="en-US" sz="1500" b="1" dirty="0">
                <a:solidFill>
                  <a:srgbClr val="10201A"/>
                </a:solidFill>
                <a:latin typeface="Cambria" pitchFamily="34" charset="0"/>
                <a:ea typeface="Cambria" pitchFamily="34" charset="-122"/>
                <a:cs typeface="Cambria" pitchFamily="34" charset="-120"/>
              </a:rPr>
              <a:t>Secrets</a:t>
            </a:r>
            <a:endParaRPr lang="en-US" sz="1500" dirty="0"/>
          </a:p>
        </p:txBody>
      </p:sp>
      <p:sp>
        <p:nvSpPr>
          <p:cNvPr id="19" name="Text 17"/>
          <p:cNvSpPr/>
          <p:nvPr/>
        </p:nvSpPr>
        <p:spPr>
          <a:xfrm>
            <a:off x="3566160" y="4983480"/>
            <a:ext cx="8076895" cy="640080"/>
          </a:xfrm>
          <a:prstGeom prst="rect">
            <a:avLst/>
          </a:prstGeom>
          <a:noFill/>
          <a:ln/>
        </p:spPr>
        <p:txBody>
          <a:bodyPr wrap="square" lIns="0" tIns="0" rIns="0" bIns="0" rtlCol="0" anchor="ctr"/>
          <a:lstStyle/>
          <a:p>
            <a:pPr indent="0" marL="0">
              <a:buNone/>
            </a:pPr>
            <a:r>
              <a:rPr lang="en-US" sz="1400" dirty="0">
                <a:solidFill>
                  <a:srgbClr val="2B3D36"/>
                </a:solidFill>
                <a:latin typeface="Calibri" pitchFamily="34" charset="0"/>
                <a:ea typeface="Calibri" pitchFamily="34" charset="-122"/>
                <a:cs typeface="Calibri" pitchFamily="34" charset="-120"/>
              </a:rPr>
              <a:t>Never reach a log, a response, or the browser bundle — checked on every CI push</a:t>
            </a:r>
            <a:endParaRPr lang="en-US" sz="1400" dirty="0"/>
          </a:p>
        </p:txBody>
      </p:sp>
      <p:sp>
        <p:nvSpPr>
          <p:cNvPr id="20" name="Text 18"/>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21" name="Text 19"/>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600" b="1" dirty="0">
                <a:solidFill>
                  <a:srgbClr val="10201A"/>
                </a:solidFill>
                <a:latin typeface="Cambria" pitchFamily="34" charset="0"/>
                <a:ea typeface="Cambria" pitchFamily="34" charset="-122"/>
                <a:cs typeface="Cambria" pitchFamily="34" charset="-120"/>
              </a:rPr>
              <a:t>The backend is the only door in or out</a:t>
            </a:r>
            <a:endParaRPr lang="en-US" sz="2600" dirty="0"/>
          </a:p>
        </p:txBody>
      </p:sp>
      <p:sp>
        <p:nvSpPr>
          <p:cNvPr id="4" name="Shape 2"/>
          <p:cNvSpPr/>
          <p:nvPr/>
        </p:nvSpPr>
        <p:spPr>
          <a:xfrm>
            <a:off x="1043788" y="2286000"/>
            <a:ext cx="2286000" cy="1097280"/>
          </a:xfrm>
          <a:prstGeom prst="roundRect">
            <a:avLst>
              <a:gd name="adj" fmla="val 6667"/>
            </a:avLst>
          </a:prstGeom>
          <a:solidFill>
            <a:srgbClr val="EEF3F0"/>
          </a:solidFill>
          <a:ln/>
          <a:effectLst>
            <a:outerShdw sx="100000" sy="100000" kx="0" ky="0" algn="bl" rotWithShape="0" blurRad="76200" dist="25400" dir="5400000">
              <a:srgbClr val="9AA8A2">
                <a:alpha val="35000"/>
              </a:srgbClr>
            </a:outerShdw>
          </a:effectLst>
        </p:spPr>
      </p:sp>
      <p:sp>
        <p:nvSpPr>
          <p:cNvPr id="5" name="Text 3"/>
          <p:cNvSpPr/>
          <p:nvPr/>
        </p:nvSpPr>
        <p:spPr>
          <a:xfrm>
            <a:off x="1043788" y="2450592"/>
            <a:ext cx="2286000" cy="457200"/>
          </a:xfrm>
          <a:prstGeom prst="rect">
            <a:avLst/>
          </a:prstGeom>
          <a:noFill/>
          <a:ln/>
        </p:spPr>
        <p:txBody>
          <a:bodyPr wrap="square" lIns="0" tIns="0" rIns="0" bIns="0" rtlCol="0" anchor="ctr"/>
          <a:lstStyle/>
          <a:p>
            <a:pPr algn="ctr" indent="0" marL="0">
              <a:buNone/>
            </a:pPr>
            <a:r>
              <a:rPr lang="en-US" sz="1500" b="1" dirty="0">
                <a:solidFill>
                  <a:srgbClr val="10201A"/>
                </a:solidFill>
                <a:latin typeface="Cambria" pitchFamily="34" charset="0"/>
                <a:ea typeface="Cambria" pitchFamily="34" charset="-122"/>
                <a:cs typeface="Cambria" pitchFamily="34" charset="-120"/>
              </a:rPr>
              <a:t>Frontend</a:t>
            </a:r>
            <a:endParaRPr lang="en-US" sz="1500" dirty="0"/>
          </a:p>
        </p:txBody>
      </p:sp>
      <p:sp>
        <p:nvSpPr>
          <p:cNvPr id="6" name="Text 4"/>
          <p:cNvSpPr/>
          <p:nvPr/>
        </p:nvSpPr>
        <p:spPr>
          <a:xfrm>
            <a:off x="1043788" y="2880360"/>
            <a:ext cx="2286000" cy="365760"/>
          </a:xfrm>
          <a:prstGeom prst="rect">
            <a:avLst/>
          </a:prstGeom>
          <a:noFill/>
          <a:ln/>
        </p:spPr>
        <p:txBody>
          <a:bodyPr wrap="square" lIns="0" tIns="0" rIns="0" bIns="0" rtlCol="0" anchor="ctr"/>
          <a:lstStyle/>
          <a:p>
            <a:pPr algn="ctr" indent="0" marL="0">
              <a:buNone/>
            </a:pPr>
            <a:r>
              <a:rPr lang="en-US" sz="1100" dirty="0">
                <a:solidFill>
                  <a:srgbClr val="6B7A74"/>
                </a:solidFill>
                <a:latin typeface="Calibri" pitchFamily="34" charset="0"/>
                <a:ea typeface="Calibri" pitchFamily="34" charset="-122"/>
                <a:cs typeface="Calibri" pitchFamily="34" charset="-120"/>
              </a:rPr>
              <a:t>React</a:t>
            </a:r>
            <a:endParaRPr lang="en-US" sz="1100" dirty="0"/>
          </a:p>
        </p:txBody>
      </p:sp>
      <p:sp>
        <p:nvSpPr>
          <p:cNvPr id="7" name="Text 5"/>
          <p:cNvSpPr/>
          <p:nvPr/>
        </p:nvSpPr>
        <p:spPr>
          <a:xfrm>
            <a:off x="3329788" y="2286000"/>
            <a:ext cx="320040" cy="109728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3649828" y="2286000"/>
            <a:ext cx="2286000" cy="1097280"/>
          </a:xfrm>
          <a:prstGeom prst="roundRect">
            <a:avLst>
              <a:gd name="adj" fmla="val 6667"/>
            </a:avLst>
          </a:prstGeom>
          <a:solidFill>
            <a:srgbClr val="EEF3F0"/>
          </a:solidFill>
          <a:ln/>
          <a:effectLst>
            <a:outerShdw sx="100000" sy="100000" kx="0" ky="0" algn="bl" rotWithShape="0" blurRad="76200" dist="25400" dir="5400000">
              <a:srgbClr val="9AA8A2">
                <a:alpha val="35000"/>
              </a:srgbClr>
            </a:outerShdw>
          </a:effectLst>
        </p:spPr>
      </p:sp>
      <p:sp>
        <p:nvSpPr>
          <p:cNvPr id="9" name="Text 7"/>
          <p:cNvSpPr/>
          <p:nvPr/>
        </p:nvSpPr>
        <p:spPr>
          <a:xfrm>
            <a:off x="3649828" y="2450592"/>
            <a:ext cx="2286000" cy="457200"/>
          </a:xfrm>
          <a:prstGeom prst="rect">
            <a:avLst/>
          </a:prstGeom>
          <a:noFill/>
          <a:ln/>
        </p:spPr>
        <p:txBody>
          <a:bodyPr wrap="square" lIns="0" tIns="0" rIns="0" bIns="0" rtlCol="0" anchor="ctr"/>
          <a:lstStyle/>
          <a:p>
            <a:pPr algn="ctr" indent="0" marL="0">
              <a:buNone/>
            </a:pPr>
            <a:r>
              <a:rPr lang="en-US" sz="1500" b="1" dirty="0">
                <a:solidFill>
                  <a:srgbClr val="10201A"/>
                </a:solidFill>
                <a:latin typeface="Cambria" pitchFamily="34" charset="0"/>
                <a:ea typeface="Cambria" pitchFamily="34" charset="-122"/>
                <a:cs typeface="Cambria" pitchFamily="34" charset="-120"/>
              </a:rPr>
              <a:t>REST API</a:t>
            </a:r>
            <a:endParaRPr lang="en-US" sz="1500" dirty="0"/>
          </a:p>
        </p:txBody>
      </p:sp>
      <p:sp>
        <p:nvSpPr>
          <p:cNvPr id="10" name="Text 8"/>
          <p:cNvSpPr/>
          <p:nvPr/>
        </p:nvSpPr>
        <p:spPr>
          <a:xfrm>
            <a:off x="3649828" y="2880360"/>
            <a:ext cx="2286000" cy="365760"/>
          </a:xfrm>
          <a:prstGeom prst="rect">
            <a:avLst/>
          </a:prstGeom>
          <a:noFill/>
          <a:ln/>
        </p:spPr>
        <p:txBody>
          <a:bodyPr wrap="square" lIns="0" tIns="0" rIns="0" bIns="0" rtlCol="0" anchor="ctr"/>
          <a:lstStyle/>
          <a:p>
            <a:pPr algn="ctr" indent="0" marL="0">
              <a:buNone/>
            </a:pPr>
            <a:r>
              <a:rPr lang="en-US" sz="1100" dirty="0">
                <a:solidFill>
                  <a:srgbClr val="6B7A74"/>
                </a:solidFill>
                <a:latin typeface="Calibri" pitchFamily="34" charset="0"/>
                <a:ea typeface="Calibri" pitchFamily="34" charset="-122"/>
                <a:cs typeface="Calibri" pitchFamily="34" charset="-120"/>
              </a:rPr>
              <a:t>Express</a:t>
            </a:r>
            <a:endParaRPr lang="en-US" sz="1100" dirty="0"/>
          </a:p>
        </p:txBody>
      </p:sp>
      <p:sp>
        <p:nvSpPr>
          <p:cNvPr id="11" name="Text 9"/>
          <p:cNvSpPr/>
          <p:nvPr/>
        </p:nvSpPr>
        <p:spPr>
          <a:xfrm>
            <a:off x="5935828" y="2286000"/>
            <a:ext cx="320040" cy="109728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6255868" y="2286000"/>
            <a:ext cx="2286000" cy="1097280"/>
          </a:xfrm>
          <a:prstGeom prst="roundRect">
            <a:avLst>
              <a:gd name="adj" fmla="val 6667"/>
            </a:avLst>
          </a:prstGeom>
          <a:solidFill>
            <a:srgbClr val="EEF3F0"/>
          </a:solidFill>
          <a:ln/>
          <a:effectLst>
            <a:outerShdw sx="100000" sy="100000" kx="0" ky="0" algn="bl" rotWithShape="0" blurRad="76200" dist="25400" dir="5400000">
              <a:srgbClr val="9AA8A2">
                <a:alpha val="35000"/>
              </a:srgbClr>
            </a:outerShdw>
          </a:effectLst>
        </p:spPr>
      </p:sp>
      <p:sp>
        <p:nvSpPr>
          <p:cNvPr id="13" name="Text 11"/>
          <p:cNvSpPr/>
          <p:nvPr/>
        </p:nvSpPr>
        <p:spPr>
          <a:xfrm>
            <a:off x="6255868" y="2450592"/>
            <a:ext cx="2286000" cy="457200"/>
          </a:xfrm>
          <a:prstGeom prst="rect">
            <a:avLst/>
          </a:prstGeom>
          <a:noFill/>
          <a:ln/>
        </p:spPr>
        <p:txBody>
          <a:bodyPr wrap="square" lIns="0" tIns="0" rIns="0" bIns="0" rtlCol="0" anchor="ctr"/>
          <a:lstStyle/>
          <a:p>
            <a:pPr algn="ctr" indent="0" marL="0">
              <a:buNone/>
            </a:pPr>
            <a:r>
              <a:rPr lang="en-US" sz="1500" b="1" dirty="0">
                <a:solidFill>
                  <a:srgbClr val="10201A"/>
                </a:solidFill>
                <a:latin typeface="Cambria" pitchFamily="34" charset="0"/>
                <a:ea typeface="Cambria" pitchFamily="34" charset="-122"/>
                <a:cs typeface="Cambria" pitchFamily="34" charset="-120"/>
              </a:rPr>
              <a:t>Domain services</a:t>
            </a:r>
            <a:endParaRPr lang="en-US" sz="1500" dirty="0"/>
          </a:p>
        </p:txBody>
      </p:sp>
      <p:sp>
        <p:nvSpPr>
          <p:cNvPr id="14" name="Text 12"/>
          <p:cNvSpPr/>
          <p:nvPr/>
        </p:nvSpPr>
        <p:spPr>
          <a:xfrm>
            <a:off x="6255868" y="2880360"/>
            <a:ext cx="2286000" cy="365760"/>
          </a:xfrm>
          <a:prstGeom prst="rect">
            <a:avLst/>
          </a:prstGeom>
          <a:noFill/>
          <a:ln/>
        </p:spPr>
        <p:txBody>
          <a:bodyPr wrap="square" lIns="0" tIns="0" rIns="0" bIns="0" rtlCol="0" anchor="ctr"/>
          <a:lstStyle/>
          <a:p>
            <a:pPr algn="ctr" indent="0" marL="0">
              <a:buNone/>
            </a:pPr>
            <a:r>
              <a:rPr lang="en-US" sz="1100" dirty="0">
                <a:solidFill>
                  <a:srgbClr val="6B7A74"/>
                </a:solidFill>
                <a:latin typeface="Calibri" pitchFamily="34" charset="0"/>
                <a:ea typeface="Calibri" pitchFamily="34" charset="-122"/>
                <a:cs typeface="Calibri" pitchFamily="34" charset="-120"/>
              </a:rPr>
              <a:t>Node.js</a:t>
            </a:r>
            <a:endParaRPr lang="en-US" sz="1100" dirty="0"/>
          </a:p>
        </p:txBody>
      </p:sp>
      <p:sp>
        <p:nvSpPr>
          <p:cNvPr id="15" name="Text 13"/>
          <p:cNvSpPr/>
          <p:nvPr/>
        </p:nvSpPr>
        <p:spPr>
          <a:xfrm>
            <a:off x="8541868" y="2286000"/>
            <a:ext cx="320040" cy="1097280"/>
          </a:xfrm>
          <a:prstGeom prst="rect">
            <a:avLst/>
          </a:prstGeom>
          <a:noFill/>
          <a:ln/>
        </p:spPr>
        <p:txBody>
          <a:bodyPr wrap="square" lIns="0" tIns="0" rIns="0" bIns="0" rtlCol="0" anchor="ctr"/>
          <a:lstStyle/>
          <a:p>
            <a:pPr algn="ctr" indent="0" marL="0">
              <a:buNone/>
            </a:pPr>
            <a:r>
              <a:rPr lang="en-US" sz="1800" b="1" dirty="0">
                <a:solidFill>
                  <a:srgbClr val="1E9E5D"/>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8861908" y="2286000"/>
            <a:ext cx="2286000" cy="1097280"/>
          </a:xfrm>
          <a:prstGeom prst="roundRect">
            <a:avLst>
              <a:gd name="adj" fmla="val 6667"/>
            </a:avLst>
          </a:prstGeom>
          <a:solidFill>
            <a:srgbClr val="14251E"/>
          </a:solidFill>
          <a:ln/>
        </p:spPr>
      </p:sp>
      <p:sp>
        <p:nvSpPr>
          <p:cNvPr id="17" name="Text 15"/>
          <p:cNvSpPr/>
          <p:nvPr/>
        </p:nvSpPr>
        <p:spPr>
          <a:xfrm>
            <a:off x="8861908" y="2450592"/>
            <a:ext cx="2286000" cy="457200"/>
          </a:xfrm>
          <a:prstGeom prst="rect">
            <a:avLst/>
          </a:prstGeom>
          <a:noFill/>
          <a:ln/>
        </p:spPr>
        <p:txBody>
          <a:bodyPr wrap="square" lIns="0" tIns="0" rIns="0" bIns="0" rtlCol="0" anchor="ctr"/>
          <a:lstStyle/>
          <a:p>
            <a:pPr algn="ctr" indent="0" marL="0">
              <a:buNone/>
            </a:pPr>
            <a:r>
              <a:rPr lang="en-US" sz="1500" b="1" dirty="0">
                <a:solidFill>
                  <a:srgbClr val="35C477"/>
                </a:solidFill>
                <a:latin typeface="Cambria" pitchFamily="34" charset="0"/>
                <a:ea typeface="Cambria" pitchFamily="34" charset="-122"/>
                <a:cs typeface="Cambria" pitchFamily="34" charset="-120"/>
              </a:rPr>
              <a:t>PostgreSQL</a:t>
            </a:r>
            <a:endParaRPr lang="en-US" sz="1500" dirty="0"/>
          </a:p>
        </p:txBody>
      </p:sp>
      <p:sp>
        <p:nvSpPr>
          <p:cNvPr id="18" name="Text 16"/>
          <p:cNvSpPr/>
          <p:nvPr/>
        </p:nvSpPr>
        <p:spPr>
          <a:xfrm>
            <a:off x="8861908" y="2880360"/>
            <a:ext cx="2286000" cy="365760"/>
          </a:xfrm>
          <a:prstGeom prst="rect">
            <a:avLst/>
          </a:prstGeom>
          <a:noFill/>
          <a:ln/>
        </p:spPr>
        <p:txBody>
          <a:bodyPr wrap="square" lIns="0" tIns="0" rIns="0" bIns="0" rtlCol="0" anchor="ctr"/>
          <a:lstStyle/>
          <a:p>
            <a:pPr algn="ctr" indent="0" marL="0">
              <a:buNone/>
            </a:pPr>
            <a:r>
              <a:rPr lang="en-US" sz="1100" dirty="0">
                <a:solidFill>
                  <a:srgbClr val="9DAFC2"/>
                </a:solidFill>
                <a:latin typeface="Calibri" pitchFamily="34" charset="0"/>
                <a:ea typeface="Calibri" pitchFamily="34" charset="-122"/>
                <a:cs typeface="Calibri" pitchFamily="34" charset="-120"/>
              </a:rPr>
              <a:t>via Prisma</a:t>
            </a:r>
            <a:endParaRPr lang="en-US" sz="1100" dirty="0"/>
          </a:p>
        </p:txBody>
      </p:sp>
      <p:sp>
        <p:nvSpPr>
          <p:cNvPr id="19" name="Shape 17"/>
          <p:cNvSpPr/>
          <p:nvPr/>
        </p:nvSpPr>
        <p:spPr>
          <a:xfrm>
            <a:off x="6255868" y="3886200"/>
            <a:ext cx="2286000" cy="822960"/>
          </a:xfrm>
          <a:prstGeom prst="roundRect">
            <a:avLst>
              <a:gd name="adj" fmla="val 8889"/>
            </a:avLst>
          </a:prstGeom>
          <a:solidFill>
            <a:srgbClr val="F5F8F6"/>
          </a:solidFill>
          <a:ln/>
          <a:effectLst>
            <a:outerShdw sx="100000" sy="100000" kx="0" ky="0" algn="bl" rotWithShape="0" blurRad="76200" dist="25400" dir="5400000">
              <a:srgbClr val="9AA8A2">
                <a:alpha val="35000"/>
              </a:srgbClr>
            </a:outerShdw>
          </a:effectLst>
        </p:spPr>
      </p:sp>
      <p:sp>
        <p:nvSpPr>
          <p:cNvPr id="20" name="Text 18"/>
          <p:cNvSpPr/>
          <p:nvPr/>
        </p:nvSpPr>
        <p:spPr>
          <a:xfrm>
            <a:off x="6255868" y="3886200"/>
            <a:ext cx="2286000" cy="411480"/>
          </a:xfrm>
          <a:prstGeom prst="rect">
            <a:avLst/>
          </a:prstGeom>
          <a:noFill/>
          <a:ln/>
        </p:spPr>
        <p:txBody>
          <a:bodyPr wrap="square" lIns="0" tIns="0" rIns="0" bIns="0" rtlCol="0" anchor="ctr"/>
          <a:lstStyle/>
          <a:p>
            <a:pPr algn="ctr" indent="0" marL="0">
              <a:buNone/>
            </a:pPr>
            <a:r>
              <a:rPr lang="en-US" sz="1200" b="1" dirty="0">
                <a:solidFill>
                  <a:srgbClr val="10201A"/>
                </a:solidFill>
                <a:latin typeface="Calibri" pitchFamily="34" charset="0"/>
                <a:ea typeface="Calibri" pitchFamily="34" charset="-122"/>
                <a:cs typeface="Calibri" pitchFamily="34" charset="-120"/>
              </a:rPr>
              <a:t>Provider adapters</a:t>
            </a:r>
            <a:endParaRPr lang="en-US" sz="1200" dirty="0"/>
          </a:p>
        </p:txBody>
      </p:sp>
      <p:sp>
        <p:nvSpPr>
          <p:cNvPr id="21" name="Text 19"/>
          <p:cNvSpPr/>
          <p:nvPr/>
        </p:nvSpPr>
        <p:spPr>
          <a:xfrm>
            <a:off x="6255868" y="4251960"/>
            <a:ext cx="2286000" cy="365760"/>
          </a:xfrm>
          <a:prstGeom prst="rect">
            <a:avLst/>
          </a:prstGeom>
          <a:noFill/>
          <a:ln/>
        </p:spPr>
        <p:txBody>
          <a:bodyPr wrap="square" lIns="0" tIns="0" rIns="0" bIns="0" rtlCol="0" anchor="ctr"/>
          <a:lstStyle/>
          <a:p>
            <a:pPr algn="ctr" indent="0" marL="0">
              <a:buNone/>
            </a:pPr>
            <a:r>
              <a:rPr lang="en-US" sz="1000" i="1" dirty="0">
                <a:solidFill>
                  <a:srgbClr val="6B7A74"/>
                </a:solidFill>
                <a:latin typeface="Calibri" pitchFamily="34" charset="0"/>
                <a:ea typeface="Calibri" pitchFamily="34" charset="-122"/>
                <a:cs typeface="Calibri" pitchFamily="34" charset="-120"/>
              </a:rPr>
              <a:t>(human-triggered lookups only)</a:t>
            </a:r>
            <a:endParaRPr lang="en-US" sz="1000" dirty="0"/>
          </a:p>
        </p:txBody>
      </p:sp>
      <p:sp>
        <p:nvSpPr>
          <p:cNvPr id="22" name="Text 20"/>
          <p:cNvSpPr/>
          <p:nvPr/>
        </p:nvSpPr>
        <p:spPr>
          <a:xfrm>
            <a:off x="7215988" y="3383280"/>
            <a:ext cx="365760" cy="502920"/>
          </a:xfrm>
          <a:prstGeom prst="rect">
            <a:avLst/>
          </a:prstGeom>
          <a:noFill/>
          <a:ln/>
        </p:spPr>
        <p:txBody>
          <a:bodyPr wrap="square" lIns="0" tIns="0" rIns="0" bIns="0" rtlCol="0" anchor="ctr"/>
          <a:lstStyle/>
          <a:p>
            <a:pPr algn="ctr" indent="0" marL="0">
              <a:buNone/>
            </a:pPr>
            <a:r>
              <a:rPr lang="en-US" sz="1600" b="1" dirty="0">
                <a:solidFill>
                  <a:srgbClr val="1E9E5D"/>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548640" y="5394960"/>
            <a:ext cx="11094415" cy="457200"/>
          </a:xfrm>
          <a:prstGeom prst="rect">
            <a:avLst/>
          </a:prstGeom>
          <a:noFill/>
          <a:ln/>
        </p:spPr>
        <p:txBody>
          <a:bodyPr wrap="square" lIns="0" tIns="0" rIns="0" bIns="0" rtlCol="0" anchor="ctr"/>
          <a:lstStyle/>
          <a:p>
            <a:pPr algn="ctr" indent="0" marL="0">
              <a:buNone/>
            </a:pPr>
            <a:r>
              <a:rPr lang="en-US" sz="1400" dirty="0">
                <a:solidFill>
                  <a:srgbClr val="2B3D36"/>
                </a:solidFill>
                <a:latin typeface="Calibri" pitchFamily="34" charset="0"/>
                <a:ea typeface="Calibri" pitchFamily="34" charset="-122"/>
                <a:cs typeface="Calibri" pitchFamily="34" charset="-120"/>
              </a:rPr>
              <a:t>Every provider: its own table, its own closed error vocabulary, one shared quota.</a:t>
            </a:r>
            <a:endParaRPr lang="en-US" sz="1400" dirty="0"/>
          </a:p>
        </p:txBody>
      </p:sp>
      <p:sp>
        <p:nvSpPr>
          <p:cNvPr id="24" name="Text 22"/>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25" name="Text 23"/>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WHAT A REVIEWER WILL SEE IN THE DEMO</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Five moments, in order</a:t>
            </a:r>
            <a:endParaRPr lang="en-US" sz="2800" dirty="0"/>
          </a:p>
        </p:txBody>
      </p:sp>
      <p:sp>
        <p:nvSpPr>
          <p:cNvPr id="4" name="Shape 2"/>
          <p:cNvSpPr/>
          <p:nvPr/>
        </p:nvSpPr>
        <p:spPr>
          <a:xfrm>
            <a:off x="548640" y="1874520"/>
            <a:ext cx="502920" cy="502920"/>
          </a:xfrm>
          <a:prstGeom prst="ellipse">
            <a:avLst/>
          </a:prstGeom>
          <a:solidFill>
            <a:srgbClr val="14251E"/>
          </a:solidFill>
          <a:ln/>
        </p:spPr>
      </p:sp>
      <p:sp>
        <p:nvSpPr>
          <p:cNvPr id="5" name="Text 3"/>
          <p:cNvSpPr/>
          <p:nvPr/>
        </p:nvSpPr>
        <p:spPr>
          <a:xfrm>
            <a:off x="548640" y="1874520"/>
            <a:ext cx="502920" cy="502920"/>
          </a:xfrm>
          <a:prstGeom prst="rect">
            <a:avLst/>
          </a:prstGeom>
          <a:noFill/>
          <a:ln/>
        </p:spPr>
        <p:txBody>
          <a:bodyPr wrap="square" lIns="0" tIns="0" rIns="0" bIns="0" rtlCol="0" anchor="ctr"/>
          <a:lstStyle/>
          <a:p>
            <a:pPr algn="ctr" indent="0" marL="0">
              <a:buNone/>
            </a:pPr>
            <a:r>
              <a:rPr lang="en-US" sz="1650" b="1" dirty="0">
                <a:solidFill>
                  <a:srgbClr val="35C477"/>
                </a:solidFill>
                <a:latin typeface="Cambria" pitchFamily="34" charset="0"/>
                <a:ea typeface="Cambria" pitchFamily="34" charset="-122"/>
                <a:cs typeface="Cambria" pitchFamily="34" charset="-120"/>
              </a:rPr>
              <a:t>1</a:t>
            </a:r>
            <a:endParaRPr lang="en-US" sz="1650" dirty="0"/>
          </a:p>
        </p:txBody>
      </p:sp>
      <p:sp>
        <p:nvSpPr>
          <p:cNvPr id="6" name="Text 4"/>
          <p:cNvSpPr/>
          <p:nvPr/>
        </p:nvSpPr>
        <p:spPr>
          <a:xfrm>
            <a:off x="1280160" y="1828800"/>
            <a:ext cx="10362895" cy="594360"/>
          </a:xfrm>
          <a:prstGeom prst="rect">
            <a:avLst/>
          </a:prstGeom>
          <a:noFill/>
          <a:ln/>
        </p:spPr>
        <p:txBody>
          <a:bodyPr wrap="square" lIns="0" tIns="0" rIns="0" bIns="0" rtlCol="0" anchor="ctr"/>
          <a:lstStyle/>
          <a:p>
            <a:pPr indent="0" marL="0">
              <a:buNone/>
            </a:pPr>
            <a:r>
              <a:rPr lang="en-US" sz="1600" dirty="0">
                <a:solidFill>
                  <a:srgbClr val="2B3D36"/>
                </a:solidFill>
                <a:latin typeface="Calibri" pitchFamily="34" charset="0"/>
                <a:ea typeface="Calibri" pitchFamily="34" charset="-122"/>
                <a:cs typeface="Calibri" pitchFamily="34" charset="-120"/>
              </a:rPr>
              <a:t>Dashboard — every figure sourced and timestamped</a:t>
            </a:r>
            <a:endParaRPr lang="en-US" sz="1600" dirty="0"/>
          </a:p>
        </p:txBody>
      </p:sp>
      <p:sp>
        <p:nvSpPr>
          <p:cNvPr id="7" name="Shape 5"/>
          <p:cNvSpPr/>
          <p:nvPr/>
        </p:nvSpPr>
        <p:spPr>
          <a:xfrm>
            <a:off x="548640" y="2651760"/>
            <a:ext cx="502920" cy="502920"/>
          </a:xfrm>
          <a:prstGeom prst="ellipse">
            <a:avLst/>
          </a:prstGeom>
          <a:solidFill>
            <a:srgbClr val="14251E"/>
          </a:solidFill>
          <a:ln/>
        </p:spPr>
      </p:sp>
      <p:sp>
        <p:nvSpPr>
          <p:cNvPr id="8" name="Text 6"/>
          <p:cNvSpPr/>
          <p:nvPr/>
        </p:nvSpPr>
        <p:spPr>
          <a:xfrm>
            <a:off x="548640" y="2651760"/>
            <a:ext cx="502920" cy="502920"/>
          </a:xfrm>
          <a:prstGeom prst="rect">
            <a:avLst/>
          </a:prstGeom>
          <a:noFill/>
          <a:ln/>
        </p:spPr>
        <p:txBody>
          <a:bodyPr wrap="square" lIns="0" tIns="0" rIns="0" bIns="0" rtlCol="0" anchor="ctr"/>
          <a:lstStyle/>
          <a:p>
            <a:pPr algn="ctr" indent="0" marL="0">
              <a:buNone/>
            </a:pPr>
            <a:r>
              <a:rPr lang="en-US" sz="1650" b="1" dirty="0">
                <a:solidFill>
                  <a:srgbClr val="35C477"/>
                </a:solidFill>
                <a:latin typeface="Cambria" pitchFamily="34" charset="0"/>
                <a:ea typeface="Cambria" pitchFamily="34" charset="-122"/>
                <a:cs typeface="Cambria" pitchFamily="34" charset="-120"/>
              </a:rPr>
              <a:t>2</a:t>
            </a:r>
            <a:endParaRPr lang="en-US" sz="1650" dirty="0"/>
          </a:p>
        </p:txBody>
      </p:sp>
      <p:sp>
        <p:nvSpPr>
          <p:cNvPr id="9" name="Text 7"/>
          <p:cNvSpPr/>
          <p:nvPr/>
        </p:nvSpPr>
        <p:spPr>
          <a:xfrm>
            <a:off x="1280160" y="2606040"/>
            <a:ext cx="10362895" cy="594360"/>
          </a:xfrm>
          <a:prstGeom prst="rect">
            <a:avLst/>
          </a:prstGeom>
          <a:noFill/>
          <a:ln/>
        </p:spPr>
        <p:txBody>
          <a:bodyPr wrap="square" lIns="0" tIns="0" rIns="0" bIns="0" rtlCol="0" anchor="ctr"/>
          <a:lstStyle/>
          <a:p>
            <a:pPr indent="0" marL="0">
              <a:buNone/>
            </a:pPr>
            <a:r>
              <a:rPr lang="en-US" sz="1600" dirty="0">
                <a:solidFill>
                  <a:srgbClr val="2B3D36"/>
                </a:solidFill>
                <a:latin typeface="Calibri" pitchFamily="34" charset="0"/>
                <a:ea typeface="Calibri" pitchFamily="34" charset="-122"/>
                <a:cs typeface="Calibri" pitchFamily="34" charset="-120"/>
              </a:rPr>
              <a:t>A Finding's full risk explanation</a:t>
            </a:r>
            <a:endParaRPr lang="en-US" sz="1600" dirty="0"/>
          </a:p>
        </p:txBody>
      </p:sp>
      <p:sp>
        <p:nvSpPr>
          <p:cNvPr id="10" name="Shape 8"/>
          <p:cNvSpPr/>
          <p:nvPr/>
        </p:nvSpPr>
        <p:spPr>
          <a:xfrm>
            <a:off x="548640" y="3429000"/>
            <a:ext cx="502920" cy="502920"/>
          </a:xfrm>
          <a:prstGeom prst="ellipse">
            <a:avLst/>
          </a:prstGeom>
          <a:solidFill>
            <a:srgbClr val="14251E"/>
          </a:solidFill>
          <a:ln/>
        </p:spPr>
      </p:sp>
      <p:sp>
        <p:nvSpPr>
          <p:cNvPr id="11" name="Text 9"/>
          <p:cNvSpPr/>
          <p:nvPr/>
        </p:nvSpPr>
        <p:spPr>
          <a:xfrm>
            <a:off x="548640" y="3429000"/>
            <a:ext cx="502920" cy="502920"/>
          </a:xfrm>
          <a:prstGeom prst="rect">
            <a:avLst/>
          </a:prstGeom>
          <a:noFill/>
          <a:ln/>
        </p:spPr>
        <p:txBody>
          <a:bodyPr wrap="square" lIns="0" tIns="0" rIns="0" bIns="0" rtlCol="0" anchor="ctr"/>
          <a:lstStyle/>
          <a:p>
            <a:pPr algn="ctr" indent="0" marL="0">
              <a:buNone/>
            </a:pPr>
            <a:r>
              <a:rPr lang="en-US" sz="1650" b="1" dirty="0">
                <a:solidFill>
                  <a:srgbClr val="35C477"/>
                </a:solidFill>
                <a:latin typeface="Cambria" pitchFamily="34" charset="0"/>
                <a:ea typeface="Cambria" pitchFamily="34" charset="-122"/>
                <a:cs typeface="Cambria" pitchFamily="34" charset="-120"/>
              </a:rPr>
              <a:t>3</a:t>
            </a:r>
            <a:endParaRPr lang="en-US" sz="1650" dirty="0"/>
          </a:p>
        </p:txBody>
      </p:sp>
      <p:sp>
        <p:nvSpPr>
          <p:cNvPr id="12" name="Text 10"/>
          <p:cNvSpPr/>
          <p:nvPr/>
        </p:nvSpPr>
        <p:spPr>
          <a:xfrm>
            <a:off x="1280160" y="3383280"/>
            <a:ext cx="10362895" cy="594360"/>
          </a:xfrm>
          <a:prstGeom prst="rect">
            <a:avLst/>
          </a:prstGeom>
          <a:noFill/>
          <a:ln/>
        </p:spPr>
        <p:txBody>
          <a:bodyPr wrap="square" lIns="0" tIns="0" rIns="0" bIns="0" rtlCol="0" anchor="ctr"/>
          <a:lstStyle/>
          <a:p>
            <a:pPr indent="0" marL="0">
              <a:buNone/>
            </a:pPr>
            <a:r>
              <a:rPr lang="en-US" sz="1600" dirty="0">
                <a:solidFill>
                  <a:srgbClr val="2B3D36"/>
                </a:solidFill>
                <a:latin typeface="Calibri" pitchFamily="34" charset="0"/>
                <a:ea typeface="Calibri" pitchFamily="34" charset="-122"/>
                <a:cs typeface="Calibri" pitchFamily="34" charset="-120"/>
              </a:rPr>
              <a:t>A case closure refused to its own requester, approved by a reviewer</a:t>
            </a:r>
            <a:endParaRPr lang="en-US" sz="1600" dirty="0"/>
          </a:p>
        </p:txBody>
      </p:sp>
      <p:sp>
        <p:nvSpPr>
          <p:cNvPr id="13" name="Shape 11"/>
          <p:cNvSpPr/>
          <p:nvPr/>
        </p:nvSpPr>
        <p:spPr>
          <a:xfrm>
            <a:off x="548640" y="4206240"/>
            <a:ext cx="502920" cy="502920"/>
          </a:xfrm>
          <a:prstGeom prst="ellipse">
            <a:avLst/>
          </a:prstGeom>
          <a:solidFill>
            <a:srgbClr val="14251E"/>
          </a:solidFill>
          <a:ln/>
        </p:spPr>
      </p:sp>
      <p:sp>
        <p:nvSpPr>
          <p:cNvPr id="14" name="Text 12"/>
          <p:cNvSpPr/>
          <p:nvPr/>
        </p:nvSpPr>
        <p:spPr>
          <a:xfrm>
            <a:off x="548640" y="4206240"/>
            <a:ext cx="502920" cy="502920"/>
          </a:xfrm>
          <a:prstGeom prst="rect">
            <a:avLst/>
          </a:prstGeom>
          <a:noFill/>
          <a:ln/>
        </p:spPr>
        <p:txBody>
          <a:bodyPr wrap="square" lIns="0" tIns="0" rIns="0" bIns="0" rtlCol="0" anchor="ctr"/>
          <a:lstStyle/>
          <a:p>
            <a:pPr algn="ctr" indent="0" marL="0">
              <a:buNone/>
            </a:pPr>
            <a:r>
              <a:rPr lang="en-US" sz="1650" b="1" dirty="0">
                <a:solidFill>
                  <a:srgbClr val="35C477"/>
                </a:solidFill>
                <a:latin typeface="Cambria" pitchFamily="34" charset="0"/>
                <a:ea typeface="Cambria" pitchFamily="34" charset="-122"/>
                <a:cs typeface="Cambria" pitchFamily="34" charset="-120"/>
              </a:rPr>
              <a:t>4</a:t>
            </a:r>
            <a:endParaRPr lang="en-US" sz="1650" dirty="0"/>
          </a:p>
        </p:txBody>
      </p:sp>
      <p:sp>
        <p:nvSpPr>
          <p:cNvPr id="15" name="Text 13"/>
          <p:cNvSpPr/>
          <p:nvPr/>
        </p:nvSpPr>
        <p:spPr>
          <a:xfrm>
            <a:off x="1280160" y="4160520"/>
            <a:ext cx="10362895" cy="594360"/>
          </a:xfrm>
          <a:prstGeom prst="rect">
            <a:avLst/>
          </a:prstGeom>
          <a:noFill/>
          <a:ln/>
        </p:spPr>
        <p:txBody>
          <a:bodyPr wrap="square" lIns="0" tIns="0" rIns="0" bIns="0" rtlCol="0" anchor="ctr"/>
          <a:lstStyle/>
          <a:p>
            <a:pPr indent="0" marL="0">
              <a:buNone/>
            </a:pPr>
            <a:r>
              <a:rPr lang="en-US" sz="1600" dirty="0">
                <a:solidFill>
                  <a:srgbClr val="2B3D36"/>
                </a:solidFill>
                <a:latin typeface="Calibri" pitchFamily="34" charset="0"/>
                <a:ea typeface="Calibri" pitchFamily="34" charset="-122"/>
                <a:cs typeface="Calibri" pitchFamily="34" charset="-120"/>
              </a:rPr>
              <a:t>A weak ATT&amp;CK justification refused</a:t>
            </a:r>
            <a:endParaRPr lang="en-US" sz="1600" dirty="0"/>
          </a:p>
        </p:txBody>
      </p:sp>
      <p:sp>
        <p:nvSpPr>
          <p:cNvPr id="16" name="Shape 14"/>
          <p:cNvSpPr/>
          <p:nvPr/>
        </p:nvSpPr>
        <p:spPr>
          <a:xfrm>
            <a:off x="548640" y="4983480"/>
            <a:ext cx="502920" cy="502920"/>
          </a:xfrm>
          <a:prstGeom prst="ellipse">
            <a:avLst/>
          </a:prstGeom>
          <a:solidFill>
            <a:srgbClr val="14251E"/>
          </a:solidFill>
          <a:ln/>
        </p:spPr>
      </p:sp>
      <p:sp>
        <p:nvSpPr>
          <p:cNvPr id="17" name="Text 15"/>
          <p:cNvSpPr/>
          <p:nvPr/>
        </p:nvSpPr>
        <p:spPr>
          <a:xfrm>
            <a:off x="548640" y="4983480"/>
            <a:ext cx="502920" cy="502920"/>
          </a:xfrm>
          <a:prstGeom prst="rect">
            <a:avLst/>
          </a:prstGeom>
          <a:noFill/>
          <a:ln/>
        </p:spPr>
        <p:txBody>
          <a:bodyPr wrap="square" lIns="0" tIns="0" rIns="0" bIns="0" rtlCol="0" anchor="ctr"/>
          <a:lstStyle/>
          <a:p>
            <a:pPr algn="ctr" indent="0" marL="0">
              <a:buNone/>
            </a:pPr>
            <a:r>
              <a:rPr lang="en-US" sz="1650" b="1" dirty="0">
                <a:solidFill>
                  <a:srgbClr val="35C477"/>
                </a:solidFill>
                <a:latin typeface="Cambria" pitchFamily="34" charset="0"/>
                <a:ea typeface="Cambria" pitchFamily="34" charset="-122"/>
                <a:cs typeface="Cambria" pitchFamily="34" charset="-120"/>
              </a:rPr>
              <a:t>5</a:t>
            </a:r>
            <a:endParaRPr lang="en-US" sz="1650" dirty="0"/>
          </a:p>
        </p:txBody>
      </p:sp>
      <p:sp>
        <p:nvSpPr>
          <p:cNvPr id="18" name="Text 16"/>
          <p:cNvSpPr/>
          <p:nvPr/>
        </p:nvSpPr>
        <p:spPr>
          <a:xfrm>
            <a:off x="1280160" y="4937760"/>
            <a:ext cx="10362895" cy="594360"/>
          </a:xfrm>
          <a:prstGeom prst="rect">
            <a:avLst/>
          </a:prstGeom>
          <a:noFill/>
          <a:ln/>
        </p:spPr>
        <p:txBody>
          <a:bodyPr wrap="square" lIns="0" tIns="0" rIns="0" bIns="0" rtlCol="0" anchor="ctr"/>
          <a:lstStyle/>
          <a:p>
            <a:pPr indent="0" marL="0">
              <a:buNone/>
            </a:pPr>
            <a:r>
              <a:rPr lang="en-US" sz="1600" dirty="0">
                <a:solidFill>
                  <a:srgbClr val="2B3D36"/>
                </a:solidFill>
                <a:latin typeface="Calibri" pitchFamily="34" charset="0"/>
                <a:ea typeface="Calibri" pitchFamily="34" charset="-122"/>
                <a:cs typeface="Calibri" pitchFamily="34" charset="-120"/>
              </a:rPr>
              <a:t>Notification export vs. delivery, tracked separately</a:t>
            </a:r>
            <a:endParaRPr lang="en-US" sz="1600" dirty="0"/>
          </a:p>
        </p:txBody>
      </p:sp>
      <p:sp>
        <p:nvSpPr>
          <p:cNvPr id="19" name="Text 17"/>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20" name="Text 18"/>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1E9E5D"/>
                </a:solidFill>
                <a:latin typeface="Calibri" pitchFamily="34" charset="0"/>
                <a:ea typeface="Calibri" pitchFamily="34" charset="-122"/>
                <a:cs typeface="Calibri" pitchFamily="34" charset="-120"/>
              </a:rPr>
              <a:t>VALIDATION PROOF</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The bar this project holds itself to</a:t>
            </a:r>
            <a:endParaRPr lang="en-US" sz="2800" dirty="0"/>
          </a:p>
        </p:txBody>
      </p:sp>
      <p:sp>
        <p:nvSpPr>
          <p:cNvPr id="4" name="Shape 2"/>
          <p:cNvSpPr/>
          <p:nvPr/>
        </p:nvSpPr>
        <p:spPr>
          <a:xfrm>
            <a:off x="548640" y="1920240"/>
            <a:ext cx="2567864" cy="2377440"/>
          </a:xfrm>
          <a:prstGeom prst="roundRect">
            <a:avLst>
              <a:gd name="adj" fmla="val 3077"/>
            </a:avLst>
          </a:prstGeom>
          <a:solidFill>
            <a:srgbClr val="EEF3F0"/>
          </a:solidFill>
          <a:ln/>
          <a:effectLst>
            <a:outerShdw sx="100000" sy="100000" kx="0" ky="0" algn="bl" rotWithShape="0" blurRad="76200" dist="25400" dir="5400000">
              <a:srgbClr val="9AA8A2">
                <a:alpha val="35000"/>
              </a:srgbClr>
            </a:outerShdw>
          </a:effectLst>
        </p:spPr>
      </p:sp>
      <p:sp>
        <p:nvSpPr>
          <p:cNvPr id="5" name="Text 3"/>
          <p:cNvSpPr/>
          <p:nvPr/>
        </p:nvSpPr>
        <p:spPr>
          <a:xfrm>
            <a:off x="548640" y="2148840"/>
            <a:ext cx="2567864" cy="1005840"/>
          </a:xfrm>
          <a:prstGeom prst="rect">
            <a:avLst/>
          </a:prstGeom>
          <a:noFill/>
          <a:ln/>
        </p:spPr>
        <p:txBody>
          <a:bodyPr wrap="square" lIns="0" tIns="0" rIns="0" bIns="0" rtlCol="0" anchor="ctr"/>
          <a:lstStyle/>
          <a:p>
            <a:pPr algn="ctr" indent="0" marL="0">
              <a:buNone/>
            </a:pPr>
            <a:r>
              <a:rPr lang="en-US" sz="5600" b="1" dirty="0">
                <a:solidFill>
                  <a:srgbClr val="1E9E5D"/>
                </a:solidFill>
                <a:latin typeface="Cambria" pitchFamily="34" charset="0"/>
                <a:ea typeface="Cambria" pitchFamily="34" charset="-122"/>
                <a:cs typeface="Cambria" pitchFamily="34" charset="-120"/>
              </a:rPr>
              <a:t>23</a:t>
            </a:r>
            <a:endParaRPr lang="en-US" sz="5600" dirty="0"/>
          </a:p>
        </p:txBody>
      </p:sp>
      <p:sp>
        <p:nvSpPr>
          <p:cNvPr id="6" name="Text 4"/>
          <p:cNvSpPr/>
          <p:nvPr/>
        </p:nvSpPr>
        <p:spPr>
          <a:xfrm>
            <a:off x="731520" y="3200400"/>
            <a:ext cx="2202104" cy="914400"/>
          </a:xfrm>
          <a:prstGeom prst="rect">
            <a:avLst/>
          </a:prstGeom>
          <a:noFill/>
          <a:ln/>
        </p:spPr>
        <p:txBody>
          <a:bodyPr wrap="square" lIns="0" tIns="0" rIns="0" bIns="0" rtlCol="0" anchor="ctr"/>
          <a:lstStyle/>
          <a:p>
            <a:pPr algn="ctr" indent="0" marL="0">
              <a:buNone/>
            </a:pPr>
            <a:r>
              <a:rPr lang="en-US" sz="1300" dirty="0">
                <a:solidFill>
                  <a:srgbClr val="2B3D36"/>
                </a:solidFill>
                <a:latin typeface="Calibri" pitchFamily="34" charset="0"/>
                <a:ea typeface="Calibri" pitchFamily="34" charset="-122"/>
                <a:cs typeface="Calibri" pitchFamily="34" charset="-120"/>
              </a:rPr>
              <a:t>additive-only</a:t>
            </a:r>
            <a:endParaRPr lang="en-US" sz="1300" dirty="0"/>
          </a:p>
          <a:p>
            <a:pPr algn="ctr" indent="0" marL="0">
              <a:buNone/>
            </a:pPr>
            <a:r>
              <a:rPr lang="en-US" sz="1300" dirty="0">
                <a:solidFill>
                  <a:srgbClr val="2B3D36"/>
                </a:solidFill>
                <a:latin typeface="Calibri" pitchFamily="34" charset="0"/>
                <a:ea typeface="Calibri" pitchFamily="34" charset="-122"/>
                <a:cs typeface="Calibri" pitchFamily="34" charset="-120"/>
              </a:rPr>
              <a:t>migrations</a:t>
            </a:r>
            <a:endParaRPr lang="en-US" sz="1300" dirty="0"/>
          </a:p>
        </p:txBody>
      </p:sp>
      <p:sp>
        <p:nvSpPr>
          <p:cNvPr id="7" name="Shape 5"/>
          <p:cNvSpPr/>
          <p:nvPr/>
        </p:nvSpPr>
        <p:spPr>
          <a:xfrm>
            <a:off x="3390824" y="1920240"/>
            <a:ext cx="2567864" cy="2377440"/>
          </a:xfrm>
          <a:prstGeom prst="roundRect">
            <a:avLst>
              <a:gd name="adj" fmla="val 3077"/>
            </a:avLst>
          </a:prstGeom>
          <a:solidFill>
            <a:srgbClr val="EEF3F0"/>
          </a:solidFill>
          <a:ln/>
          <a:effectLst>
            <a:outerShdw sx="100000" sy="100000" kx="0" ky="0" algn="bl" rotWithShape="0" blurRad="76200" dist="25400" dir="5400000">
              <a:srgbClr val="9AA8A2">
                <a:alpha val="35000"/>
              </a:srgbClr>
            </a:outerShdw>
          </a:effectLst>
        </p:spPr>
      </p:sp>
      <p:sp>
        <p:nvSpPr>
          <p:cNvPr id="8" name="Text 6"/>
          <p:cNvSpPr/>
          <p:nvPr/>
        </p:nvSpPr>
        <p:spPr>
          <a:xfrm>
            <a:off x="3390824" y="2148840"/>
            <a:ext cx="2567864" cy="1005840"/>
          </a:xfrm>
          <a:prstGeom prst="rect">
            <a:avLst/>
          </a:prstGeom>
          <a:noFill/>
          <a:ln/>
        </p:spPr>
        <p:txBody>
          <a:bodyPr wrap="square" lIns="0" tIns="0" rIns="0" bIns="0" rtlCol="0" anchor="ctr"/>
          <a:lstStyle/>
          <a:p>
            <a:pPr algn="ctr" indent="0" marL="0">
              <a:buNone/>
            </a:pPr>
            <a:r>
              <a:rPr lang="en-US" sz="5600" b="1" dirty="0">
                <a:solidFill>
                  <a:srgbClr val="1E9E5D"/>
                </a:solidFill>
                <a:latin typeface="Cambria" pitchFamily="34" charset="0"/>
                <a:ea typeface="Cambria" pitchFamily="34" charset="-122"/>
                <a:cs typeface="Cambria" pitchFamily="34" charset="-120"/>
              </a:rPr>
              <a:t>145</a:t>
            </a:r>
            <a:endParaRPr lang="en-US" sz="5600" dirty="0"/>
          </a:p>
        </p:txBody>
      </p:sp>
      <p:sp>
        <p:nvSpPr>
          <p:cNvPr id="9" name="Text 7"/>
          <p:cNvSpPr/>
          <p:nvPr/>
        </p:nvSpPr>
        <p:spPr>
          <a:xfrm>
            <a:off x="3573704" y="3200400"/>
            <a:ext cx="2202104" cy="914400"/>
          </a:xfrm>
          <a:prstGeom prst="rect">
            <a:avLst/>
          </a:prstGeom>
          <a:noFill/>
          <a:ln/>
        </p:spPr>
        <p:txBody>
          <a:bodyPr wrap="square" lIns="0" tIns="0" rIns="0" bIns="0" rtlCol="0" anchor="ctr"/>
          <a:lstStyle/>
          <a:p>
            <a:pPr algn="ctr" indent="0" marL="0">
              <a:buNone/>
            </a:pPr>
            <a:r>
              <a:rPr lang="en-US" sz="1300" dirty="0">
                <a:solidFill>
                  <a:srgbClr val="2B3D36"/>
                </a:solidFill>
                <a:latin typeface="Calibri" pitchFamily="34" charset="0"/>
                <a:ea typeface="Calibri" pitchFamily="34" charset="-122"/>
                <a:cs typeface="Calibri" pitchFamily="34" charset="-120"/>
              </a:rPr>
              <a:t>backend test</a:t>
            </a:r>
            <a:endParaRPr lang="en-US" sz="1300" dirty="0"/>
          </a:p>
          <a:p>
            <a:pPr algn="ctr" indent="0" marL="0">
              <a:buNone/>
            </a:pPr>
            <a:r>
              <a:rPr lang="en-US" sz="1300" dirty="0">
                <a:solidFill>
                  <a:srgbClr val="2B3D36"/>
                </a:solidFill>
                <a:latin typeface="Calibri" pitchFamily="34" charset="0"/>
                <a:ea typeface="Calibri" pitchFamily="34" charset="-122"/>
                <a:cs typeface="Calibri" pitchFamily="34" charset="-120"/>
              </a:rPr>
              <a:t>files</a:t>
            </a:r>
            <a:endParaRPr lang="en-US" sz="1300" dirty="0"/>
          </a:p>
        </p:txBody>
      </p:sp>
      <p:sp>
        <p:nvSpPr>
          <p:cNvPr id="10" name="Shape 8"/>
          <p:cNvSpPr/>
          <p:nvPr/>
        </p:nvSpPr>
        <p:spPr>
          <a:xfrm>
            <a:off x="6233008" y="1920240"/>
            <a:ext cx="2567864" cy="2377440"/>
          </a:xfrm>
          <a:prstGeom prst="roundRect">
            <a:avLst>
              <a:gd name="adj" fmla="val 3077"/>
            </a:avLst>
          </a:prstGeom>
          <a:solidFill>
            <a:srgbClr val="EEF3F0"/>
          </a:solidFill>
          <a:ln/>
          <a:effectLst>
            <a:outerShdw sx="100000" sy="100000" kx="0" ky="0" algn="bl" rotWithShape="0" blurRad="76200" dist="25400" dir="5400000">
              <a:srgbClr val="9AA8A2">
                <a:alpha val="35000"/>
              </a:srgbClr>
            </a:outerShdw>
          </a:effectLst>
        </p:spPr>
      </p:sp>
      <p:sp>
        <p:nvSpPr>
          <p:cNvPr id="11" name="Text 9"/>
          <p:cNvSpPr/>
          <p:nvPr/>
        </p:nvSpPr>
        <p:spPr>
          <a:xfrm>
            <a:off x="6233008" y="2148840"/>
            <a:ext cx="2567864" cy="1005840"/>
          </a:xfrm>
          <a:prstGeom prst="rect">
            <a:avLst/>
          </a:prstGeom>
          <a:noFill/>
          <a:ln/>
        </p:spPr>
        <p:txBody>
          <a:bodyPr wrap="square" lIns="0" tIns="0" rIns="0" bIns="0" rtlCol="0" anchor="ctr"/>
          <a:lstStyle/>
          <a:p>
            <a:pPr algn="ctr" indent="0" marL="0">
              <a:buNone/>
            </a:pPr>
            <a:r>
              <a:rPr lang="en-US" sz="5600" b="1" dirty="0">
                <a:solidFill>
                  <a:srgbClr val="1E9E5D"/>
                </a:solidFill>
                <a:latin typeface="Cambria" pitchFamily="34" charset="0"/>
                <a:ea typeface="Cambria" pitchFamily="34" charset="-122"/>
                <a:cs typeface="Cambria" pitchFamily="34" charset="-120"/>
              </a:rPr>
              <a:t>9</a:t>
            </a:r>
            <a:endParaRPr lang="en-US" sz="5600" dirty="0"/>
          </a:p>
        </p:txBody>
      </p:sp>
      <p:sp>
        <p:nvSpPr>
          <p:cNvPr id="12" name="Text 10"/>
          <p:cNvSpPr/>
          <p:nvPr/>
        </p:nvSpPr>
        <p:spPr>
          <a:xfrm>
            <a:off x="6415888" y="3200400"/>
            <a:ext cx="2202104" cy="914400"/>
          </a:xfrm>
          <a:prstGeom prst="rect">
            <a:avLst/>
          </a:prstGeom>
          <a:noFill/>
          <a:ln/>
        </p:spPr>
        <p:txBody>
          <a:bodyPr wrap="square" lIns="0" tIns="0" rIns="0" bIns="0" rtlCol="0" anchor="ctr"/>
          <a:lstStyle/>
          <a:p>
            <a:pPr algn="ctr" indent="0" marL="0">
              <a:buNone/>
            </a:pPr>
            <a:r>
              <a:rPr lang="en-US" sz="1300" dirty="0">
                <a:solidFill>
                  <a:srgbClr val="2B3D36"/>
                </a:solidFill>
                <a:latin typeface="Calibri" pitchFamily="34" charset="0"/>
                <a:ea typeface="Calibri" pitchFamily="34" charset="-122"/>
                <a:cs typeface="Calibri" pitchFamily="34" charset="-120"/>
              </a:rPr>
              <a:t>evaluator gates vs.</a:t>
            </a:r>
            <a:endParaRPr lang="en-US" sz="1300" dirty="0"/>
          </a:p>
          <a:p>
            <a:pPr algn="ctr" indent="0" marL="0">
              <a:buNone/>
            </a:pPr>
            <a:r>
              <a:rPr lang="en-US" sz="1300" dirty="0">
                <a:solidFill>
                  <a:srgbClr val="2B3D36"/>
                </a:solidFill>
                <a:latin typeface="Calibri" pitchFamily="34" charset="0"/>
                <a:ea typeface="Calibri" pitchFamily="34" charset="-122"/>
                <a:cs typeface="Calibri" pitchFamily="34" charset="-120"/>
              </a:rPr>
              <a:t>hand-authored truth</a:t>
            </a:r>
            <a:endParaRPr lang="en-US" sz="1300" dirty="0"/>
          </a:p>
        </p:txBody>
      </p:sp>
      <p:sp>
        <p:nvSpPr>
          <p:cNvPr id="13" name="Shape 11"/>
          <p:cNvSpPr/>
          <p:nvPr/>
        </p:nvSpPr>
        <p:spPr>
          <a:xfrm>
            <a:off x="9075191" y="1920240"/>
            <a:ext cx="2567864" cy="2377440"/>
          </a:xfrm>
          <a:prstGeom prst="roundRect">
            <a:avLst>
              <a:gd name="adj" fmla="val 3077"/>
            </a:avLst>
          </a:prstGeom>
          <a:solidFill>
            <a:srgbClr val="EEF3F0"/>
          </a:solidFill>
          <a:ln/>
          <a:effectLst>
            <a:outerShdw sx="100000" sy="100000" kx="0" ky="0" algn="bl" rotWithShape="0" blurRad="76200" dist="25400" dir="5400000">
              <a:srgbClr val="9AA8A2">
                <a:alpha val="35000"/>
              </a:srgbClr>
            </a:outerShdw>
          </a:effectLst>
        </p:spPr>
      </p:sp>
      <p:sp>
        <p:nvSpPr>
          <p:cNvPr id="14" name="Text 12"/>
          <p:cNvSpPr/>
          <p:nvPr/>
        </p:nvSpPr>
        <p:spPr>
          <a:xfrm>
            <a:off x="9075191" y="2148840"/>
            <a:ext cx="2567864" cy="1005840"/>
          </a:xfrm>
          <a:prstGeom prst="rect">
            <a:avLst/>
          </a:prstGeom>
          <a:noFill/>
          <a:ln/>
        </p:spPr>
        <p:txBody>
          <a:bodyPr wrap="square" lIns="0" tIns="0" rIns="0" bIns="0" rtlCol="0" anchor="ctr"/>
          <a:lstStyle/>
          <a:p>
            <a:pPr algn="ctr" indent="0" marL="0">
              <a:buNone/>
            </a:pPr>
            <a:r>
              <a:rPr lang="en-US" sz="5600" b="1" dirty="0">
                <a:solidFill>
                  <a:srgbClr val="1E9E5D"/>
                </a:solidFill>
                <a:latin typeface="Cambria" pitchFamily="34" charset="0"/>
                <a:ea typeface="Cambria" pitchFamily="34" charset="-122"/>
                <a:cs typeface="Cambria" pitchFamily="34" charset="-120"/>
              </a:rPr>
              <a:t>9</a:t>
            </a:r>
            <a:endParaRPr lang="en-US" sz="5600" dirty="0"/>
          </a:p>
        </p:txBody>
      </p:sp>
      <p:sp>
        <p:nvSpPr>
          <p:cNvPr id="15" name="Text 13"/>
          <p:cNvSpPr/>
          <p:nvPr/>
        </p:nvSpPr>
        <p:spPr>
          <a:xfrm>
            <a:off x="9258071" y="3200400"/>
            <a:ext cx="2202104" cy="914400"/>
          </a:xfrm>
          <a:prstGeom prst="rect">
            <a:avLst/>
          </a:prstGeom>
          <a:noFill/>
          <a:ln/>
        </p:spPr>
        <p:txBody>
          <a:bodyPr wrap="square" lIns="0" tIns="0" rIns="0" bIns="0" rtlCol="0" anchor="ctr"/>
          <a:lstStyle/>
          <a:p>
            <a:pPr algn="ctr" indent="0" marL="0">
              <a:buNone/>
            </a:pPr>
            <a:r>
              <a:rPr lang="en-US" sz="1300" dirty="0">
                <a:solidFill>
                  <a:srgbClr val="2B3D36"/>
                </a:solidFill>
                <a:latin typeface="Calibri" pitchFamily="34" charset="0"/>
                <a:ea typeface="Calibri" pitchFamily="34" charset="-122"/>
                <a:cs typeface="Calibri" pitchFamily="34" charset="-120"/>
              </a:rPr>
              <a:t>browser-suite</a:t>
            </a:r>
            <a:endParaRPr lang="en-US" sz="1300" dirty="0"/>
          </a:p>
          <a:p>
            <a:pPr algn="ctr" indent="0" marL="0">
              <a:buNone/>
            </a:pPr>
            <a:r>
              <a:rPr lang="en-US" sz="1300" dirty="0">
                <a:solidFill>
                  <a:srgbClr val="2B3D36"/>
                </a:solidFill>
                <a:latin typeface="Calibri" pitchFamily="34" charset="0"/>
                <a:ea typeface="Calibri" pitchFamily="34" charset="-122"/>
                <a:cs typeface="Calibri" pitchFamily="34" charset="-120"/>
              </a:rPr>
              <a:t>specs</a:t>
            </a:r>
            <a:endParaRPr lang="en-US" sz="1300" dirty="0"/>
          </a:p>
        </p:txBody>
      </p:sp>
      <p:sp>
        <p:nvSpPr>
          <p:cNvPr id="16" name="Text 14"/>
          <p:cNvSpPr/>
          <p:nvPr/>
        </p:nvSpPr>
        <p:spPr>
          <a:xfrm>
            <a:off x="548640" y="4617720"/>
            <a:ext cx="11094415" cy="457200"/>
          </a:xfrm>
          <a:prstGeom prst="rect">
            <a:avLst/>
          </a:prstGeom>
          <a:noFill/>
          <a:ln/>
        </p:spPr>
        <p:txBody>
          <a:bodyPr wrap="square" lIns="0" tIns="0" rIns="0" bIns="0" rtlCol="0" anchor="ctr"/>
          <a:lstStyle/>
          <a:p>
            <a:pPr algn="ctr" indent="0" marL="0">
              <a:buNone/>
            </a:pPr>
            <a:r>
              <a:rPr lang="en-US" sz="1400" i="1" dirty="0">
                <a:solidFill>
                  <a:srgbClr val="6B7A74"/>
                </a:solidFill>
                <a:latin typeface="Calibri" pitchFamily="34" charset="0"/>
                <a:ea typeface="Calibri" pitchFamily="34" charset="-122"/>
                <a:cs typeface="Calibri" pitchFamily="34" charset="-120"/>
              </a:rPr>
              <a:t>CI on every push — schema integrity, secrets scan, zero live provider calls, proven structurally.</a:t>
            </a:r>
            <a:endParaRPr lang="en-US" sz="1400" dirty="0"/>
          </a:p>
        </p:txBody>
      </p:sp>
      <p:sp>
        <p:nvSpPr>
          <p:cNvPr id="17" name="Text 15"/>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18" name="Text 16"/>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6"/>
        </a:solidFill>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lIns="0" tIns="0" rIns="0" bIns="0" rtlCol="0" anchor="ctr"/>
          <a:lstStyle/>
          <a:p>
            <a:pPr algn="l" indent="0" marL="0">
              <a:buNone/>
            </a:pPr>
            <a:r>
              <a:rPr lang="en-US" sz="1200" b="1" spc="200" kern="0" dirty="0">
                <a:solidFill>
                  <a:srgbClr val="6B7A74"/>
                </a:solidFill>
                <a:latin typeface="Calibri" pitchFamily="34" charset="0"/>
                <a:ea typeface="Calibri" pitchFamily="34" charset="-122"/>
                <a:cs typeface="Calibri" pitchFamily="34" charset="-120"/>
              </a:rPr>
              <a:t>HONEST LIMITS</a:t>
            </a:r>
            <a:endParaRPr lang="en-US" sz="1200" dirty="0"/>
          </a:p>
        </p:txBody>
      </p:sp>
      <p:sp>
        <p:nvSpPr>
          <p:cNvPr id="3" name="Text 1"/>
          <p:cNvSpPr/>
          <p:nvPr/>
        </p:nvSpPr>
        <p:spPr>
          <a:xfrm>
            <a:off x="548640" y="731520"/>
            <a:ext cx="11094415" cy="822960"/>
          </a:xfrm>
          <a:prstGeom prst="rect">
            <a:avLst/>
          </a:prstGeom>
          <a:noFill/>
          <a:ln/>
        </p:spPr>
        <p:txBody>
          <a:bodyPr wrap="square" lIns="0" tIns="0" rIns="0" bIns="0" rtlCol="0" anchor="ctr"/>
          <a:lstStyle/>
          <a:p>
            <a:pPr algn="l" indent="0" marL="0">
              <a:buNone/>
            </a:pPr>
            <a:r>
              <a:rPr lang="en-US" sz="2800" b="1" dirty="0">
                <a:solidFill>
                  <a:srgbClr val="10201A"/>
                </a:solidFill>
                <a:latin typeface="Cambria" pitchFamily="34" charset="0"/>
                <a:ea typeface="Cambria" pitchFamily="34" charset="-122"/>
                <a:cs typeface="Cambria" pitchFamily="34" charset="-120"/>
              </a:rPr>
              <a:t>Stated as plainly as the guarantees</a:t>
            </a:r>
            <a:endParaRPr lang="en-US" sz="2800" dirty="0"/>
          </a:p>
        </p:txBody>
      </p:sp>
      <p:sp>
        <p:nvSpPr>
          <p:cNvPr id="4" name="Text 2"/>
          <p:cNvSpPr/>
          <p:nvPr/>
        </p:nvSpPr>
        <p:spPr>
          <a:xfrm>
            <a:off x="548640" y="2011680"/>
            <a:ext cx="11094415" cy="292608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rgbClr val="10201A"/>
                </a:solidFill>
                <a:latin typeface="Calibri" pitchFamily="34" charset="0"/>
                <a:ea typeface="Calibri" pitchFamily="34" charset="-122"/>
                <a:cs typeface="Calibri" pitchFamily="34" charset="-120"/>
              </a:rPr>
              <a:t>No in-app user management yet</a:t>
            </a:r>
            <a:endParaRPr lang="en-US" sz="1800" dirty="0"/>
          </a:p>
          <a:p>
            <a:pPr marL="342900" indent="-342900">
              <a:spcAft>
                <a:spcPts val="1600"/>
              </a:spcAft>
              <a:buSzPct val="100000"/>
              <a:buChar char="–"/>
            </a:pPr>
            <a:r>
              <a:rPr lang="en-US" sz="1800" dirty="0">
                <a:solidFill>
                  <a:srgbClr val="10201A"/>
                </a:solidFill>
                <a:latin typeface="Calibri" pitchFamily="34" charset="0"/>
                <a:ea typeface="Calibri" pitchFamily="34" charset="-122"/>
                <a:cs typeface="Calibri" pitchFamily="34" charset="-120"/>
              </a:rPr>
              <a:t>No production deployment — Docker Compose only</a:t>
            </a:r>
            <a:endParaRPr lang="en-US" sz="1800" dirty="0"/>
          </a:p>
          <a:p>
            <a:pPr marL="342900" indent="-342900">
              <a:spcAft>
                <a:spcPts val="1600"/>
              </a:spcAft>
              <a:buSzPct val="100000"/>
              <a:buChar char="–"/>
            </a:pPr>
            <a:r>
              <a:rPr lang="en-US" sz="1800" dirty="0">
                <a:solidFill>
                  <a:srgbClr val="10201A"/>
                </a:solidFill>
                <a:latin typeface="Calibri" pitchFamily="34" charset="0"/>
                <a:ea typeface="Calibri" pitchFamily="34" charset="-122"/>
                <a:cs typeface="Calibri" pitchFamily="34" charset="-120"/>
              </a:rPr>
              <a:t>Finding closure has no UI write path yet (the recurrence engine itself is tested and correct)</a:t>
            </a:r>
            <a:endParaRPr lang="en-US" sz="1800" dirty="0"/>
          </a:p>
          <a:p>
            <a:pPr marL="342900" indent="-342900">
              <a:spcAft>
                <a:spcPts val="1600"/>
              </a:spcAft>
              <a:buSzPct val="100000"/>
              <a:buChar char="–"/>
            </a:pPr>
            <a:r>
              <a:rPr lang="en-US" sz="1800" dirty="0">
                <a:solidFill>
                  <a:srgbClr val="10201A"/>
                </a:solidFill>
                <a:latin typeface="Calibri" pitchFamily="34" charset="0"/>
                <a:ea typeface="Calibri" pitchFamily="34" charset="-122"/>
                <a:cs typeface="Calibri" pitchFamily="34" charset="-120"/>
              </a:rPr>
              <a:t>No live AI provider, no live Shadowserver feed — deliberate scope boundaries</a:t>
            </a:r>
            <a:endParaRPr lang="en-US" sz="1800" dirty="0"/>
          </a:p>
        </p:txBody>
      </p:sp>
      <p:sp>
        <p:nvSpPr>
          <p:cNvPr id="5" name="Text 3"/>
          <p:cNvSpPr/>
          <p:nvPr/>
        </p:nvSpPr>
        <p:spPr>
          <a:xfrm>
            <a:off x="548640" y="6400800"/>
            <a:ext cx="7315200" cy="320040"/>
          </a:xfrm>
          <a:prstGeom prst="rect">
            <a:avLst/>
          </a:prstGeom>
          <a:noFill/>
          <a:ln/>
        </p:spPr>
        <p:txBody>
          <a:bodyPr wrap="square" lIns="0" tIns="0" rIns="0" bIns="0" rtlCol="0" anchor="ctr"/>
          <a:lstStyle/>
          <a:p>
            <a:pPr algn="l" indent="0" marL="0">
              <a:buNone/>
            </a:pPr>
            <a:r>
              <a:rPr lang="en-US" sz="1000" dirty="0">
                <a:solidFill>
                  <a:srgbClr val="6B7A74"/>
                </a:solidFill>
                <a:latin typeface="Calibri" pitchFamily="34" charset="0"/>
                <a:ea typeface="Calibri" pitchFamily="34" charset="-122"/>
                <a:cs typeface="Calibri" pitchFamily="34" charset="-120"/>
              </a:rPr>
              <a:t>ThreatNeXus — PKCERT technical review</a:t>
            </a:r>
            <a:endParaRPr lang="en-US" sz="1000" dirty="0"/>
          </a:p>
        </p:txBody>
      </p:sp>
      <p:sp>
        <p:nvSpPr>
          <p:cNvPr id="6" name="Text 4"/>
          <p:cNvSpPr/>
          <p:nvPr/>
        </p:nvSpPr>
        <p:spPr>
          <a:xfrm>
            <a:off x="11094415" y="6400800"/>
            <a:ext cx="548640" cy="320040"/>
          </a:xfrm>
          <a:prstGeom prst="rect">
            <a:avLst/>
          </a:prstGeom>
          <a:noFill/>
          <a:ln/>
        </p:spPr>
        <p:txBody>
          <a:bodyPr wrap="square" lIns="0" tIns="0" rIns="0" bIns="0" rtlCol="0" anchor="ctr"/>
          <a:lstStyle/>
          <a:p>
            <a:pPr algn="r" indent="0" marL="0">
              <a:buNone/>
            </a:pPr>
            <a:r>
              <a:rPr lang="en-US" sz="1000" dirty="0">
                <a:solidFill>
                  <a:srgbClr val="6B7A7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210"/>
        </a:solidFill>
      </p:bgPr>
    </p:bg>
    <p:spTree>
      <p:nvGrpSpPr>
        <p:cNvPr id="1" name=""/>
        <p:cNvGrpSpPr/>
        <p:nvPr/>
      </p:nvGrpSpPr>
      <p:grpSpPr>
        <a:xfrm>
          <a:off x="0" y="0"/>
          <a:ext cx="0" cy="0"/>
          <a:chOff x="0" y="0"/>
          <a:chExt cx="0" cy="0"/>
        </a:xfrm>
      </p:grpSpPr>
      <p:sp>
        <p:nvSpPr>
          <p:cNvPr id="2" name="Text 0"/>
          <p:cNvSpPr/>
          <p:nvPr/>
        </p:nvSpPr>
        <p:spPr>
          <a:xfrm>
            <a:off x="0" y="1463040"/>
            <a:ext cx="12191695" cy="914400"/>
          </a:xfrm>
          <a:prstGeom prst="rect">
            <a:avLst/>
          </a:prstGeom>
          <a:noFill/>
          <a:ln/>
        </p:spPr>
        <p:txBody>
          <a:bodyPr wrap="square" lIns="0" tIns="0" rIns="0" bIns="0" rtlCol="0" anchor="ctr"/>
          <a:lstStyle/>
          <a:p>
            <a:pPr algn="ctr" indent="0" marL="0">
              <a:buNone/>
            </a:pPr>
            <a:r>
              <a:rPr lang="en-US" sz="4400" b="1" dirty="0">
                <a:solidFill>
                  <a:srgbClr val="EAF1F9"/>
                </a:solidFill>
                <a:latin typeface="Cambria" pitchFamily="34" charset="0"/>
                <a:ea typeface="Cambria" pitchFamily="34" charset="-122"/>
                <a:cs typeface="Cambria" pitchFamily="34" charset="-120"/>
              </a:rPr>
              <a:t>ThreatNeXus</a:t>
            </a:r>
            <a:endParaRPr lang="en-US" sz="4400" dirty="0"/>
          </a:p>
        </p:txBody>
      </p:sp>
      <p:sp>
        <p:nvSpPr>
          <p:cNvPr id="3" name="Text 1"/>
          <p:cNvSpPr/>
          <p:nvPr/>
        </p:nvSpPr>
        <p:spPr>
          <a:xfrm>
            <a:off x="0" y="2331720"/>
            <a:ext cx="12191695" cy="502920"/>
          </a:xfrm>
          <a:prstGeom prst="rect">
            <a:avLst/>
          </a:prstGeom>
          <a:noFill/>
          <a:ln/>
        </p:spPr>
        <p:txBody>
          <a:bodyPr wrap="square" lIns="0" tIns="0" rIns="0" bIns="0" rtlCol="0" anchor="ctr"/>
          <a:lstStyle/>
          <a:p>
            <a:pPr algn="ctr" indent="0" marL="0">
              <a:buNone/>
            </a:pPr>
            <a:r>
              <a:rPr lang="en-US" sz="1800" i="1" dirty="0">
                <a:solidFill>
                  <a:srgbClr val="35C477"/>
                </a:solidFill>
                <a:latin typeface="Calibri" pitchFamily="34" charset="0"/>
                <a:ea typeface="Calibri" pitchFamily="34" charset="-122"/>
                <a:cs typeface="Calibri" pitchFamily="34" charset="-120"/>
              </a:rPr>
              <a:t>Connecting Intelligence with Action</a:t>
            </a:r>
            <a:endParaRPr lang="en-US" sz="1800" dirty="0"/>
          </a:p>
        </p:txBody>
      </p:sp>
      <p:sp>
        <p:nvSpPr>
          <p:cNvPr id="4" name="Shape 2"/>
          <p:cNvSpPr/>
          <p:nvPr/>
        </p:nvSpPr>
        <p:spPr>
          <a:xfrm>
            <a:off x="1981048" y="3200400"/>
            <a:ext cx="8229600" cy="1463040"/>
          </a:xfrm>
          <a:prstGeom prst="roundRect">
            <a:avLst>
              <a:gd name="adj" fmla="val 5000"/>
            </a:avLst>
          </a:prstGeom>
          <a:solidFill>
            <a:srgbClr val="14251E"/>
          </a:solidFill>
          <a:ln/>
        </p:spPr>
      </p:sp>
      <p:sp>
        <p:nvSpPr>
          <p:cNvPr id="5" name="Text 3"/>
          <p:cNvSpPr/>
          <p:nvPr/>
        </p:nvSpPr>
        <p:spPr>
          <a:xfrm>
            <a:off x="2346808" y="3383280"/>
            <a:ext cx="7498080" cy="1097280"/>
          </a:xfrm>
          <a:prstGeom prst="rect">
            <a:avLst/>
          </a:prstGeom>
          <a:noFill/>
          <a:ln/>
        </p:spPr>
        <p:txBody>
          <a:bodyPr wrap="square" lIns="0" tIns="0" rIns="0" bIns="0" rtlCol="0" anchor="ctr"/>
          <a:lstStyle/>
          <a:p>
            <a:pPr algn="ctr" indent="0" marL="0">
              <a:buNone/>
            </a:pPr>
            <a:r>
              <a:rPr lang="en-US" sz="1500" dirty="0">
                <a:solidFill>
                  <a:srgbClr val="EAF1F9"/>
                </a:solidFill>
                <a:latin typeface="Calibri" pitchFamily="34" charset="0"/>
                <a:ea typeface="Calibri" pitchFamily="34" charset="-122"/>
                <a:cs typeface="Calibri" pitchFamily="34" charset="-120"/>
              </a:rPr>
              <a:t>Ready for technical review: a working, tested, audited analyst workflow — with its gaps stated as plainly as its guarantees.</a:t>
            </a:r>
            <a:endParaRPr lang="en-US" sz="1500" dirty="0"/>
          </a:p>
        </p:txBody>
      </p:sp>
      <p:sp>
        <p:nvSpPr>
          <p:cNvPr id="6" name="Text 4"/>
          <p:cNvSpPr/>
          <p:nvPr/>
        </p:nvSpPr>
        <p:spPr>
          <a:xfrm>
            <a:off x="0" y="4937760"/>
            <a:ext cx="12191695" cy="365760"/>
          </a:xfrm>
          <a:prstGeom prst="rect">
            <a:avLst/>
          </a:prstGeom>
          <a:noFill/>
          <a:ln/>
        </p:spPr>
        <p:txBody>
          <a:bodyPr wrap="square" lIns="0" tIns="0" rIns="0" bIns="0" rtlCol="0" anchor="ctr"/>
          <a:lstStyle/>
          <a:p>
            <a:pPr algn="ctr" indent="0" marL="0">
              <a:buNone/>
            </a:pPr>
            <a:r>
              <a:rPr lang="en-US" sz="1200" dirty="0">
                <a:solidFill>
                  <a:srgbClr val="9DAFC2"/>
                </a:solidFill>
                <a:latin typeface="Calibri" pitchFamily="34" charset="0"/>
                <a:ea typeface="Calibri" pitchFamily="34" charset="-122"/>
                <a:cs typeface="Calibri" pitchFamily="34" charset="-120"/>
              </a:rPr>
              <a:t>Next: a seventh provider · in-app user management · a production write path for Finding closure</a:t>
            </a:r>
            <a:endParaRPr lang="en-US" sz="1200" dirty="0"/>
          </a:p>
        </p:txBody>
      </p:sp>
      <p:sp>
        <p:nvSpPr>
          <p:cNvPr id="7" name="Text 5"/>
          <p:cNvSpPr/>
          <p:nvPr/>
        </p:nvSpPr>
        <p:spPr>
          <a:xfrm>
            <a:off x="0" y="5760720"/>
            <a:ext cx="12191695" cy="457200"/>
          </a:xfrm>
          <a:prstGeom prst="rect">
            <a:avLst/>
          </a:prstGeom>
          <a:noFill/>
          <a:ln/>
        </p:spPr>
        <p:txBody>
          <a:bodyPr wrap="square" lIns="0" tIns="0" rIns="0" bIns="0" rtlCol="0" anchor="ctr"/>
          <a:lstStyle/>
          <a:p>
            <a:pPr algn="ctr" indent="0" marL="0">
              <a:buNone/>
            </a:pPr>
            <a:r>
              <a:rPr lang="en-US" sz="2000" b="1" dirty="0">
                <a:solidFill>
                  <a:srgbClr val="35C477"/>
                </a:solidFill>
                <a:latin typeface="Cambria" pitchFamily="34" charset="0"/>
                <a:ea typeface="Cambria" pitchFamily="34" charset="-122"/>
                <a:cs typeface="Cambria"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PKCERT internship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ThreatNeXus — PKCERT Presentation</dc:title>
  <dc:subject>PptxGenJS Presentation</dc:subject>
  <dc:creator>ThreatNeXus</dc:creator>
  <cp:lastModifiedBy>ThreatNeXus</cp:lastModifiedBy>
  <cp:revision>1</cp:revision>
  <dcterms:created xsi:type="dcterms:W3CDTF">2026-08-09T21:16:49Z</dcterms:created>
  <dcterms:modified xsi:type="dcterms:W3CDTF">2026-08-09T21:16:49Z</dcterms:modified>
</cp:coreProperties>
</file>