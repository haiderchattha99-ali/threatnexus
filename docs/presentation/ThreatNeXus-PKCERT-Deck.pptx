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positioning line before anything else: ThreatNeXus is a research prototype, built during a PKCERT/NCERT internship. It's not a deployed system, and I'm not claiming otherwise today. Setting that expectation first makes every claim that follows easier to trust, not harder. Don't overclaim: no production-ready, no deployed, no national-scale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concrete, not abstract. Don't open with 'cyberattacks are increasing' — open with the exact failure: a CERT receives the same exposure report a second time, months later, and the process has no way to connect it to the first one. It looks brand new. Nobody can say whether it was fixed, whether it's recurring, or who's accountable for it. This is a workflow problem, not a claim that any specific incident happened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bullet as a real behavior, not a hypothetical — provider portals genuinely are separate systems with separate logins; evidence genuinely does get judged from memory under time pressure; a notification genuinely can go out today without independent review, in a manual process. Don't imply every CERT works this exact way — frame it as the common failure mode this project was built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bold line exactly as written, then pause. This is the one line the rest of the talk supports — it's worth letting it land before moving on. 'Persistent, deduplicated Finding' is a real, tested claim — don't extend it into 'never loses a report' or any absolute.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 chain left to right, once, slowly. Emphasize 'every arrow writes its own audit event' — that's implemented at the service layer specifically so a missing audit call fails a test rather than shipping silently. The AI-draft step is optional and off by default — say that here briefly. This is the map the live demo will walk physically.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look at the actual running application. Point at the four-part tuple on every tile — value, availability, source, as-of — and say the sentence exactly: nothing on this screen is estimated, and a figure that can't be computed never renders as zero. If presenting live, this is the natural point to switch to the real application in a browser instead of the slide. Don't caption a placeholder as if it were a real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what each provider adds in one breath, without dwelling — the point is breadth and uniformity, not depth on any one provider. Every one of these is optional, and a missing key disables exactly one provider, never the whole application. Never state or imply uptime, latency, or accuracy for any provider — none of that is measured anywhere in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governance slide, not a features slide — slow down here. A high reputation score, an open port, a suspicious classification: none of it closes a case or sends a notification by itself. An analyst reads it and decides. Land the phrase 'unknown is never zero' specifically — it's the rule that makes every other number on the dashboard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ahead of the AI question before anyone asks it. AI here does less than people expect, deliberately. It's off by default, and there's no live AI provider wired up in this codebase at all today. When it is enabled, it drafts a suggestion; a human decides. Never say 'AI decides' or 'AI approves' — no such measurement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specific, checkable claim, so make it specific: an ATT&amp;CK mapping justified only by 'the host is exposed' or 'the risk score is high' is refused by the server, not just discouraged in the interface. The same rule applies whether the mapping came from an analyst typing it in or from an accepted AI suggestion. Don't claim full ATT&amp;CK catalogue verification for NIST CSF/CIS — those two are format-checked, not existence-verified.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checklist slide for anyone doing technical diligence — deliver it as a checklist, not a story. An analyst who drafts a notification structurally cannot also approve it — that's a 403 the system returns, not a policy someone has to remember. Don't say 'enterprise-grade' or 'bank-level' — name the mechanism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frontend talks only to the REST API; the API talks to domain services; services talk to Postgres and, only on a human-triggered request, to a provider. Land the point that the frontend never reaches a provider or the database directly. Don't describe this as microservices or distributed — it's a single Express application with a modular service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exact sequence about to happen, so the audience knows what to watch for. This slide IS the demo cue — transition directly into the live walkthrough from here. Say 'what you're about to see,' not 'what PKCERT will use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and factual — name, one-line role, move on. This slide exists so a PKCERT reviewer knows who to ask a follow-up question, not to sell anything. Names and roles are sourced directly from README.md's own Team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numbers breathe — don't over-narrate each one. The evaluators are the actual bar this project holds itself to: a human wrote down the correct answer by hand, and the real production code has to reproduce it exactly. These are test/evaluator/CI counts, not a security-audit certification — don't imply an external audit occurred.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or skip this slide. Say each limit plainly, without softening language. This is the slide that makes every earlier claim believable. Don't follow any of the four limits with 'but we're fixing that soon' — the roadmap line already covers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same tagline the deck opened with. State the 'ready for technical review' framing exactly as worded: it's a specific claim (tested, audited, working), not a general one (finished, production-ready). Invite questions and leave the slide up. Do not extend to 'ready for deployment' or 'ready for adoption,' even if asked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0" y="2331720"/>
            <a:ext cx="12191695" cy="320040"/>
          </a:xfrm>
          <a:prstGeom prst="rect">
            <a:avLst/>
          </a:prstGeom>
          <a:noFill/>
          <a:ln/>
        </p:spPr>
        <p:txBody>
          <a:bodyPr wrap="square" lIns="0" tIns="0" rIns="0" bIns="0" rtlCol="0" anchor="ctr"/>
          <a:lstStyle/>
          <a:p>
            <a:pPr algn="ctr" indent="0" marL="0">
              <a:buNone/>
            </a:pPr>
            <a:r>
              <a:rPr lang="en-US" sz="1300" b="1" spc="300" kern="0" dirty="0">
                <a:solidFill>
                  <a:srgbClr val="35C477"/>
                </a:solidFill>
                <a:latin typeface="Calibri" pitchFamily="34" charset="0"/>
                <a:ea typeface="Calibri" pitchFamily="34" charset="-122"/>
                <a:cs typeface="Calibri" pitchFamily="34" charset="-120"/>
              </a:rPr>
              <a:t>RESEARCH PROTOTYPE — PKCERT/NCERT INTERNSHIP</a:t>
            </a:r>
            <a:endParaRPr lang="en-US" sz="1300" dirty="0"/>
          </a:p>
        </p:txBody>
      </p:sp>
      <p:sp>
        <p:nvSpPr>
          <p:cNvPr id="3" name="Text 1"/>
          <p:cNvSpPr/>
          <p:nvPr/>
        </p:nvSpPr>
        <p:spPr>
          <a:xfrm>
            <a:off x="731520" y="2697480"/>
            <a:ext cx="10728655" cy="1188720"/>
          </a:xfrm>
          <a:prstGeom prst="rect">
            <a:avLst/>
          </a:prstGeom>
          <a:noFill/>
          <a:ln/>
        </p:spPr>
        <p:txBody>
          <a:bodyPr wrap="square" lIns="0" tIns="0" rIns="0" bIns="0" rtlCol="0" anchor="ctr"/>
          <a:lstStyle/>
          <a:p>
            <a:pPr algn="ctr" indent="0" marL="0">
              <a:buNone/>
            </a:pPr>
            <a:r>
              <a:rPr lang="en-US" sz="5400" b="1" dirty="0">
                <a:solidFill>
                  <a:srgbClr val="EAF1F9"/>
                </a:solidFill>
                <a:latin typeface="Calibri" pitchFamily="34" charset="0"/>
                <a:ea typeface="Calibri" pitchFamily="34" charset="-122"/>
                <a:cs typeface="Calibri" pitchFamily="34" charset="-120"/>
              </a:rPr>
              <a:t>ThreatNeXus</a:t>
            </a:r>
            <a:endParaRPr lang="en-US" sz="5400" dirty="0"/>
          </a:p>
        </p:txBody>
      </p:sp>
      <p:sp>
        <p:nvSpPr>
          <p:cNvPr id="4" name="Text 2"/>
          <p:cNvSpPr/>
          <p:nvPr/>
        </p:nvSpPr>
        <p:spPr>
          <a:xfrm>
            <a:off x="1188720" y="3794760"/>
            <a:ext cx="9814255" cy="548640"/>
          </a:xfrm>
          <a:prstGeom prst="rect">
            <a:avLst/>
          </a:prstGeom>
          <a:noFill/>
          <a:ln/>
        </p:spPr>
        <p:txBody>
          <a:bodyPr wrap="square" lIns="0" tIns="0" rIns="0" bIns="0" rtlCol="0" anchor="ctr"/>
          <a:lstStyle/>
          <a:p>
            <a:pPr algn="ctr" indent="0" marL="0">
              <a:buNone/>
            </a:pPr>
            <a:r>
              <a:rPr lang="en-US" sz="1900" i="1" dirty="0">
                <a:solidFill>
                  <a:srgbClr val="9DAFC2"/>
                </a:solidFill>
                <a:latin typeface="Calibri" pitchFamily="34" charset="0"/>
                <a:ea typeface="Calibri" pitchFamily="34" charset="-122"/>
                <a:cs typeface="Calibri" pitchFamily="34" charset="-120"/>
              </a:rPr>
              <a:t>Connecting Intelligence with Action</a:t>
            </a:r>
            <a:endParaRPr lang="en-US" sz="1900" dirty="0"/>
          </a:p>
        </p:txBody>
      </p:sp>
      <p:sp>
        <p:nvSpPr>
          <p:cNvPr id="5" name="Text 3"/>
          <p:cNvSpPr/>
          <p:nvPr/>
        </p:nvSpPr>
        <p:spPr>
          <a:xfrm>
            <a:off x="1188720" y="4343400"/>
            <a:ext cx="9814255" cy="640080"/>
          </a:xfrm>
          <a:prstGeom prst="rect">
            <a:avLst/>
          </a:prstGeom>
          <a:noFill/>
          <a:ln/>
        </p:spPr>
        <p:txBody>
          <a:bodyPr wrap="square" lIns="0" tIns="0" rIns="0" bIns="0" rtlCol="0" anchor="ctr"/>
          <a:lstStyle/>
          <a:p>
            <a:pPr algn="ctr" indent="0" marL="0">
              <a:buNone/>
            </a:pPr>
            <a:r>
              <a:rPr lang="en-US" sz="1400" dirty="0">
                <a:solidFill>
                  <a:srgbClr val="9DAFC2"/>
                </a:solidFill>
                <a:latin typeface="Calibri" pitchFamily="34" charset="0"/>
                <a:ea typeface="Calibri" pitchFamily="34" charset="-122"/>
                <a:cs typeface="Calibri" pitchFamily="34" charset="-120"/>
              </a:rPr>
              <a:t>A defensive CERT triage and constituent-notification workflow</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200" b="1" dirty="0">
                <a:solidFill>
                  <a:srgbClr val="EAF1F9"/>
                </a:solidFill>
                <a:latin typeface="Calibri" pitchFamily="34" charset="0"/>
                <a:ea typeface="Calibri" pitchFamily="34" charset="-122"/>
                <a:cs typeface="Calibri" pitchFamily="34" charset="-120"/>
              </a:rPr>
              <a:t>A report comes back. Nobody can say if it's new.</a:t>
            </a:r>
            <a:endParaRPr lang="en-US" sz="32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02 / 17</a:t>
            </a:r>
            <a:endParaRPr lang="en-US" sz="1000" dirty="0"/>
          </a:p>
        </p:txBody>
      </p:sp>
      <p:sp>
        <p:nvSpPr>
          <p:cNvPr id="6" name="Text 4"/>
          <p:cNvSpPr/>
          <p:nvPr/>
        </p:nvSpPr>
        <p:spPr>
          <a:xfrm>
            <a:off x="548640" y="2377440"/>
            <a:ext cx="9722815" cy="3200400"/>
          </a:xfrm>
          <a:prstGeom prst="rect">
            <a:avLst/>
          </a:prstGeom>
          <a:noFill/>
          <a:ln/>
        </p:spPr>
        <p:txBody>
          <a:bodyPr wrap="square" lIns="0" tIns="0" rIns="0" bIns="0" rtlCol="0" anchor="t"/>
          <a:lstStyle/>
          <a:p>
            <a:pPr marL="228600" indent="-228600">
              <a:lnSpc>
                <a:spcPct val="115000"/>
              </a:lnSpc>
              <a:spcAft>
                <a:spcPts val="2000"/>
              </a:spcAft>
              <a:buSzPct val="100000"/>
              <a:buChar char="●"/>
            </a:pPr>
            <a:r>
              <a:rPr lang="en-US" sz="1900" dirty="0">
                <a:solidFill>
                  <a:srgbClr val="EAF1F9"/>
                </a:solidFill>
                <a:latin typeface="Calibri" pitchFamily="34" charset="0"/>
                <a:ea typeface="Calibri" pitchFamily="34" charset="-122"/>
                <a:cs typeface="Calibri" pitchFamily="34" charset="-120"/>
              </a:rPr>
              <a:t>An analyst re-triages the same exposure by hand, from memory, under time pressure</a:t>
            </a:r>
            <a:endParaRPr lang="en-US" sz="1900" dirty="0"/>
          </a:p>
          <a:p>
            <a:pPr marL="228600" indent="-228600">
              <a:lnSpc>
                <a:spcPct val="115000"/>
              </a:lnSpc>
              <a:spcAft>
                <a:spcPts val="2000"/>
              </a:spcAft>
              <a:buSzPct val="100000"/>
              <a:buChar char="●"/>
            </a:pPr>
            <a:r>
              <a:rPr lang="en-US" sz="1900" dirty="0">
                <a:solidFill>
                  <a:srgbClr val="EAF1F9"/>
                </a:solidFill>
                <a:latin typeface="Calibri" pitchFamily="34" charset="0"/>
                <a:ea typeface="Calibri" pitchFamily="34" charset="-122"/>
                <a:cs typeface="Calibri" pitchFamily="34" charset="-120"/>
              </a:rPr>
              <a:t>Evidence lives across six provider tabs, never in one record</a:t>
            </a:r>
            <a:endParaRPr lang="en-US" sz="1900" dirty="0"/>
          </a:p>
          <a:p>
            <a:pPr marL="228600" indent="-228600">
              <a:lnSpc>
                <a:spcPct val="115000"/>
              </a:lnSpc>
              <a:spcAft>
                <a:spcPts val="2000"/>
              </a:spcAft>
              <a:buSzPct val="100000"/>
              <a:buChar char="●"/>
            </a:pPr>
            <a:r>
              <a:rPr lang="en-US" sz="1900" dirty="0">
                <a:solidFill>
                  <a:srgbClr val="EAF1F9"/>
                </a:solidFill>
                <a:latin typeface="Calibri" pitchFamily="34" charset="0"/>
                <a:ea typeface="Calibri" pitchFamily="34" charset="-122"/>
                <a:cs typeface="Calibri" pitchFamily="34" charset="-120"/>
              </a:rPr>
              <a:t>Nothing ties today's report to the one from three months ago</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WHY IT BREAKS DOWN</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EAF1F9"/>
                </a:solidFill>
                <a:latin typeface="Calibri" pitchFamily="34" charset="0"/>
                <a:ea typeface="Calibri" pitchFamily="34" charset="-122"/>
                <a:cs typeface="Calibri" pitchFamily="34" charset="-120"/>
              </a:rPr>
              <a:t>Why fragmented CTI slows response</a:t>
            </a:r>
            <a:endParaRPr lang="en-US" sz="34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03 / 17</a:t>
            </a:r>
            <a:endParaRPr lang="en-US" sz="1000" dirty="0"/>
          </a:p>
        </p:txBody>
      </p:sp>
      <p:sp>
        <p:nvSpPr>
          <p:cNvPr id="6" name="Text 4"/>
          <p:cNvSpPr/>
          <p:nvPr/>
        </p:nvSpPr>
        <p:spPr>
          <a:xfrm>
            <a:off x="548640" y="2011680"/>
            <a:ext cx="10180015" cy="3657600"/>
          </a:xfrm>
          <a:prstGeom prst="rect">
            <a:avLst/>
          </a:prstGeom>
          <a:noFill/>
          <a:ln/>
        </p:spPr>
        <p:txBody>
          <a:bodyPr wrap="square" lIns="0" tIns="0" rIns="0" bIns="0" rtlCol="0" anchor="t"/>
          <a:lstStyle/>
          <a:p>
            <a:pPr marL="228600" indent="-228600">
              <a:lnSpc>
                <a:spcPct val="115000"/>
              </a:lnSpc>
              <a:spcAft>
                <a:spcPts val="2200"/>
              </a:spcAft>
              <a:buSzPct val="100000"/>
              <a:buChar char="●"/>
            </a:pPr>
            <a:r>
              <a:rPr lang="en-US" sz="1800" dirty="0">
                <a:solidFill>
                  <a:srgbClr val="EAF1F9"/>
                </a:solidFill>
                <a:latin typeface="Calibri" pitchFamily="34" charset="0"/>
                <a:ea typeface="Calibri" pitchFamily="34" charset="-122"/>
                <a:cs typeface="Calibri" pitchFamily="34" charset="-120"/>
              </a:rPr>
              <a:t>One provider, one portal, one login — repeated six times over</a:t>
            </a:r>
            <a:endParaRPr lang="en-US" sz="1800" dirty="0"/>
          </a:p>
          <a:p>
            <a:pPr marL="228600" indent="-228600">
              <a:lnSpc>
                <a:spcPct val="115000"/>
              </a:lnSpc>
              <a:spcAft>
                <a:spcPts val="2200"/>
              </a:spcAft>
              <a:buSzPct val="100000"/>
              <a:buChar char="●"/>
            </a:pPr>
            <a:r>
              <a:rPr lang="en-US" sz="1800" dirty="0">
                <a:solidFill>
                  <a:srgbClr val="EAF1F9"/>
                </a:solidFill>
                <a:latin typeface="Calibri" pitchFamily="34" charset="0"/>
                <a:ea typeface="Calibri" pitchFamily="34" charset="-122"/>
                <a:cs typeface="Calibri" pitchFamily="34" charset="-120"/>
              </a:rPr>
              <a:t>Judgment happens from memory, not from a durable evidence trail</a:t>
            </a:r>
            <a:endParaRPr lang="en-US" sz="1800" dirty="0"/>
          </a:p>
          <a:p>
            <a:pPr marL="228600" indent="-228600">
              <a:lnSpc>
                <a:spcPct val="115000"/>
              </a:lnSpc>
              <a:spcAft>
                <a:spcPts val="2200"/>
              </a:spcAft>
              <a:buSzPct val="100000"/>
              <a:buChar char="●"/>
            </a:pPr>
            <a:r>
              <a:rPr lang="en-US" sz="1800" dirty="0">
                <a:solidFill>
                  <a:srgbClr val="EAF1F9"/>
                </a:solidFill>
                <a:latin typeface="Calibri" pitchFamily="34" charset="0"/>
                <a:ea typeface="Calibri" pitchFamily="34" charset="-122"/>
                <a:cs typeface="Calibri" pitchFamily="34" charset="-120"/>
              </a:rPr>
              <a:t>A notification can leave without a second reviewer ever seeing it</a:t>
            </a:r>
            <a:endParaRPr lang="en-US" sz="1800" dirty="0"/>
          </a:p>
          <a:p>
            <a:pPr marL="228600" indent="-228600">
              <a:lnSpc>
                <a:spcPct val="115000"/>
              </a:lnSpc>
              <a:spcAft>
                <a:spcPts val="2200"/>
              </a:spcAft>
              <a:buSzPct val="100000"/>
              <a:buChar char="●"/>
            </a:pPr>
            <a:r>
              <a:rPr lang="en-US" sz="1800" dirty="0">
                <a:solidFill>
                  <a:srgbClr val="EAF1F9"/>
                </a:solidFill>
                <a:latin typeface="Calibri" pitchFamily="34" charset="0"/>
                <a:ea typeface="Calibri" pitchFamily="34" charset="-122"/>
                <a:cs typeface="Calibri" pitchFamily="34" charset="-120"/>
              </a:rPr>
              <a:t>When it's over, there's no record of who decided what, or why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200" b="1" dirty="0">
                <a:solidFill>
                  <a:srgbClr val="EAF1F9"/>
                </a:solidFill>
                <a:latin typeface="Calibri" pitchFamily="34" charset="0"/>
                <a:ea typeface="Calibri" pitchFamily="34" charset="-122"/>
                <a:cs typeface="Calibri" pitchFamily="34" charset="-120"/>
              </a:rPr>
              <a:t>One workflow. One record.</a:t>
            </a:r>
            <a:endParaRPr lang="en-US" sz="3200" dirty="0"/>
          </a:p>
          <a:p>
            <a:pPr indent="0" marL="0">
              <a:buNone/>
            </a:pPr>
            <a:r>
              <a:rPr lang="en-US" sz="3200" b="1" dirty="0">
                <a:solidFill>
                  <a:srgbClr val="EAF1F9"/>
                </a:solidFill>
                <a:latin typeface="Calibri" pitchFamily="34" charset="0"/>
                <a:ea typeface="Calibri" pitchFamily="34" charset="-122"/>
                <a:cs typeface="Calibri" pitchFamily="34" charset="-120"/>
              </a:rPr>
              <a:t>One accountable analyst per decision.</a:t>
            </a:r>
            <a:endParaRPr lang="en-US" sz="32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04 / 17</a:t>
            </a:r>
            <a:endParaRPr lang="en-US" sz="1000" dirty="0"/>
          </a:p>
        </p:txBody>
      </p:sp>
      <p:sp>
        <p:nvSpPr>
          <p:cNvPr id="6" name="Text 4"/>
          <p:cNvSpPr/>
          <p:nvPr/>
        </p:nvSpPr>
        <p:spPr>
          <a:xfrm>
            <a:off x="548640" y="2788920"/>
            <a:ext cx="9265615" cy="1280160"/>
          </a:xfrm>
          <a:prstGeom prst="rect">
            <a:avLst/>
          </a:prstGeom>
          <a:noFill/>
          <a:ln/>
        </p:spPr>
        <p:txBody>
          <a:bodyPr wrap="square" lIns="0" tIns="0" rIns="0" bIns="0" rtlCol="0" anchor="t"/>
          <a:lstStyle/>
          <a:p>
            <a:pPr indent="0" marL="0">
              <a:lnSpc>
                <a:spcPct val="120000"/>
              </a:lnSpc>
              <a:buNone/>
            </a:pPr>
            <a:r>
              <a:rPr lang="en-US" sz="1800" dirty="0">
                <a:solidFill>
                  <a:srgbClr val="9DAFC2"/>
                </a:solidFill>
                <a:latin typeface="Calibri" pitchFamily="34" charset="0"/>
                <a:ea typeface="Calibri" pitchFamily="34" charset="-122"/>
                <a:cs typeface="Calibri" pitchFamily="34" charset="-120"/>
              </a:rPr>
              <a:t>A flat exposure report becomes a persistent, deduplicated Finding — enriched, scored, triaged, and closed with a named human attached to every step that matters.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THE WORKFLOW</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000" b="1" dirty="0">
                <a:solidFill>
                  <a:srgbClr val="EAF1F9"/>
                </a:solidFill>
                <a:latin typeface="Calibri" pitchFamily="34" charset="0"/>
                <a:ea typeface="Calibri" pitchFamily="34" charset="-122"/>
                <a:cs typeface="Calibri" pitchFamily="34" charset="-120"/>
              </a:rPr>
              <a:t>Upload to action, in one audited chain</a:t>
            </a:r>
            <a:endParaRPr lang="en-US" sz="30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05 / 17</a:t>
            </a:r>
            <a:endParaRPr lang="en-US" sz="1000" dirty="0"/>
          </a:p>
        </p:txBody>
      </p:sp>
      <p:sp>
        <p:nvSpPr>
          <p:cNvPr id="6" name="Shape 4"/>
          <p:cNvSpPr/>
          <p:nvPr/>
        </p:nvSpPr>
        <p:spPr>
          <a:xfrm>
            <a:off x="548640" y="2880360"/>
            <a:ext cx="1371600" cy="914400"/>
          </a:xfrm>
          <a:prstGeom prst="roundRect">
            <a:avLst>
              <a:gd name="adj" fmla="val 6000"/>
            </a:avLst>
          </a:prstGeom>
          <a:solidFill>
            <a:srgbClr val="0F1A16"/>
          </a:solidFill>
          <a:ln w="12700">
            <a:solidFill>
              <a:srgbClr val="35C477"/>
            </a:solidFill>
            <a:prstDash val="solid"/>
          </a:ln>
        </p:spPr>
      </p:sp>
      <p:sp>
        <p:nvSpPr>
          <p:cNvPr id="7" name="Text 5"/>
          <p:cNvSpPr/>
          <p:nvPr/>
        </p:nvSpPr>
        <p:spPr>
          <a:xfrm>
            <a:off x="594360" y="2880360"/>
            <a:ext cx="1280160" cy="91440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Upload</a:t>
            </a:r>
            <a:endParaRPr lang="en-US" sz="1250" dirty="0"/>
          </a:p>
        </p:txBody>
      </p:sp>
      <p:sp>
        <p:nvSpPr>
          <p:cNvPr id="8" name="Shape 6"/>
          <p:cNvSpPr/>
          <p:nvPr/>
        </p:nvSpPr>
        <p:spPr>
          <a:xfrm>
            <a:off x="1920240" y="3227832"/>
            <a:ext cx="219456" cy="219456"/>
          </a:xfrm>
          <a:prstGeom prst="rightArrow">
            <a:avLst/>
          </a:prstGeom>
          <a:solidFill>
            <a:srgbClr val="35C477"/>
          </a:solidFill>
          <a:ln/>
        </p:spPr>
      </p:sp>
      <p:sp>
        <p:nvSpPr>
          <p:cNvPr id="9" name="Shape 7"/>
          <p:cNvSpPr/>
          <p:nvPr/>
        </p:nvSpPr>
        <p:spPr>
          <a:xfrm>
            <a:off x="2139696" y="2880360"/>
            <a:ext cx="1371600" cy="914400"/>
          </a:xfrm>
          <a:prstGeom prst="roundRect">
            <a:avLst>
              <a:gd name="adj" fmla="val 6000"/>
            </a:avLst>
          </a:prstGeom>
          <a:solidFill>
            <a:srgbClr val="0F1A16"/>
          </a:solidFill>
          <a:ln w="12700">
            <a:solidFill>
              <a:srgbClr val="35C477"/>
            </a:solidFill>
            <a:prstDash val="solid"/>
          </a:ln>
        </p:spPr>
      </p:sp>
      <p:sp>
        <p:nvSpPr>
          <p:cNvPr id="10" name="Text 8"/>
          <p:cNvSpPr/>
          <p:nvPr/>
        </p:nvSpPr>
        <p:spPr>
          <a:xfrm>
            <a:off x="2185416" y="2880360"/>
            <a:ext cx="1280160" cy="91440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Triage</a:t>
            </a:r>
            <a:endParaRPr lang="en-US" sz="1250" dirty="0"/>
          </a:p>
        </p:txBody>
      </p:sp>
      <p:sp>
        <p:nvSpPr>
          <p:cNvPr id="11" name="Shape 9"/>
          <p:cNvSpPr/>
          <p:nvPr/>
        </p:nvSpPr>
        <p:spPr>
          <a:xfrm>
            <a:off x="3511296" y="3227832"/>
            <a:ext cx="219456" cy="219456"/>
          </a:xfrm>
          <a:prstGeom prst="rightArrow">
            <a:avLst/>
          </a:prstGeom>
          <a:solidFill>
            <a:srgbClr val="35C477"/>
          </a:solidFill>
          <a:ln/>
        </p:spPr>
      </p:sp>
      <p:sp>
        <p:nvSpPr>
          <p:cNvPr id="12" name="Shape 10"/>
          <p:cNvSpPr/>
          <p:nvPr/>
        </p:nvSpPr>
        <p:spPr>
          <a:xfrm>
            <a:off x="3730752" y="2880360"/>
            <a:ext cx="1371600" cy="914400"/>
          </a:xfrm>
          <a:prstGeom prst="roundRect">
            <a:avLst>
              <a:gd name="adj" fmla="val 6000"/>
            </a:avLst>
          </a:prstGeom>
          <a:solidFill>
            <a:srgbClr val="0F1A16"/>
          </a:solidFill>
          <a:ln w="12700">
            <a:solidFill>
              <a:srgbClr val="35C477"/>
            </a:solidFill>
            <a:prstDash val="solid"/>
          </a:ln>
        </p:spPr>
      </p:sp>
      <p:sp>
        <p:nvSpPr>
          <p:cNvPr id="13" name="Text 11"/>
          <p:cNvSpPr/>
          <p:nvPr/>
        </p:nvSpPr>
        <p:spPr>
          <a:xfrm>
            <a:off x="3776472" y="2880360"/>
            <a:ext cx="1280160" cy="91440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Enrich</a:t>
            </a:r>
            <a:endParaRPr lang="en-US" sz="1250" dirty="0"/>
          </a:p>
        </p:txBody>
      </p:sp>
      <p:sp>
        <p:nvSpPr>
          <p:cNvPr id="14" name="Shape 12"/>
          <p:cNvSpPr/>
          <p:nvPr/>
        </p:nvSpPr>
        <p:spPr>
          <a:xfrm>
            <a:off x="5102352" y="3227832"/>
            <a:ext cx="219456" cy="219456"/>
          </a:xfrm>
          <a:prstGeom prst="rightArrow">
            <a:avLst/>
          </a:prstGeom>
          <a:solidFill>
            <a:srgbClr val="35C477"/>
          </a:solidFill>
          <a:ln/>
        </p:spPr>
      </p:sp>
      <p:sp>
        <p:nvSpPr>
          <p:cNvPr id="15" name="Shape 13"/>
          <p:cNvSpPr/>
          <p:nvPr/>
        </p:nvSpPr>
        <p:spPr>
          <a:xfrm>
            <a:off x="5321808" y="2880360"/>
            <a:ext cx="1371600" cy="914400"/>
          </a:xfrm>
          <a:prstGeom prst="roundRect">
            <a:avLst>
              <a:gd name="adj" fmla="val 6000"/>
            </a:avLst>
          </a:prstGeom>
          <a:solidFill>
            <a:srgbClr val="0F1A16"/>
          </a:solidFill>
          <a:ln w="12700">
            <a:solidFill>
              <a:srgbClr val="35C477"/>
            </a:solidFill>
            <a:prstDash val="solid"/>
          </a:ln>
        </p:spPr>
      </p:sp>
      <p:sp>
        <p:nvSpPr>
          <p:cNvPr id="16" name="Text 14"/>
          <p:cNvSpPr/>
          <p:nvPr/>
        </p:nvSpPr>
        <p:spPr>
          <a:xfrm>
            <a:off x="5367528" y="2880360"/>
            <a:ext cx="1280160" cy="91440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Map</a:t>
            </a:r>
            <a:endParaRPr lang="en-US" sz="1250" dirty="0"/>
          </a:p>
          <a:p>
            <a:pPr algn="ctr" indent="0" marL="0">
              <a:buNone/>
            </a:pPr>
            <a:r>
              <a:rPr lang="en-US" sz="900" dirty="0">
                <a:solidFill>
                  <a:srgbClr val="9DAFC2"/>
                </a:solidFill>
                <a:latin typeface="Calibri" pitchFamily="34" charset="0"/>
                <a:ea typeface="Calibri" pitchFamily="34" charset="-122"/>
                <a:cs typeface="Calibri" pitchFamily="34" charset="-120"/>
              </a:rPr>
              <a:t>ATT&amp;CK/CSF/CIS</a:t>
            </a:r>
            <a:endParaRPr lang="en-US" sz="1250" dirty="0"/>
          </a:p>
        </p:txBody>
      </p:sp>
      <p:sp>
        <p:nvSpPr>
          <p:cNvPr id="17" name="Shape 15"/>
          <p:cNvSpPr/>
          <p:nvPr/>
        </p:nvSpPr>
        <p:spPr>
          <a:xfrm>
            <a:off x="6693408" y="3227832"/>
            <a:ext cx="219456" cy="219456"/>
          </a:xfrm>
          <a:prstGeom prst="rightArrow">
            <a:avLst/>
          </a:prstGeom>
          <a:solidFill>
            <a:srgbClr val="35C477"/>
          </a:solidFill>
          <a:ln/>
        </p:spPr>
      </p:sp>
      <p:sp>
        <p:nvSpPr>
          <p:cNvPr id="18" name="Shape 16"/>
          <p:cNvSpPr/>
          <p:nvPr/>
        </p:nvSpPr>
        <p:spPr>
          <a:xfrm>
            <a:off x="6912864" y="2880360"/>
            <a:ext cx="1371600" cy="914400"/>
          </a:xfrm>
          <a:prstGeom prst="roundRect">
            <a:avLst>
              <a:gd name="adj" fmla="val 6000"/>
            </a:avLst>
          </a:prstGeom>
          <a:solidFill>
            <a:srgbClr val="0F1A16"/>
          </a:solidFill>
          <a:ln w="12700">
            <a:solidFill>
              <a:srgbClr val="35C477"/>
            </a:solidFill>
            <a:prstDash val="solid"/>
          </a:ln>
        </p:spPr>
      </p:sp>
      <p:sp>
        <p:nvSpPr>
          <p:cNvPr id="19" name="Text 17"/>
          <p:cNvSpPr/>
          <p:nvPr/>
        </p:nvSpPr>
        <p:spPr>
          <a:xfrm>
            <a:off x="6958584" y="2880360"/>
            <a:ext cx="1280160" cy="91440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AI draft</a:t>
            </a:r>
            <a:endParaRPr lang="en-US" sz="1250" dirty="0"/>
          </a:p>
          <a:p>
            <a:pPr algn="ctr" indent="0" marL="0">
              <a:buNone/>
            </a:pPr>
            <a:r>
              <a:rPr lang="en-US" sz="900" dirty="0">
                <a:solidFill>
                  <a:srgbClr val="9DAFC2"/>
                </a:solidFill>
                <a:latin typeface="Calibri" pitchFamily="34" charset="0"/>
                <a:ea typeface="Calibri" pitchFamily="34" charset="-122"/>
                <a:cs typeface="Calibri" pitchFamily="34" charset="-120"/>
              </a:rPr>
              <a:t>optional</a:t>
            </a:r>
            <a:endParaRPr lang="en-US" sz="1250" dirty="0"/>
          </a:p>
        </p:txBody>
      </p:sp>
      <p:sp>
        <p:nvSpPr>
          <p:cNvPr id="20" name="Shape 18"/>
          <p:cNvSpPr/>
          <p:nvPr/>
        </p:nvSpPr>
        <p:spPr>
          <a:xfrm>
            <a:off x="8284464" y="3227832"/>
            <a:ext cx="219456" cy="219456"/>
          </a:xfrm>
          <a:prstGeom prst="rightArrow">
            <a:avLst/>
          </a:prstGeom>
          <a:solidFill>
            <a:srgbClr val="35C477"/>
          </a:solidFill>
          <a:ln/>
        </p:spPr>
      </p:sp>
      <p:sp>
        <p:nvSpPr>
          <p:cNvPr id="21" name="Shape 19"/>
          <p:cNvSpPr/>
          <p:nvPr/>
        </p:nvSpPr>
        <p:spPr>
          <a:xfrm>
            <a:off x="8503920" y="2880360"/>
            <a:ext cx="1371600" cy="914400"/>
          </a:xfrm>
          <a:prstGeom prst="roundRect">
            <a:avLst>
              <a:gd name="adj" fmla="val 6000"/>
            </a:avLst>
          </a:prstGeom>
          <a:solidFill>
            <a:srgbClr val="0F1A16"/>
          </a:solidFill>
          <a:ln w="12700">
            <a:solidFill>
              <a:srgbClr val="35C477"/>
            </a:solidFill>
            <a:prstDash val="solid"/>
          </a:ln>
        </p:spPr>
      </p:sp>
      <p:sp>
        <p:nvSpPr>
          <p:cNvPr id="22" name="Text 20"/>
          <p:cNvSpPr/>
          <p:nvPr/>
        </p:nvSpPr>
        <p:spPr>
          <a:xfrm>
            <a:off x="8549640" y="2880360"/>
            <a:ext cx="1280160" cy="91440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Review</a:t>
            </a:r>
            <a:endParaRPr lang="en-US" sz="1250" dirty="0"/>
          </a:p>
        </p:txBody>
      </p:sp>
      <p:sp>
        <p:nvSpPr>
          <p:cNvPr id="23" name="Shape 21"/>
          <p:cNvSpPr/>
          <p:nvPr/>
        </p:nvSpPr>
        <p:spPr>
          <a:xfrm>
            <a:off x="9875520" y="3227832"/>
            <a:ext cx="219456" cy="219456"/>
          </a:xfrm>
          <a:prstGeom prst="rightArrow">
            <a:avLst/>
          </a:prstGeom>
          <a:solidFill>
            <a:srgbClr val="35C477"/>
          </a:solidFill>
          <a:ln/>
        </p:spPr>
      </p:sp>
      <p:sp>
        <p:nvSpPr>
          <p:cNvPr id="24" name="Shape 22"/>
          <p:cNvSpPr/>
          <p:nvPr/>
        </p:nvSpPr>
        <p:spPr>
          <a:xfrm>
            <a:off x="10094976" y="2880360"/>
            <a:ext cx="1371600" cy="914400"/>
          </a:xfrm>
          <a:prstGeom prst="roundRect">
            <a:avLst>
              <a:gd name="adj" fmla="val 6000"/>
            </a:avLst>
          </a:prstGeom>
          <a:solidFill>
            <a:srgbClr val="0F1A16"/>
          </a:solidFill>
          <a:ln w="12700">
            <a:solidFill>
              <a:srgbClr val="35C477"/>
            </a:solidFill>
            <a:prstDash val="solid"/>
          </a:ln>
        </p:spPr>
      </p:sp>
      <p:sp>
        <p:nvSpPr>
          <p:cNvPr id="25" name="Text 23"/>
          <p:cNvSpPr/>
          <p:nvPr/>
        </p:nvSpPr>
        <p:spPr>
          <a:xfrm>
            <a:off x="10140696" y="2880360"/>
            <a:ext cx="1280160" cy="91440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Act</a:t>
            </a:r>
            <a:endParaRPr lang="en-US" sz="1250" dirty="0"/>
          </a:p>
        </p:txBody>
      </p:sp>
      <p:sp>
        <p:nvSpPr>
          <p:cNvPr id="26" name="Text 24"/>
          <p:cNvSpPr/>
          <p:nvPr/>
        </p:nvSpPr>
        <p:spPr>
          <a:xfrm>
            <a:off x="548640" y="4206240"/>
            <a:ext cx="11094415" cy="457200"/>
          </a:xfrm>
          <a:prstGeom prst="rect">
            <a:avLst/>
          </a:prstGeom>
          <a:noFill/>
          <a:ln/>
        </p:spPr>
        <p:txBody>
          <a:bodyPr wrap="square" lIns="0" tIns="0" rIns="0" bIns="0" rtlCol="0" anchor="ctr"/>
          <a:lstStyle/>
          <a:p>
            <a:pPr algn="ctr" indent="0" marL="0">
              <a:buNone/>
            </a:pPr>
            <a:r>
              <a:rPr lang="en-US" sz="1500" i="1" dirty="0">
                <a:solidFill>
                  <a:srgbClr val="9DAFC2"/>
                </a:solidFill>
                <a:latin typeface="Calibri" pitchFamily="34" charset="0"/>
                <a:ea typeface="Calibri" pitchFamily="34" charset="-122"/>
                <a:cs typeface="Calibri" pitchFamily="34" charset="-120"/>
              </a:rPr>
              <a:t>Every arrow writes its own audit event. Nothing skips a step.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THE PRODUCT</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000" b="1" dirty="0">
                <a:solidFill>
                  <a:srgbClr val="EAF1F9"/>
                </a:solidFill>
                <a:latin typeface="Calibri" pitchFamily="34" charset="0"/>
                <a:ea typeface="Calibri" pitchFamily="34" charset="-122"/>
                <a:cs typeface="Calibri" pitchFamily="34" charset="-120"/>
              </a:rPr>
              <a:t>Every number says where it came from</a:t>
            </a:r>
            <a:endParaRPr lang="en-US" sz="30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06 / 17</a:t>
            </a:r>
            <a:endParaRPr lang="en-US" sz="1000" dirty="0"/>
          </a:p>
        </p:txBody>
      </p:sp>
      <p:sp>
        <p:nvSpPr>
          <p:cNvPr id="6" name="Shape 4"/>
          <p:cNvSpPr/>
          <p:nvPr/>
        </p:nvSpPr>
        <p:spPr>
          <a:xfrm>
            <a:off x="548640" y="1965960"/>
            <a:ext cx="11094415" cy="3566160"/>
          </a:xfrm>
          <a:prstGeom prst="roundRect">
            <a:avLst>
              <a:gd name="adj" fmla="val 2051"/>
            </a:avLst>
          </a:prstGeom>
          <a:solidFill>
            <a:srgbClr val="0F1A16"/>
          </a:solidFill>
          <a:ln w="19050">
            <a:solidFill>
              <a:srgbClr val="2A3B33"/>
            </a:solidFill>
            <a:prstDash val="dash"/>
          </a:ln>
        </p:spPr>
      </p:sp>
      <p:sp>
        <p:nvSpPr>
          <p:cNvPr id="7" name="Text 5"/>
          <p:cNvSpPr/>
          <p:nvPr/>
        </p:nvSpPr>
        <p:spPr>
          <a:xfrm>
            <a:off x="548640" y="1965960"/>
            <a:ext cx="11094415" cy="3566160"/>
          </a:xfrm>
          <a:prstGeom prst="rect">
            <a:avLst/>
          </a:prstGeom>
          <a:noFill/>
          <a:ln/>
        </p:spPr>
        <p:txBody>
          <a:bodyPr wrap="square" lIns="0" tIns="0" rIns="0" bIns="0" rtlCol="0" anchor="ctr"/>
          <a:lstStyle/>
          <a:p>
            <a:pPr algn="ctr" indent="0" marL="0">
              <a:buNone/>
            </a:pPr>
            <a:r>
              <a:rPr lang="en-US" sz="1500" b="1" dirty="0">
                <a:solidFill>
                  <a:srgbClr val="35C477"/>
                </a:solidFill>
                <a:latin typeface="Calibri" pitchFamily="34" charset="0"/>
                <a:ea typeface="Calibri" pitchFamily="34" charset="-122"/>
                <a:cs typeface="Calibri" pitchFamily="34" charset="-120"/>
              </a:rPr>
              <a:t>SCREENSHOT PENDING
</a:t>
            </a:r>
            <a:endParaRPr lang="en-US" sz="1500" dirty="0"/>
          </a:p>
          <a:p>
            <a:pPr algn="ctr" indent="0" marL="0">
              <a:buNone/>
            </a:pPr>
            <a:r>
              <a:rPr lang="en-US" sz="1300" dirty="0">
                <a:solidFill>
                  <a:srgbClr val="9DAFC2"/>
                </a:solidFill>
                <a:latin typeface="Calibri" pitchFamily="34" charset="0"/>
                <a:ea typeface="Calibri" pitchFamily="34" charset="-122"/>
                <a:cs typeface="Calibri" pitchFamily="34" charset="-120"/>
              </a:rPr>
              <a:t>Dashboard overview — see SCREENSHOT_PLAN.md, slot P-01</a:t>
            </a:r>
            <a:endParaRPr lang="en-US" sz="1500" dirty="0"/>
          </a:p>
        </p:txBody>
      </p:sp>
      <p:sp>
        <p:nvSpPr>
          <p:cNvPr id="8" name="Text 6"/>
          <p:cNvSpPr/>
          <p:nvPr/>
        </p:nvSpPr>
        <p:spPr>
          <a:xfrm>
            <a:off x="548640" y="5669280"/>
            <a:ext cx="11094415" cy="457200"/>
          </a:xfrm>
          <a:prstGeom prst="rect">
            <a:avLst/>
          </a:prstGeom>
          <a:noFill/>
          <a:ln/>
        </p:spPr>
        <p:txBody>
          <a:bodyPr wrap="square" lIns="0" tIns="0" rIns="0" bIns="0" rtlCol="0" anchor="ctr"/>
          <a:lstStyle/>
          <a:p>
            <a:pPr algn="ctr" indent="0" marL="0">
              <a:buNone/>
            </a:pPr>
            <a:r>
              <a:rPr lang="en-US" sz="1400" dirty="0">
                <a:solidFill>
                  <a:srgbClr val="9DAFC2"/>
                </a:solidFill>
                <a:latin typeface="Calibri" pitchFamily="34" charset="0"/>
                <a:ea typeface="Calibri" pitchFamily="34" charset="-122"/>
                <a:cs typeface="Calibri" pitchFamily="34" charset="-120"/>
              </a:rPr>
              <a:t>value  ·  availability  ·  source  ·  as-of  —  on every tile. Unknown is never rendered as zero.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THE EVIDENCE SOURCES</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000" b="1" dirty="0">
                <a:solidFill>
                  <a:srgbClr val="EAF1F9"/>
                </a:solidFill>
                <a:latin typeface="Calibri" pitchFamily="34" charset="0"/>
                <a:ea typeface="Calibri" pitchFamily="34" charset="-122"/>
                <a:cs typeface="Calibri" pitchFamily="34" charset="-120"/>
              </a:rPr>
              <a:t>A six-provider intelligence stack</a:t>
            </a:r>
            <a:endParaRPr lang="en-US" sz="30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07 / 17</a:t>
            </a:r>
            <a:endParaRPr lang="en-US" sz="1000" dirty="0"/>
          </a:p>
        </p:txBody>
      </p:sp>
      <p:sp>
        <p:nvSpPr>
          <p:cNvPr id="6" name="Shape 4"/>
          <p:cNvSpPr/>
          <p:nvPr/>
        </p:nvSpPr>
        <p:spPr>
          <a:xfrm>
            <a:off x="548640" y="2011680"/>
            <a:ext cx="3545738" cy="1234440"/>
          </a:xfrm>
          <a:prstGeom prst="roundRect">
            <a:avLst>
              <a:gd name="adj" fmla="val 5926"/>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7" name="Text 5"/>
          <p:cNvSpPr/>
          <p:nvPr/>
        </p:nvSpPr>
        <p:spPr>
          <a:xfrm>
            <a:off x="749808" y="2157984"/>
            <a:ext cx="3143402" cy="365760"/>
          </a:xfrm>
          <a:prstGeom prst="rect">
            <a:avLst/>
          </a:prstGeom>
          <a:noFill/>
          <a:ln/>
        </p:spPr>
        <p:txBody>
          <a:bodyPr wrap="square" lIns="0" tIns="0" rIns="0" bIns="0" rtlCol="0" anchor="t"/>
          <a:lstStyle/>
          <a:p>
            <a:pPr indent="0" marL="0">
              <a:buNone/>
            </a:pPr>
            <a:r>
              <a:rPr lang="en-US" sz="1500" b="1" dirty="0">
                <a:solidFill>
                  <a:srgbClr val="EAF1F9"/>
                </a:solidFill>
                <a:latin typeface="Calibri" pitchFamily="34" charset="0"/>
                <a:ea typeface="Calibri" pitchFamily="34" charset="-122"/>
                <a:cs typeface="Calibri" pitchFamily="34" charset="-120"/>
              </a:rPr>
              <a:t>AbuseIPDB</a:t>
            </a:r>
            <a:endParaRPr lang="en-US" sz="1500" dirty="0"/>
          </a:p>
        </p:txBody>
      </p:sp>
      <p:sp>
        <p:nvSpPr>
          <p:cNvPr id="8" name="Text 6"/>
          <p:cNvSpPr/>
          <p:nvPr/>
        </p:nvSpPr>
        <p:spPr>
          <a:xfrm>
            <a:off x="749808" y="2523744"/>
            <a:ext cx="3143402" cy="612648"/>
          </a:xfrm>
          <a:prstGeom prst="rect">
            <a:avLst/>
          </a:prstGeom>
          <a:noFill/>
          <a:ln/>
        </p:spPr>
        <p:txBody>
          <a:bodyPr wrap="square" lIns="0" tIns="0" rIns="0" bIns="0" rtlCol="0" anchor="t"/>
          <a:lstStyle/>
          <a:p>
            <a:pPr indent="0" marL="0">
              <a:lnSpc>
                <a:spcPct val="110000"/>
              </a:lnSpc>
              <a:buNone/>
            </a:pPr>
            <a:r>
              <a:rPr lang="en-US" sz="1200" dirty="0">
                <a:solidFill>
                  <a:srgbClr val="9DAFC2"/>
                </a:solidFill>
                <a:latin typeface="Calibri" pitchFamily="34" charset="0"/>
                <a:ea typeface="Calibri" pitchFamily="34" charset="-122"/>
                <a:cs typeface="Calibri" pitchFamily="34" charset="-120"/>
              </a:rPr>
              <a:t>IP reputation</a:t>
            </a:r>
            <a:endParaRPr lang="en-US" sz="1200" dirty="0"/>
          </a:p>
        </p:txBody>
      </p:sp>
      <p:sp>
        <p:nvSpPr>
          <p:cNvPr id="9" name="Shape 7"/>
          <p:cNvSpPr/>
          <p:nvPr/>
        </p:nvSpPr>
        <p:spPr>
          <a:xfrm>
            <a:off x="4322978" y="2011680"/>
            <a:ext cx="3545738" cy="1234440"/>
          </a:xfrm>
          <a:prstGeom prst="roundRect">
            <a:avLst>
              <a:gd name="adj" fmla="val 5926"/>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10" name="Text 8"/>
          <p:cNvSpPr/>
          <p:nvPr/>
        </p:nvSpPr>
        <p:spPr>
          <a:xfrm>
            <a:off x="4524146" y="2157984"/>
            <a:ext cx="3143402" cy="365760"/>
          </a:xfrm>
          <a:prstGeom prst="rect">
            <a:avLst/>
          </a:prstGeom>
          <a:noFill/>
          <a:ln/>
        </p:spPr>
        <p:txBody>
          <a:bodyPr wrap="square" lIns="0" tIns="0" rIns="0" bIns="0" rtlCol="0" anchor="t"/>
          <a:lstStyle/>
          <a:p>
            <a:pPr indent="0" marL="0">
              <a:buNone/>
            </a:pPr>
            <a:r>
              <a:rPr lang="en-US" sz="1500" b="1" dirty="0">
                <a:solidFill>
                  <a:srgbClr val="EAF1F9"/>
                </a:solidFill>
                <a:latin typeface="Calibri" pitchFamily="34" charset="0"/>
                <a:ea typeface="Calibri" pitchFamily="34" charset="-122"/>
                <a:cs typeface="Calibri" pitchFamily="34" charset="-120"/>
              </a:rPr>
              <a:t>NVD + KEV + EPSS</a:t>
            </a:r>
            <a:endParaRPr lang="en-US" sz="1500" dirty="0"/>
          </a:p>
        </p:txBody>
      </p:sp>
      <p:sp>
        <p:nvSpPr>
          <p:cNvPr id="11" name="Text 9"/>
          <p:cNvSpPr/>
          <p:nvPr/>
        </p:nvSpPr>
        <p:spPr>
          <a:xfrm>
            <a:off x="4524146" y="2523744"/>
            <a:ext cx="3143402" cy="612648"/>
          </a:xfrm>
          <a:prstGeom prst="rect">
            <a:avLst/>
          </a:prstGeom>
          <a:noFill/>
          <a:ln/>
        </p:spPr>
        <p:txBody>
          <a:bodyPr wrap="square" lIns="0" tIns="0" rIns="0" bIns="0" rtlCol="0" anchor="t"/>
          <a:lstStyle/>
          <a:p>
            <a:pPr indent="0" marL="0">
              <a:lnSpc>
                <a:spcPct val="110000"/>
              </a:lnSpc>
              <a:buNone/>
            </a:pPr>
            <a:r>
              <a:rPr lang="en-US" sz="1200" dirty="0">
                <a:solidFill>
                  <a:srgbClr val="9DAFC2"/>
                </a:solidFill>
                <a:latin typeface="Calibri" pitchFamily="34" charset="0"/>
                <a:ea typeface="Calibri" pitchFamily="34" charset="-122"/>
                <a:cs typeface="Calibri" pitchFamily="34" charset="-120"/>
              </a:rPr>
              <a:t>Vulnerability metadata</a:t>
            </a:r>
            <a:endParaRPr lang="en-US" sz="1200" dirty="0"/>
          </a:p>
        </p:txBody>
      </p:sp>
      <p:sp>
        <p:nvSpPr>
          <p:cNvPr id="12" name="Shape 10"/>
          <p:cNvSpPr/>
          <p:nvPr/>
        </p:nvSpPr>
        <p:spPr>
          <a:xfrm>
            <a:off x="8097317" y="2011680"/>
            <a:ext cx="3545738" cy="1234440"/>
          </a:xfrm>
          <a:prstGeom prst="roundRect">
            <a:avLst>
              <a:gd name="adj" fmla="val 5926"/>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13" name="Text 11"/>
          <p:cNvSpPr/>
          <p:nvPr/>
        </p:nvSpPr>
        <p:spPr>
          <a:xfrm>
            <a:off x="8298485" y="2157984"/>
            <a:ext cx="3143402" cy="365760"/>
          </a:xfrm>
          <a:prstGeom prst="rect">
            <a:avLst/>
          </a:prstGeom>
          <a:noFill/>
          <a:ln/>
        </p:spPr>
        <p:txBody>
          <a:bodyPr wrap="square" lIns="0" tIns="0" rIns="0" bIns="0" rtlCol="0" anchor="t"/>
          <a:lstStyle/>
          <a:p>
            <a:pPr indent="0" marL="0">
              <a:buNone/>
            </a:pPr>
            <a:r>
              <a:rPr lang="en-US" sz="1500" b="1" dirty="0">
                <a:solidFill>
                  <a:srgbClr val="EAF1F9"/>
                </a:solidFill>
                <a:latin typeface="Calibri" pitchFamily="34" charset="0"/>
                <a:ea typeface="Calibri" pitchFamily="34" charset="-122"/>
                <a:cs typeface="Calibri" pitchFamily="34" charset="-120"/>
              </a:rPr>
              <a:t>Censys</a:t>
            </a:r>
            <a:endParaRPr lang="en-US" sz="1500" dirty="0"/>
          </a:p>
        </p:txBody>
      </p:sp>
      <p:sp>
        <p:nvSpPr>
          <p:cNvPr id="14" name="Text 12"/>
          <p:cNvSpPr/>
          <p:nvPr/>
        </p:nvSpPr>
        <p:spPr>
          <a:xfrm>
            <a:off x="8298485" y="2523744"/>
            <a:ext cx="3143402" cy="612648"/>
          </a:xfrm>
          <a:prstGeom prst="rect">
            <a:avLst/>
          </a:prstGeom>
          <a:noFill/>
          <a:ln/>
        </p:spPr>
        <p:txBody>
          <a:bodyPr wrap="square" lIns="0" tIns="0" rIns="0" bIns="0" rtlCol="0" anchor="t"/>
          <a:lstStyle/>
          <a:p>
            <a:pPr indent="0" marL="0">
              <a:lnSpc>
                <a:spcPct val="110000"/>
              </a:lnSpc>
              <a:buNone/>
            </a:pPr>
            <a:r>
              <a:rPr lang="en-US" sz="1200" dirty="0">
                <a:solidFill>
                  <a:srgbClr val="9DAFC2"/>
                </a:solidFill>
                <a:latin typeface="Calibri" pitchFamily="34" charset="0"/>
                <a:ea typeface="Calibri" pitchFamily="34" charset="-122"/>
                <a:cs typeface="Calibri" pitchFamily="34" charset="-120"/>
              </a:rPr>
              <a:t>Internet exposure</a:t>
            </a:r>
            <a:endParaRPr lang="en-US" sz="1200" dirty="0"/>
          </a:p>
        </p:txBody>
      </p:sp>
      <p:sp>
        <p:nvSpPr>
          <p:cNvPr id="15" name="Shape 13"/>
          <p:cNvSpPr/>
          <p:nvPr/>
        </p:nvSpPr>
        <p:spPr>
          <a:xfrm>
            <a:off x="548640" y="3474720"/>
            <a:ext cx="3545738" cy="1234440"/>
          </a:xfrm>
          <a:prstGeom prst="roundRect">
            <a:avLst>
              <a:gd name="adj" fmla="val 5926"/>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16" name="Text 14"/>
          <p:cNvSpPr/>
          <p:nvPr/>
        </p:nvSpPr>
        <p:spPr>
          <a:xfrm>
            <a:off x="749808" y="3621024"/>
            <a:ext cx="3143402" cy="365760"/>
          </a:xfrm>
          <a:prstGeom prst="rect">
            <a:avLst/>
          </a:prstGeom>
          <a:noFill/>
          <a:ln/>
        </p:spPr>
        <p:txBody>
          <a:bodyPr wrap="square" lIns="0" tIns="0" rIns="0" bIns="0" rtlCol="0" anchor="t"/>
          <a:lstStyle/>
          <a:p>
            <a:pPr indent="0" marL="0">
              <a:buNone/>
            </a:pPr>
            <a:r>
              <a:rPr lang="en-US" sz="1500" b="1" dirty="0">
                <a:solidFill>
                  <a:srgbClr val="EAF1F9"/>
                </a:solidFill>
                <a:latin typeface="Calibri" pitchFamily="34" charset="0"/>
                <a:ea typeface="Calibri" pitchFamily="34" charset="-122"/>
                <a:cs typeface="Calibri" pitchFamily="34" charset="-120"/>
              </a:rPr>
              <a:t>GreyNoise</a:t>
            </a:r>
            <a:endParaRPr lang="en-US" sz="1500" dirty="0"/>
          </a:p>
        </p:txBody>
      </p:sp>
      <p:sp>
        <p:nvSpPr>
          <p:cNvPr id="17" name="Text 15"/>
          <p:cNvSpPr/>
          <p:nvPr/>
        </p:nvSpPr>
        <p:spPr>
          <a:xfrm>
            <a:off x="749808" y="3986784"/>
            <a:ext cx="3143402" cy="612648"/>
          </a:xfrm>
          <a:prstGeom prst="rect">
            <a:avLst/>
          </a:prstGeom>
          <a:noFill/>
          <a:ln/>
        </p:spPr>
        <p:txBody>
          <a:bodyPr wrap="square" lIns="0" tIns="0" rIns="0" bIns="0" rtlCol="0" anchor="t"/>
          <a:lstStyle/>
          <a:p>
            <a:pPr indent="0" marL="0">
              <a:lnSpc>
                <a:spcPct val="110000"/>
              </a:lnSpc>
              <a:buNone/>
            </a:pPr>
            <a:r>
              <a:rPr lang="en-US" sz="1200" dirty="0">
                <a:solidFill>
                  <a:srgbClr val="9DAFC2"/>
                </a:solidFill>
                <a:latin typeface="Calibri" pitchFamily="34" charset="0"/>
                <a:ea typeface="Calibri" pitchFamily="34" charset="-122"/>
                <a:cs typeface="Calibri" pitchFamily="34" charset="-120"/>
              </a:rPr>
              <a:t>Internet noise / reputation</a:t>
            </a:r>
            <a:endParaRPr lang="en-US" sz="1200" dirty="0"/>
          </a:p>
        </p:txBody>
      </p:sp>
      <p:sp>
        <p:nvSpPr>
          <p:cNvPr id="18" name="Shape 16"/>
          <p:cNvSpPr/>
          <p:nvPr/>
        </p:nvSpPr>
        <p:spPr>
          <a:xfrm>
            <a:off x="4322978" y="3474720"/>
            <a:ext cx="3545738" cy="1234440"/>
          </a:xfrm>
          <a:prstGeom prst="roundRect">
            <a:avLst>
              <a:gd name="adj" fmla="val 5926"/>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19" name="Text 17"/>
          <p:cNvSpPr/>
          <p:nvPr/>
        </p:nvSpPr>
        <p:spPr>
          <a:xfrm>
            <a:off x="4524146" y="3621024"/>
            <a:ext cx="3143402" cy="365760"/>
          </a:xfrm>
          <a:prstGeom prst="rect">
            <a:avLst/>
          </a:prstGeom>
          <a:noFill/>
          <a:ln/>
        </p:spPr>
        <p:txBody>
          <a:bodyPr wrap="square" lIns="0" tIns="0" rIns="0" bIns="0" rtlCol="0" anchor="t"/>
          <a:lstStyle/>
          <a:p>
            <a:pPr indent="0" marL="0">
              <a:buNone/>
            </a:pPr>
            <a:r>
              <a:rPr lang="en-US" sz="1500" b="1" dirty="0">
                <a:solidFill>
                  <a:srgbClr val="EAF1F9"/>
                </a:solidFill>
                <a:latin typeface="Calibri" pitchFamily="34" charset="0"/>
                <a:ea typeface="Calibri" pitchFamily="34" charset="-122"/>
                <a:cs typeface="Calibri" pitchFamily="34" charset="-120"/>
              </a:rPr>
              <a:t>Shodan</a:t>
            </a:r>
            <a:endParaRPr lang="en-US" sz="1500" dirty="0"/>
          </a:p>
        </p:txBody>
      </p:sp>
      <p:sp>
        <p:nvSpPr>
          <p:cNvPr id="20" name="Text 18"/>
          <p:cNvSpPr/>
          <p:nvPr/>
        </p:nvSpPr>
        <p:spPr>
          <a:xfrm>
            <a:off x="4524146" y="3986784"/>
            <a:ext cx="3143402" cy="612648"/>
          </a:xfrm>
          <a:prstGeom prst="rect">
            <a:avLst/>
          </a:prstGeom>
          <a:noFill/>
          <a:ln/>
        </p:spPr>
        <p:txBody>
          <a:bodyPr wrap="square" lIns="0" tIns="0" rIns="0" bIns="0" rtlCol="0" anchor="t"/>
          <a:lstStyle/>
          <a:p>
            <a:pPr indent="0" marL="0">
              <a:lnSpc>
                <a:spcPct val="110000"/>
              </a:lnSpc>
              <a:buNone/>
            </a:pPr>
            <a:r>
              <a:rPr lang="en-US" sz="1200" dirty="0">
                <a:solidFill>
                  <a:srgbClr val="9DAFC2"/>
                </a:solidFill>
                <a:latin typeface="Calibri" pitchFamily="34" charset="0"/>
                <a:ea typeface="Calibri" pitchFamily="34" charset="-122"/>
                <a:cs typeface="Calibri" pitchFamily="34" charset="-120"/>
              </a:rPr>
              <a:t>Exposed services</a:t>
            </a:r>
            <a:endParaRPr lang="en-US" sz="1200" dirty="0"/>
          </a:p>
        </p:txBody>
      </p:sp>
      <p:sp>
        <p:nvSpPr>
          <p:cNvPr id="21" name="Shape 19"/>
          <p:cNvSpPr/>
          <p:nvPr/>
        </p:nvSpPr>
        <p:spPr>
          <a:xfrm>
            <a:off x="8097317" y="3474720"/>
            <a:ext cx="3545738" cy="1234440"/>
          </a:xfrm>
          <a:prstGeom prst="roundRect">
            <a:avLst>
              <a:gd name="adj" fmla="val 5926"/>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22" name="Text 20"/>
          <p:cNvSpPr/>
          <p:nvPr/>
        </p:nvSpPr>
        <p:spPr>
          <a:xfrm>
            <a:off x="8298485" y="3621024"/>
            <a:ext cx="3143402" cy="365760"/>
          </a:xfrm>
          <a:prstGeom prst="rect">
            <a:avLst/>
          </a:prstGeom>
          <a:noFill/>
          <a:ln/>
        </p:spPr>
        <p:txBody>
          <a:bodyPr wrap="square" lIns="0" tIns="0" rIns="0" bIns="0" rtlCol="0" anchor="t"/>
          <a:lstStyle/>
          <a:p>
            <a:pPr indent="0" marL="0">
              <a:buNone/>
            </a:pPr>
            <a:r>
              <a:rPr lang="en-US" sz="1500" b="1" dirty="0">
                <a:solidFill>
                  <a:srgbClr val="EAF1F9"/>
                </a:solidFill>
                <a:latin typeface="Calibri" pitchFamily="34" charset="0"/>
                <a:ea typeface="Calibri" pitchFamily="34" charset="-122"/>
                <a:cs typeface="Calibri" pitchFamily="34" charset="-120"/>
              </a:rPr>
              <a:t>Netlas</a:t>
            </a:r>
            <a:endParaRPr lang="en-US" sz="1500" dirty="0"/>
          </a:p>
        </p:txBody>
      </p:sp>
      <p:sp>
        <p:nvSpPr>
          <p:cNvPr id="23" name="Text 21"/>
          <p:cNvSpPr/>
          <p:nvPr/>
        </p:nvSpPr>
        <p:spPr>
          <a:xfrm>
            <a:off x="8298485" y="3986784"/>
            <a:ext cx="3143402" cy="612648"/>
          </a:xfrm>
          <a:prstGeom prst="rect">
            <a:avLst/>
          </a:prstGeom>
          <a:noFill/>
          <a:ln/>
        </p:spPr>
        <p:txBody>
          <a:bodyPr wrap="square" lIns="0" tIns="0" rIns="0" bIns="0" rtlCol="0" anchor="t"/>
          <a:lstStyle/>
          <a:p>
            <a:pPr indent="0" marL="0">
              <a:lnSpc>
                <a:spcPct val="110000"/>
              </a:lnSpc>
              <a:buNone/>
            </a:pPr>
            <a:r>
              <a:rPr lang="en-US" sz="1200" dirty="0">
                <a:solidFill>
                  <a:srgbClr val="9DAFC2"/>
                </a:solidFill>
                <a:latin typeface="Calibri" pitchFamily="34" charset="0"/>
                <a:ea typeface="Calibri" pitchFamily="34" charset="-122"/>
                <a:cs typeface="Calibri" pitchFamily="34" charset="-120"/>
              </a:rPr>
              <a:t>Cross-source exposure</a:t>
            </a:r>
            <a:endParaRPr lang="en-US" sz="1200" dirty="0"/>
          </a:p>
        </p:txBody>
      </p:sp>
      <p:sp>
        <p:nvSpPr>
          <p:cNvPr id="24" name="Text 22"/>
          <p:cNvSpPr/>
          <p:nvPr/>
        </p:nvSpPr>
        <p:spPr>
          <a:xfrm>
            <a:off x="548640" y="4937760"/>
            <a:ext cx="11094415" cy="457200"/>
          </a:xfrm>
          <a:prstGeom prst="rect">
            <a:avLst/>
          </a:prstGeom>
          <a:noFill/>
          <a:ln/>
        </p:spPr>
        <p:txBody>
          <a:bodyPr wrap="square" lIns="0" tIns="0" rIns="0" bIns="0" rtlCol="0" anchor="ctr"/>
          <a:lstStyle/>
          <a:p>
            <a:pPr algn="ctr" indent="0" marL="0">
              <a:buNone/>
            </a:pPr>
            <a:r>
              <a:rPr lang="en-US" sz="1400" i="1" dirty="0">
                <a:solidFill>
                  <a:srgbClr val="9DAFC2"/>
                </a:solidFill>
                <a:latin typeface="Calibri" pitchFamily="34" charset="0"/>
                <a:ea typeface="Calibri" pitchFamily="34" charset="-122"/>
                <a:cs typeface="Calibri" pitchFamily="34" charset="-120"/>
              </a:rPr>
              <a:t>All optional. All fail safe. One shared, rate-limited execution path.</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GOVERNANCE</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EAF1F9"/>
                </a:solidFill>
                <a:latin typeface="Calibri" pitchFamily="34" charset="0"/>
                <a:ea typeface="Calibri" pitchFamily="34" charset="-122"/>
                <a:cs typeface="Calibri" pitchFamily="34" charset="-120"/>
              </a:rPr>
              <a:t>Evidence, not proof</a:t>
            </a:r>
            <a:endParaRPr lang="en-US" sz="34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08 / 17</a:t>
            </a:r>
            <a:endParaRPr lang="en-US" sz="1000" dirty="0"/>
          </a:p>
        </p:txBody>
      </p:sp>
      <p:sp>
        <p:nvSpPr>
          <p:cNvPr id="6" name="Text 4"/>
          <p:cNvSpPr/>
          <p:nvPr/>
        </p:nvSpPr>
        <p:spPr>
          <a:xfrm>
            <a:off x="548640" y="1965960"/>
            <a:ext cx="11094415" cy="548640"/>
          </a:xfrm>
          <a:prstGeom prst="rect">
            <a:avLst/>
          </a:prstGeom>
          <a:noFill/>
          <a:ln/>
        </p:spPr>
        <p:txBody>
          <a:bodyPr wrap="square" lIns="0" tIns="0" rIns="0" bIns="0" rtlCol="0" anchor="ctr"/>
          <a:lstStyle/>
          <a:p>
            <a:pPr indent="0" marL="0">
              <a:buNone/>
            </a:pPr>
            <a:r>
              <a:rPr lang="en-US" sz="1700" dirty="0">
                <a:solidFill>
                  <a:srgbClr val="EAF1F9"/>
                </a:solidFill>
                <a:latin typeface="Calibri" pitchFamily="34" charset="0"/>
                <a:ea typeface="Calibri" pitchFamily="34" charset="-122"/>
                <a:cs typeface="Calibri" pitchFamily="34" charset="-120"/>
              </a:rPr>
              <a:t>Provider data supports an analyst's decision. It never replaces the analyst who makes it.</a:t>
            </a:r>
            <a:endParaRPr lang="en-US" sz="1700" dirty="0"/>
          </a:p>
        </p:txBody>
      </p:sp>
      <p:sp>
        <p:nvSpPr>
          <p:cNvPr id="7" name="Shape 5"/>
          <p:cNvSpPr/>
          <p:nvPr/>
        </p:nvSpPr>
        <p:spPr>
          <a:xfrm>
            <a:off x="548640" y="2743200"/>
            <a:ext cx="5410048" cy="2103120"/>
          </a:xfrm>
          <a:prstGeom prst="roundRect">
            <a:avLst>
              <a:gd name="adj" fmla="val 3478"/>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8" name="Text 6"/>
          <p:cNvSpPr/>
          <p:nvPr/>
        </p:nvSpPr>
        <p:spPr>
          <a:xfrm>
            <a:off x="749808" y="2889504"/>
            <a:ext cx="5007712" cy="365760"/>
          </a:xfrm>
          <a:prstGeom prst="rect">
            <a:avLst/>
          </a:prstGeom>
          <a:noFill/>
          <a:ln/>
        </p:spPr>
        <p:txBody>
          <a:bodyPr wrap="square" lIns="0" tIns="0" rIns="0" bIns="0" rtlCol="0" anchor="t"/>
          <a:lstStyle/>
          <a:p>
            <a:pPr indent="0" marL="0">
              <a:buNone/>
            </a:pPr>
            <a:r>
              <a:rPr lang="en-US" sz="2000" b="1" dirty="0">
                <a:solidFill>
                  <a:srgbClr val="35C477"/>
                </a:solidFill>
                <a:latin typeface="Calibri" pitchFamily="34" charset="0"/>
                <a:ea typeface="Calibri" pitchFamily="34" charset="-122"/>
                <a:cs typeface="Calibri" pitchFamily="34" charset="-120"/>
              </a:rPr>
              <a:t>Unknown is never zero</a:t>
            </a:r>
            <a:endParaRPr lang="en-US" sz="2000" dirty="0"/>
          </a:p>
        </p:txBody>
      </p:sp>
      <p:sp>
        <p:nvSpPr>
          <p:cNvPr id="9" name="Shape 7"/>
          <p:cNvSpPr/>
          <p:nvPr/>
        </p:nvSpPr>
        <p:spPr>
          <a:xfrm>
            <a:off x="6233008" y="2743200"/>
            <a:ext cx="5410048" cy="2103120"/>
          </a:xfrm>
          <a:prstGeom prst="roundRect">
            <a:avLst>
              <a:gd name="adj" fmla="val 3478"/>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10" name="Text 8"/>
          <p:cNvSpPr/>
          <p:nvPr/>
        </p:nvSpPr>
        <p:spPr>
          <a:xfrm>
            <a:off x="6434176" y="2889504"/>
            <a:ext cx="5007712" cy="365760"/>
          </a:xfrm>
          <a:prstGeom prst="rect">
            <a:avLst/>
          </a:prstGeom>
          <a:noFill/>
          <a:ln/>
        </p:spPr>
        <p:txBody>
          <a:bodyPr wrap="square" lIns="0" tIns="0" rIns="0" bIns="0" rtlCol="0" anchor="t"/>
          <a:lstStyle/>
          <a:p>
            <a:pPr indent="0" marL="0">
              <a:buNone/>
            </a:pPr>
            <a:r>
              <a:rPr lang="en-US" sz="1800" b="1" dirty="0">
                <a:solidFill>
                  <a:srgbClr val="35C477"/>
                </a:solidFill>
                <a:latin typeface="Calibri" pitchFamily="34" charset="0"/>
                <a:ea typeface="Calibri" pitchFamily="34" charset="-122"/>
                <a:cs typeface="Calibri" pitchFamily="34" charset="-120"/>
              </a:rPr>
              <a:t>Applied · Not available · Not applicable</a:t>
            </a:r>
            <a:endParaRPr lang="en-US" sz="1800" dirty="0"/>
          </a:p>
        </p:txBody>
      </p:sp>
      <p:sp>
        <p:nvSpPr>
          <p:cNvPr id="11" name="Text 9"/>
          <p:cNvSpPr/>
          <p:nvPr/>
        </p:nvSpPr>
        <p:spPr>
          <a:xfrm>
            <a:off x="6434176" y="3255264"/>
            <a:ext cx="5007712" cy="1481328"/>
          </a:xfrm>
          <a:prstGeom prst="rect">
            <a:avLst/>
          </a:prstGeom>
          <a:noFill/>
          <a:ln/>
        </p:spPr>
        <p:txBody>
          <a:bodyPr wrap="square" lIns="0" tIns="0" rIns="0" bIns="0" rtlCol="0" anchor="t"/>
          <a:lstStyle/>
          <a:p>
            <a:pPr indent="0" marL="0">
              <a:lnSpc>
                <a:spcPct val="110000"/>
              </a:lnSpc>
              <a:buNone/>
            </a:pPr>
            <a:r>
              <a:rPr lang="en-US" sz="1250" dirty="0">
                <a:solidFill>
                  <a:srgbClr val="9DAFC2"/>
                </a:solidFill>
                <a:latin typeface="Calibri" pitchFamily="34" charset="0"/>
                <a:ea typeface="Calibri" pitchFamily="34" charset="-122"/>
                <a:cs typeface="Calibri" pitchFamily="34" charset="-120"/>
              </a:rPr>
              <a:t>Never collapsed into a false “clean.”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AI ASSISTANCE</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000" b="1" dirty="0">
                <a:solidFill>
                  <a:srgbClr val="EAF1F9"/>
                </a:solidFill>
                <a:latin typeface="Calibri" pitchFamily="34" charset="0"/>
                <a:ea typeface="Calibri" pitchFamily="34" charset="-122"/>
                <a:cs typeface="Calibri" pitchFamily="34" charset="-120"/>
              </a:rPr>
              <a:t>Drafts only — off by default</a:t>
            </a:r>
            <a:endParaRPr lang="en-US" sz="30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09 / 17</a:t>
            </a:r>
            <a:endParaRPr lang="en-US" sz="1000" dirty="0"/>
          </a:p>
        </p:txBody>
      </p:sp>
      <p:sp>
        <p:nvSpPr>
          <p:cNvPr id="6" name="Text 4"/>
          <p:cNvSpPr/>
          <p:nvPr/>
        </p:nvSpPr>
        <p:spPr>
          <a:xfrm>
            <a:off x="548640" y="2057400"/>
            <a:ext cx="6949440" cy="365760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1550" dirty="0">
                <a:solidFill>
                  <a:srgbClr val="EAF1F9"/>
                </a:solidFill>
                <a:latin typeface="Calibri" pitchFamily="34" charset="0"/>
                <a:ea typeface="Calibri" pitchFamily="34" charset="-122"/>
                <a:cs typeface="Calibri" pitchFamily="34" charset="-120"/>
              </a:rPr>
              <a:t>Disabled by default. No live AI provider ships in this codebase.</a:t>
            </a:r>
            <a:endParaRPr lang="en-US" sz="1550" dirty="0"/>
          </a:p>
          <a:p>
            <a:pPr marL="228600" indent="-228600">
              <a:lnSpc>
                <a:spcPct val="115000"/>
              </a:lnSpc>
              <a:spcAft>
                <a:spcPts val="1600"/>
              </a:spcAft>
              <a:buSzPct val="100000"/>
              <a:buChar char="●"/>
            </a:pPr>
            <a:r>
              <a:rPr lang="en-US" sz="1550" dirty="0">
                <a:solidFill>
                  <a:srgbClr val="EAF1F9"/>
                </a:solidFill>
                <a:latin typeface="Calibri" pitchFamily="34" charset="0"/>
                <a:ea typeface="Calibri" pitchFamily="34" charset="-122"/>
                <a:cs typeface="Calibri" pitchFamily="34" charset="-120"/>
              </a:rPr>
              <a:t>Drafts a mapping suggestion or a finding summary — nothing more</a:t>
            </a:r>
            <a:endParaRPr lang="en-US" sz="1550" dirty="0"/>
          </a:p>
          <a:p>
            <a:pPr marL="228600" indent="-228600">
              <a:lnSpc>
                <a:spcPct val="115000"/>
              </a:lnSpc>
              <a:spcAft>
                <a:spcPts val="1600"/>
              </a:spcAft>
              <a:buSzPct val="100000"/>
              <a:buChar char="●"/>
            </a:pPr>
            <a:r>
              <a:rPr lang="en-US" sz="1550" dirty="0">
                <a:solidFill>
                  <a:srgbClr val="EAF1F9"/>
                </a:solidFill>
                <a:latin typeface="Calibri" pitchFamily="34" charset="0"/>
                <a:ea typeface="Calibri" pitchFamily="34" charset="-122"/>
                <a:cs typeface="Calibri" pitchFamily="34" charset="-120"/>
              </a:rPr>
              <a:t>A provider gets one method and a stripped snapshot: no database access, no capability token</a:t>
            </a:r>
            <a:endParaRPr lang="en-US" sz="1550" dirty="0"/>
          </a:p>
          <a:p>
            <a:pPr marL="228600" indent="-228600">
              <a:lnSpc>
                <a:spcPct val="115000"/>
              </a:lnSpc>
              <a:spcAft>
                <a:spcPts val="1600"/>
              </a:spcAft>
              <a:buSzPct val="100000"/>
              <a:buChar char="●"/>
            </a:pPr>
            <a:r>
              <a:rPr lang="en-US" sz="1550" dirty="0">
                <a:solidFill>
                  <a:srgbClr val="EAF1F9"/>
                </a:solidFill>
                <a:latin typeface="Calibri" pitchFamily="34" charset="0"/>
                <a:ea typeface="Calibri" pitchFamily="34" charset="-122"/>
                <a:cs typeface="Calibri" pitchFamily="34" charset="-120"/>
              </a:rPr>
              <a:t>Every draft needs a named human's accept before it counts as anything</a:t>
            </a:r>
            <a:endParaRPr lang="en-US" sz="1550" dirty="0"/>
          </a:p>
        </p:txBody>
      </p:sp>
      <p:sp>
        <p:nvSpPr>
          <p:cNvPr id="7" name="Shape 5"/>
          <p:cNvSpPr/>
          <p:nvPr/>
        </p:nvSpPr>
        <p:spPr>
          <a:xfrm>
            <a:off x="7863840" y="2377440"/>
            <a:ext cx="3779215" cy="502920"/>
          </a:xfrm>
          <a:prstGeom prst="roundRect">
            <a:avLst>
              <a:gd name="adj" fmla="val 10909"/>
            </a:avLst>
          </a:prstGeom>
          <a:solidFill>
            <a:srgbClr val="0F1A16"/>
          </a:solidFill>
          <a:ln w="12700">
            <a:solidFill>
              <a:srgbClr val="35C477"/>
            </a:solidFill>
            <a:prstDash val="solid"/>
          </a:ln>
        </p:spPr>
      </p:sp>
      <p:sp>
        <p:nvSpPr>
          <p:cNvPr id="8" name="Text 6"/>
          <p:cNvSpPr/>
          <p:nvPr/>
        </p:nvSpPr>
        <p:spPr>
          <a:xfrm>
            <a:off x="7863840" y="2377440"/>
            <a:ext cx="3779215" cy="50292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Provider</a:t>
            </a:r>
            <a:endParaRPr lang="en-US" sz="1250" dirty="0"/>
          </a:p>
        </p:txBody>
      </p:sp>
      <p:sp>
        <p:nvSpPr>
          <p:cNvPr id="9" name="Shape 7"/>
          <p:cNvSpPr/>
          <p:nvPr/>
        </p:nvSpPr>
        <p:spPr>
          <a:xfrm>
            <a:off x="9652864" y="2880360"/>
            <a:ext cx="182880" cy="182880"/>
          </a:xfrm>
          <a:prstGeom prst="rightArrow">
            <a:avLst/>
          </a:prstGeom>
          <a:solidFill>
            <a:srgbClr val="35C477"/>
          </a:solidFill>
          <a:ln/>
        </p:spPr>
      </p:sp>
      <p:sp>
        <p:nvSpPr>
          <p:cNvPr id="10" name="Shape 8"/>
          <p:cNvSpPr/>
          <p:nvPr/>
        </p:nvSpPr>
        <p:spPr>
          <a:xfrm>
            <a:off x="7863840" y="3127248"/>
            <a:ext cx="3779215" cy="502920"/>
          </a:xfrm>
          <a:prstGeom prst="roundRect">
            <a:avLst>
              <a:gd name="adj" fmla="val 10909"/>
            </a:avLst>
          </a:prstGeom>
          <a:solidFill>
            <a:srgbClr val="0F1A16"/>
          </a:solidFill>
          <a:ln w="12700">
            <a:solidFill>
              <a:srgbClr val="35C477"/>
            </a:solidFill>
            <a:prstDash val="solid"/>
          </a:ln>
        </p:spPr>
      </p:sp>
      <p:sp>
        <p:nvSpPr>
          <p:cNvPr id="11" name="Text 9"/>
          <p:cNvSpPr/>
          <p:nvPr/>
        </p:nvSpPr>
        <p:spPr>
          <a:xfrm>
            <a:off x="7863840" y="3127248"/>
            <a:ext cx="3779215" cy="50292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Suggestion (inert)</a:t>
            </a:r>
            <a:endParaRPr lang="en-US" sz="1250" dirty="0"/>
          </a:p>
        </p:txBody>
      </p:sp>
      <p:sp>
        <p:nvSpPr>
          <p:cNvPr id="12" name="Shape 10"/>
          <p:cNvSpPr/>
          <p:nvPr/>
        </p:nvSpPr>
        <p:spPr>
          <a:xfrm>
            <a:off x="9652864" y="3630168"/>
            <a:ext cx="182880" cy="182880"/>
          </a:xfrm>
          <a:prstGeom prst="rightArrow">
            <a:avLst/>
          </a:prstGeom>
          <a:solidFill>
            <a:srgbClr val="35C477"/>
          </a:solidFill>
          <a:ln/>
        </p:spPr>
      </p:sp>
      <p:sp>
        <p:nvSpPr>
          <p:cNvPr id="13" name="Shape 11"/>
          <p:cNvSpPr/>
          <p:nvPr/>
        </p:nvSpPr>
        <p:spPr>
          <a:xfrm>
            <a:off x="7863840" y="3877056"/>
            <a:ext cx="3779215" cy="502920"/>
          </a:xfrm>
          <a:prstGeom prst="roundRect">
            <a:avLst>
              <a:gd name="adj" fmla="val 10909"/>
            </a:avLst>
          </a:prstGeom>
          <a:solidFill>
            <a:srgbClr val="0F1A16"/>
          </a:solidFill>
          <a:ln w="12700">
            <a:solidFill>
              <a:srgbClr val="35C477"/>
            </a:solidFill>
            <a:prstDash val="solid"/>
          </a:ln>
        </p:spPr>
      </p:sp>
      <p:sp>
        <p:nvSpPr>
          <p:cNvPr id="14" name="Text 12"/>
          <p:cNvSpPr/>
          <p:nvPr/>
        </p:nvSpPr>
        <p:spPr>
          <a:xfrm>
            <a:off x="7863840" y="3877056"/>
            <a:ext cx="3779215" cy="50292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Human decision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FRAMEWORK MAPPING</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2800" b="1" dirty="0">
                <a:solidFill>
                  <a:srgbClr val="EAF1F9"/>
                </a:solidFill>
                <a:latin typeface="Calibri" pitchFamily="34" charset="0"/>
                <a:ea typeface="Calibri" pitchFamily="34" charset="-122"/>
                <a:cs typeface="Calibri" pitchFamily="34" charset="-120"/>
              </a:rPr>
              <a:t>ATT&amp;CK mapping requires observed behaviour</a:t>
            </a:r>
            <a:endParaRPr lang="en-US" sz="28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10 / 17</a:t>
            </a:r>
            <a:endParaRPr lang="en-US" sz="1000" dirty="0"/>
          </a:p>
        </p:txBody>
      </p:sp>
      <p:sp>
        <p:nvSpPr>
          <p:cNvPr id="6" name="Text 4"/>
          <p:cNvSpPr/>
          <p:nvPr/>
        </p:nvSpPr>
        <p:spPr>
          <a:xfrm>
            <a:off x="548640" y="1965960"/>
            <a:ext cx="11094415" cy="822960"/>
          </a:xfrm>
          <a:prstGeom prst="rect">
            <a:avLst/>
          </a:prstGeom>
          <a:noFill/>
          <a:ln/>
        </p:spPr>
        <p:txBody>
          <a:bodyPr wrap="square" lIns="0" tIns="0" rIns="0" bIns="0" rtlCol="0" anchor="ctr"/>
          <a:lstStyle/>
          <a:p>
            <a:pPr indent="0" marL="0">
              <a:lnSpc>
                <a:spcPct val="120000"/>
              </a:lnSpc>
              <a:buNone/>
            </a:pPr>
            <a:r>
              <a:rPr lang="en-US" sz="1600" dirty="0">
                <a:solidFill>
                  <a:srgbClr val="9DAFC2"/>
                </a:solidFill>
                <a:latin typeface="Calibri" pitchFamily="34" charset="0"/>
                <a:ea typeface="Calibri" pitchFamily="34" charset="-122"/>
                <a:cs typeface="Calibri" pitchFamily="34" charset="-120"/>
              </a:rPr>
              <a:t>Exposure, a CVE, a risk score — each is individually insufficient, and the rule is enforced server-side, whether the mapping came from an analyst or an accepted AI suggestion.</a:t>
            </a:r>
            <a:endParaRPr lang="en-US" sz="1600" dirty="0"/>
          </a:p>
        </p:txBody>
      </p:sp>
      <p:sp>
        <p:nvSpPr>
          <p:cNvPr id="7" name="Shape 5"/>
          <p:cNvSpPr/>
          <p:nvPr/>
        </p:nvSpPr>
        <p:spPr>
          <a:xfrm>
            <a:off x="548640" y="3063240"/>
            <a:ext cx="1755648" cy="457200"/>
          </a:xfrm>
          <a:prstGeom prst="roundRect">
            <a:avLst>
              <a:gd name="adj" fmla="val 50000"/>
            </a:avLst>
          </a:prstGeom>
          <a:solidFill>
            <a:srgbClr val="0F1A16"/>
          </a:solidFill>
          <a:ln w="12700">
            <a:solidFill>
              <a:srgbClr val="F2617A"/>
            </a:solidFill>
            <a:prstDash val="solid"/>
          </a:ln>
        </p:spPr>
      </p:sp>
      <p:sp>
        <p:nvSpPr>
          <p:cNvPr id="8" name="Text 6"/>
          <p:cNvSpPr/>
          <p:nvPr/>
        </p:nvSpPr>
        <p:spPr>
          <a:xfrm>
            <a:off x="548640" y="3063240"/>
            <a:ext cx="1755648" cy="457200"/>
          </a:xfrm>
          <a:prstGeom prst="rect">
            <a:avLst/>
          </a:prstGeom>
          <a:noFill/>
          <a:ln/>
        </p:spPr>
        <p:txBody>
          <a:bodyPr wrap="square" lIns="0" tIns="0" rIns="0" bIns="0" rtlCol="0" anchor="ctr"/>
          <a:lstStyle/>
          <a:p>
            <a:pPr algn="ctr" indent="0" marL="0">
              <a:buNone/>
            </a:pPr>
            <a:r>
              <a:rPr lang="en-US" sz="1150" strike="sngStrike" dirty="0">
                <a:solidFill>
                  <a:srgbClr val="9DAFC2"/>
                </a:solidFill>
                <a:latin typeface="Calibri" pitchFamily="34" charset="0"/>
                <a:ea typeface="Calibri" pitchFamily="34" charset="-122"/>
                <a:cs typeface="Calibri" pitchFamily="34" charset="-120"/>
              </a:rPr>
              <a:t>Exposed service</a:t>
            </a:r>
            <a:endParaRPr lang="en-US" sz="1150" dirty="0"/>
          </a:p>
        </p:txBody>
      </p:sp>
      <p:sp>
        <p:nvSpPr>
          <p:cNvPr id="9" name="Shape 7"/>
          <p:cNvSpPr/>
          <p:nvPr/>
        </p:nvSpPr>
        <p:spPr>
          <a:xfrm>
            <a:off x="2468880" y="3063240"/>
            <a:ext cx="841248" cy="457200"/>
          </a:xfrm>
          <a:prstGeom prst="roundRect">
            <a:avLst>
              <a:gd name="adj" fmla="val 50000"/>
            </a:avLst>
          </a:prstGeom>
          <a:solidFill>
            <a:srgbClr val="0F1A16"/>
          </a:solidFill>
          <a:ln w="12700">
            <a:solidFill>
              <a:srgbClr val="F2617A"/>
            </a:solidFill>
            <a:prstDash val="solid"/>
          </a:ln>
        </p:spPr>
      </p:sp>
      <p:sp>
        <p:nvSpPr>
          <p:cNvPr id="10" name="Text 8"/>
          <p:cNvSpPr/>
          <p:nvPr/>
        </p:nvSpPr>
        <p:spPr>
          <a:xfrm>
            <a:off x="2468880" y="3063240"/>
            <a:ext cx="841248" cy="457200"/>
          </a:xfrm>
          <a:prstGeom prst="rect">
            <a:avLst/>
          </a:prstGeom>
          <a:noFill/>
          <a:ln/>
        </p:spPr>
        <p:txBody>
          <a:bodyPr wrap="square" lIns="0" tIns="0" rIns="0" bIns="0" rtlCol="0" anchor="ctr"/>
          <a:lstStyle/>
          <a:p>
            <a:pPr algn="ctr" indent="0" marL="0">
              <a:buNone/>
            </a:pPr>
            <a:r>
              <a:rPr lang="en-US" sz="1150" strike="sngStrike" dirty="0">
                <a:solidFill>
                  <a:srgbClr val="9DAFC2"/>
                </a:solidFill>
                <a:latin typeface="Calibri" pitchFamily="34" charset="0"/>
                <a:ea typeface="Calibri" pitchFamily="34" charset="-122"/>
                <a:cs typeface="Calibri" pitchFamily="34" charset="-120"/>
              </a:rPr>
              <a:t>A CVE</a:t>
            </a:r>
            <a:endParaRPr lang="en-US" sz="1150" dirty="0"/>
          </a:p>
        </p:txBody>
      </p:sp>
      <p:sp>
        <p:nvSpPr>
          <p:cNvPr id="11" name="Shape 9"/>
          <p:cNvSpPr/>
          <p:nvPr/>
        </p:nvSpPr>
        <p:spPr>
          <a:xfrm>
            <a:off x="3474720" y="3063240"/>
            <a:ext cx="1298448" cy="457200"/>
          </a:xfrm>
          <a:prstGeom prst="roundRect">
            <a:avLst>
              <a:gd name="adj" fmla="val 50000"/>
            </a:avLst>
          </a:prstGeom>
          <a:solidFill>
            <a:srgbClr val="0F1A16"/>
          </a:solidFill>
          <a:ln w="12700">
            <a:solidFill>
              <a:srgbClr val="F2617A"/>
            </a:solidFill>
            <a:prstDash val="solid"/>
          </a:ln>
        </p:spPr>
      </p:sp>
      <p:sp>
        <p:nvSpPr>
          <p:cNvPr id="12" name="Text 10"/>
          <p:cNvSpPr/>
          <p:nvPr/>
        </p:nvSpPr>
        <p:spPr>
          <a:xfrm>
            <a:off x="3474720" y="3063240"/>
            <a:ext cx="1298448" cy="457200"/>
          </a:xfrm>
          <a:prstGeom prst="rect">
            <a:avLst/>
          </a:prstGeom>
          <a:noFill/>
          <a:ln/>
        </p:spPr>
        <p:txBody>
          <a:bodyPr wrap="square" lIns="0" tIns="0" rIns="0" bIns="0" rtlCol="0" anchor="ctr"/>
          <a:lstStyle/>
          <a:p>
            <a:pPr algn="ctr" indent="0" marL="0">
              <a:buNone/>
            </a:pPr>
            <a:r>
              <a:rPr lang="en-US" sz="1150" strike="sngStrike" dirty="0">
                <a:solidFill>
                  <a:srgbClr val="9DAFC2"/>
                </a:solidFill>
                <a:latin typeface="Calibri" pitchFamily="34" charset="0"/>
                <a:ea typeface="Calibri" pitchFamily="34" charset="-122"/>
                <a:cs typeface="Calibri" pitchFamily="34" charset="-120"/>
              </a:rPr>
              <a:t>KEV / EPSS</a:t>
            </a:r>
            <a:endParaRPr lang="en-US" sz="1150" dirty="0"/>
          </a:p>
        </p:txBody>
      </p:sp>
      <p:sp>
        <p:nvSpPr>
          <p:cNvPr id="13" name="Shape 11"/>
          <p:cNvSpPr/>
          <p:nvPr/>
        </p:nvSpPr>
        <p:spPr>
          <a:xfrm>
            <a:off x="4937760" y="3063240"/>
            <a:ext cx="1847088" cy="457200"/>
          </a:xfrm>
          <a:prstGeom prst="roundRect">
            <a:avLst>
              <a:gd name="adj" fmla="val 50000"/>
            </a:avLst>
          </a:prstGeom>
          <a:solidFill>
            <a:srgbClr val="0F1A16"/>
          </a:solidFill>
          <a:ln w="12700">
            <a:solidFill>
              <a:srgbClr val="F2617A"/>
            </a:solidFill>
            <a:prstDash val="solid"/>
          </a:ln>
        </p:spPr>
      </p:sp>
      <p:sp>
        <p:nvSpPr>
          <p:cNvPr id="14" name="Text 12"/>
          <p:cNvSpPr/>
          <p:nvPr/>
        </p:nvSpPr>
        <p:spPr>
          <a:xfrm>
            <a:off x="4937760" y="3063240"/>
            <a:ext cx="1847088" cy="457200"/>
          </a:xfrm>
          <a:prstGeom prst="rect">
            <a:avLst/>
          </a:prstGeom>
          <a:noFill/>
          <a:ln/>
        </p:spPr>
        <p:txBody>
          <a:bodyPr wrap="square" lIns="0" tIns="0" rIns="0" bIns="0" rtlCol="0" anchor="ctr"/>
          <a:lstStyle/>
          <a:p>
            <a:pPr algn="ctr" indent="0" marL="0">
              <a:buNone/>
            </a:pPr>
            <a:r>
              <a:rPr lang="en-US" sz="1150" strike="sngStrike" dirty="0">
                <a:solidFill>
                  <a:srgbClr val="9DAFC2"/>
                </a:solidFill>
                <a:latin typeface="Calibri" pitchFamily="34" charset="0"/>
                <a:ea typeface="Calibri" pitchFamily="34" charset="-122"/>
                <a:cs typeface="Calibri" pitchFamily="34" charset="-120"/>
              </a:rPr>
              <a:t>Reputation score</a:t>
            </a:r>
            <a:endParaRPr lang="en-US" sz="1150" dirty="0"/>
          </a:p>
        </p:txBody>
      </p:sp>
      <p:sp>
        <p:nvSpPr>
          <p:cNvPr id="15" name="Shape 13"/>
          <p:cNvSpPr/>
          <p:nvPr/>
        </p:nvSpPr>
        <p:spPr>
          <a:xfrm>
            <a:off x="6949440" y="3063240"/>
            <a:ext cx="1298448" cy="457200"/>
          </a:xfrm>
          <a:prstGeom prst="roundRect">
            <a:avLst>
              <a:gd name="adj" fmla="val 50000"/>
            </a:avLst>
          </a:prstGeom>
          <a:solidFill>
            <a:srgbClr val="0F1A16"/>
          </a:solidFill>
          <a:ln w="12700">
            <a:solidFill>
              <a:srgbClr val="F2617A"/>
            </a:solidFill>
            <a:prstDash val="solid"/>
          </a:ln>
        </p:spPr>
      </p:sp>
      <p:sp>
        <p:nvSpPr>
          <p:cNvPr id="16" name="Text 14"/>
          <p:cNvSpPr/>
          <p:nvPr/>
        </p:nvSpPr>
        <p:spPr>
          <a:xfrm>
            <a:off x="6949440" y="3063240"/>
            <a:ext cx="1298448" cy="457200"/>
          </a:xfrm>
          <a:prstGeom prst="rect">
            <a:avLst/>
          </a:prstGeom>
          <a:noFill/>
          <a:ln/>
        </p:spPr>
        <p:txBody>
          <a:bodyPr wrap="square" lIns="0" tIns="0" rIns="0" bIns="0" rtlCol="0" anchor="ctr"/>
          <a:lstStyle/>
          <a:p>
            <a:pPr algn="ctr" indent="0" marL="0">
              <a:buNone/>
            </a:pPr>
            <a:r>
              <a:rPr lang="en-US" sz="1150" strike="sngStrike" dirty="0">
                <a:solidFill>
                  <a:srgbClr val="9DAFC2"/>
                </a:solidFill>
                <a:latin typeface="Calibri" pitchFamily="34" charset="0"/>
                <a:ea typeface="Calibri" pitchFamily="34" charset="-122"/>
                <a:cs typeface="Calibri" pitchFamily="34" charset="-120"/>
              </a:rPr>
              <a:t>Risk score</a:t>
            </a:r>
            <a:endParaRPr lang="en-US" sz="1150" dirty="0"/>
          </a:p>
        </p:txBody>
      </p:sp>
      <p:sp>
        <p:nvSpPr>
          <p:cNvPr id="17" name="Text 15"/>
          <p:cNvSpPr/>
          <p:nvPr/>
        </p:nvSpPr>
        <p:spPr>
          <a:xfrm>
            <a:off x="8458200" y="3063240"/>
            <a:ext cx="2743200" cy="457200"/>
          </a:xfrm>
          <a:prstGeom prst="rect">
            <a:avLst/>
          </a:prstGeom>
          <a:noFill/>
          <a:ln/>
        </p:spPr>
        <p:txBody>
          <a:bodyPr wrap="square" lIns="0" tIns="0" rIns="0" bIns="0" rtlCol="0" anchor="ctr"/>
          <a:lstStyle/>
          <a:p>
            <a:pPr indent="0" marL="0">
              <a:buNone/>
            </a:pPr>
            <a:r>
              <a:rPr lang="en-US" sz="1200" i="1" dirty="0">
                <a:solidFill>
                  <a:srgbClr val="9DAFC2"/>
                </a:solidFill>
                <a:latin typeface="Calibri" pitchFamily="34" charset="0"/>
                <a:ea typeface="Calibri" pitchFamily="34" charset="-122"/>
                <a:cs typeface="Calibri" pitchFamily="34" charset="-120"/>
              </a:rPr>
              <a:t>— each individually insufficient</a:t>
            </a:r>
            <a:endParaRPr lang="en-US" sz="1200" dirty="0"/>
          </a:p>
        </p:txBody>
      </p:sp>
      <p:sp>
        <p:nvSpPr>
          <p:cNvPr id="18" name="Shape 16"/>
          <p:cNvSpPr/>
          <p:nvPr/>
        </p:nvSpPr>
        <p:spPr>
          <a:xfrm>
            <a:off x="548640" y="3977640"/>
            <a:ext cx="4206240" cy="594360"/>
          </a:xfrm>
          <a:prstGeom prst="roundRect">
            <a:avLst>
              <a:gd name="adj" fmla="val 49231"/>
            </a:avLst>
          </a:prstGeom>
          <a:solidFill>
            <a:srgbClr val="0F1A16"/>
          </a:solidFill>
          <a:ln w="19050">
            <a:solidFill>
              <a:srgbClr val="35C477"/>
            </a:solidFill>
            <a:prstDash val="solid"/>
          </a:ln>
        </p:spPr>
      </p:sp>
      <p:sp>
        <p:nvSpPr>
          <p:cNvPr id="19" name="Text 17"/>
          <p:cNvSpPr/>
          <p:nvPr/>
        </p:nvSpPr>
        <p:spPr>
          <a:xfrm>
            <a:off x="548640" y="3977640"/>
            <a:ext cx="4206240" cy="594360"/>
          </a:xfrm>
          <a:prstGeom prst="rect">
            <a:avLst/>
          </a:prstGeom>
          <a:noFill/>
          <a:ln/>
        </p:spPr>
        <p:txBody>
          <a:bodyPr wrap="square" lIns="0" tIns="0" rIns="0" bIns="0" rtlCol="0" anchor="ctr"/>
          <a:lstStyle/>
          <a:p>
            <a:pPr algn="ctr" indent="0" marL="0">
              <a:buNone/>
            </a:pPr>
            <a:r>
              <a:rPr lang="en-US" sz="1350" b="1" dirty="0">
                <a:solidFill>
                  <a:srgbClr val="35C477"/>
                </a:solidFill>
                <a:latin typeface="Calibri" pitchFamily="34" charset="0"/>
                <a:ea typeface="Calibri" pitchFamily="34" charset="-122"/>
                <a:cs typeface="Calibri" pitchFamily="34" charset="-120"/>
              </a:rPr>
              <a:t>Observed adversary behaviour — required</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SECURITY CONTROLS</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000" b="1" dirty="0">
                <a:solidFill>
                  <a:srgbClr val="EAF1F9"/>
                </a:solidFill>
                <a:latin typeface="Calibri" pitchFamily="34" charset="0"/>
                <a:ea typeface="Calibri" pitchFamily="34" charset="-122"/>
                <a:cs typeface="Calibri" pitchFamily="34" charset="-120"/>
              </a:rPr>
              <a:t>Four controls, stated specifically</a:t>
            </a:r>
            <a:endParaRPr lang="en-US" sz="30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11 / 17</a:t>
            </a:r>
            <a:endParaRPr lang="en-US" sz="1000" dirty="0"/>
          </a:p>
        </p:txBody>
      </p:sp>
      <p:sp>
        <p:nvSpPr>
          <p:cNvPr id="6" name="Shape 4"/>
          <p:cNvSpPr/>
          <p:nvPr/>
        </p:nvSpPr>
        <p:spPr>
          <a:xfrm>
            <a:off x="548640" y="2011680"/>
            <a:ext cx="5432908" cy="1554480"/>
          </a:xfrm>
          <a:prstGeom prst="roundRect">
            <a:avLst>
              <a:gd name="adj" fmla="val 4706"/>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7" name="Text 5"/>
          <p:cNvSpPr/>
          <p:nvPr/>
        </p:nvSpPr>
        <p:spPr>
          <a:xfrm>
            <a:off x="749808" y="2157984"/>
            <a:ext cx="5030572" cy="365760"/>
          </a:xfrm>
          <a:prstGeom prst="rect">
            <a:avLst/>
          </a:prstGeom>
          <a:noFill/>
          <a:ln/>
        </p:spPr>
        <p:txBody>
          <a:bodyPr wrap="square" lIns="0" tIns="0" rIns="0" bIns="0" rtlCol="0" anchor="t"/>
          <a:lstStyle/>
          <a:p>
            <a:pPr indent="0" marL="0">
              <a:buNone/>
            </a:pPr>
            <a:r>
              <a:rPr lang="en-US" sz="1700" b="1" dirty="0">
                <a:solidFill>
                  <a:srgbClr val="EAF1F9"/>
                </a:solidFill>
                <a:latin typeface="Calibri" pitchFamily="34" charset="0"/>
                <a:ea typeface="Calibri" pitchFamily="34" charset="-122"/>
                <a:cs typeface="Calibri" pitchFamily="34" charset="-120"/>
              </a:rPr>
              <a:t>Capability-based RBAC</a:t>
            </a:r>
            <a:endParaRPr lang="en-US" sz="1700" dirty="0"/>
          </a:p>
        </p:txBody>
      </p:sp>
      <p:sp>
        <p:nvSpPr>
          <p:cNvPr id="8" name="Text 6"/>
          <p:cNvSpPr/>
          <p:nvPr/>
        </p:nvSpPr>
        <p:spPr>
          <a:xfrm>
            <a:off x="749808" y="2523744"/>
            <a:ext cx="5030572" cy="932688"/>
          </a:xfrm>
          <a:prstGeom prst="rect">
            <a:avLst/>
          </a:prstGeom>
          <a:noFill/>
          <a:ln/>
        </p:spPr>
        <p:txBody>
          <a:bodyPr wrap="square" lIns="0" tIns="0" rIns="0" bIns="0" rtlCol="0" anchor="t"/>
          <a:lstStyle/>
          <a:p>
            <a:pPr indent="0" marL="0">
              <a:lnSpc>
                <a:spcPct val="110000"/>
              </a:lnSpc>
              <a:buNone/>
            </a:pPr>
            <a:r>
              <a:rPr lang="en-US" sz="1300" dirty="0">
                <a:solidFill>
                  <a:srgbClr val="9DAFC2"/>
                </a:solidFill>
                <a:latin typeface="Calibri" pitchFamily="34" charset="0"/>
                <a:ea typeface="Calibri" pitchFamily="34" charset="-122"/>
                <a:cs typeface="Calibri" pitchFamily="34" charset="-120"/>
              </a:rPr>
              <a:t>Backend is the only enforcement boundary. No role inherits another's authority.</a:t>
            </a:r>
            <a:endParaRPr lang="en-US" sz="1300" dirty="0"/>
          </a:p>
        </p:txBody>
      </p:sp>
      <p:sp>
        <p:nvSpPr>
          <p:cNvPr id="9" name="Shape 7"/>
          <p:cNvSpPr/>
          <p:nvPr/>
        </p:nvSpPr>
        <p:spPr>
          <a:xfrm>
            <a:off x="6210148" y="2011680"/>
            <a:ext cx="5432908" cy="1554480"/>
          </a:xfrm>
          <a:prstGeom prst="roundRect">
            <a:avLst>
              <a:gd name="adj" fmla="val 4706"/>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10" name="Text 8"/>
          <p:cNvSpPr/>
          <p:nvPr/>
        </p:nvSpPr>
        <p:spPr>
          <a:xfrm>
            <a:off x="6411316" y="2157984"/>
            <a:ext cx="5030572" cy="365760"/>
          </a:xfrm>
          <a:prstGeom prst="rect">
            <a:avLst/>
          </a:prstGeom>
          <a:noFill/>
          <a:ln/>
        </p:spPr>
        <p:txBody>
          <a:bodyPr wrap="square" lIns="0" tIns="0" rIns="0" bIns="0" rtlCol="0" anchor="t"/>
          <a:lstStyle/>
          <a:p>
            <a:pPr indent="0" marL="0">
              <a:buNone/>
            </a:pPr>
            <a:r>
              <a:rPr lang="en-US" sz="1700" b="1" dirty="0">
                <a:solidFill>
                  <a:srgbClr val="EAF1F9"/>
                </a:solidFill>
                <a:latin typeface="Calibri" pitchFamily="34" charset="0"/>
                <a:ea typeface="Calibri" pitchFamily="34" charset="-122"/>
                <a:cs typeface="Calibri" pitchFamily="34" charset="-120"/>
              </a:rPr>
              <a:t>Audited writes</a:t>
            </a:r>
            <a:endParaRPr lang="en-US" sz="1700" dirty="0"/>
          </a:p>
        </p:txBody>
      </p:sp>
      <p:sp>
        <p:nvSpPr>
          <p:cNvPr id="11" name="Text 9"/>
          <p:cNvSpPr/>
          <p:nvPr/>
        </p:nvSpPr>
        <p:spPr>
          <a:xfrm>
            <a:off x="6411316" y="2523744"/>
            <a:ext cx="5030572" cy="932688"/>
          </a:xfrm>
          <a:prstGeom prst="rect">
            <a:avLst/>
          </a:prstGeom>
          <a:noFill/>
          <a:ln/>
        </p:spPr>
        <p:txBody>
          <a:bodyPr wrap="square" lIns="0" tIns="0" rIns="0" bIns="0" rtlCol="0" anchor="t"/>
          <a:lstStyle/>
          <a:p>
            <a:pPr indent="0" marL="0">
              <a:lnSpc>
                <a:spcPct val="110000"/>
              </a:lnSpc>
              <a:buNone/>
            </a:pPr>
            <a:r>
              <a:rPr lang="en-US" sz="1300" dirty="0">
                <a:solidFill>
                  <a:srgbClr val="9DAFC2"/>
                </a:solidFill>
                <a:latin typeface="Calibri" pitchFamily="34" charset="0"/>
                <a:ea typeface="Calibri" pitchFamily="34" charset="-122"/>
                <a:cs typeface="Calibri" pitchFamily="34" charset="-120"/>
              </a:rPr>
              <a:t>Every write is audited from the service layer — never the controller.</a:t>
            </a:r>
            <a:endParaRPr lang="en-US" sz="1300" dirty="0"/>
          </a:p>
        </p:txBody>
      </p:sp>
      <p:sp>
        <p:nvSpPr>
          <p:cNvPr id="12" name="Shape 10"/>
          <p:cNvSpPr/>
          <p:nvPr/>
        </p:nvSpPr>
        <p:spPr>
          <a:xfrm>
            <a:off x="548640" y="3794760"/>
            <a:ext cx="5432908" cy="1554480"/>
          </a:xfrm>
          <a:prstGeom prst="roundRect">
            <a:avLst>
              <a:gd name="adj" fmla="val 4706"/>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13" name="Text 11"/>
          <p:cNvSpPr/>
          <p:nvPr/>
        </p:nvSpPr>
        <p:spPr>
          <a:xfrm>
            <a:off x="749808" y="3941064"/>
            <a:ext cx="5030572" cy="365760"/>
          </a:xfrm>
          <a:prstGeom prst="rect">
            <a:avLst/>
          </a:prstGeom>
          <a:noFill/>
          <a:ln/>
        </p:spPr>
        <p:txBody>
          <a:bodyPr wrap="square" lIns="0" tIns="0" rIns="0" bIns="0" rtlCol="0" anchor="t"/>
          <a:lstStyle/>
          <a:p>
            <a:pPr indent="0" marL="0">
              <a:buNone/>
            </a:pPr>
            <a:r>
              <a:rPr lang="en-US" sz="1700" b="1" dirty="0">
                <a:solidFill>
                  <a:srgbClr val="EAF1F9"/>
                </a:solidFill>
                <a:latin typeface="Calibri" pitchFamily="34" charset="0"/>
                <a:ea typeface="Calibri" pitchFamily="34" charset="-122"/>
                <a:cs typeface="Calibri" pitchFamily="34" charset="-120"/>
              </a:rPr>
              <a:t>Rate limiting</a:t>
            </a:r>
            <a:endParaRPr lang="en-US" sz="1700" dirty="0"/>
          </a:p>
        </p:txBody>
      </p:sp>
      <p:sp>
        <p:nvSpPr>
          <p:cNvPr id="14" name="Text 12"/>
          <p:cNvSpPr/>
          <p:nvPr/>
        </p:nvSpPr>
        <p:spPr>
          <a:xfrm>
            <a:off x="749808" y="4306824"/>
            <a:ext cx="5030572" cy="932688"/>
          </a:xfrm>
          <a:prstGeom prst="rect">
            <a:avLst/>
          </a:prstGeom>
          <a:noFill/>
          <a:ln/>
        </p:spPr>
        <p:txBody>
          <a:bodyPr wrap="square" lIns="0" tIns="0" rIns="0" bIns="0" rtlCol="0" anchor="t"/>
          <a:lstStyle/>
          <a:p>
            <a:pPr indent="0" marL="0">
              <a:lnSpc>
                <a:spcPct val="110000"/>
              </a:lnSpc>
              <a:buNone/>
            </a:pPr>
            <a:r>
              <a:rPr lang="en-US" sz="1300" dirty="0">
                <a:solidFill>
                  <a:srgbClr val="9DAFC2"/>
                </a:solidFill>
                <a:latin typeface="Calibri" pitchFamily="34" charset="0"/>
                <a:ea typeface="Calibri" pitchFamily="34" charset="-122"/>
                <a:cs typeface="Calibri" pitchFamily="34" charset="-120"/>
              </a:rPr>
              <a:t>Independent buckets for auth, upload, and provider execution.</a:t>
            </a:r>
            <a:endParaRPr lang="en-US" sz="1300" dirty="0"/>
          </a:p>
        </p:txBody>
      </p:sp>
      <p:sp>
        <p:nvSpPr>
          <p:cNvPr id="15" name="Shape 13"/>
          <p:cNvSpPr/>
          <p:nvPr/>
        </p:nvSpPr>
        <p:spPr>
          <a:xfrm>
            <a:off x="6210148" y="3794760"/>
            <a:ext cx="5432908" cy="1554480"/>
          </a:xfrm>
          <a:prstGeom prst="roundRect">
            <a:avLst>
              <a:gd name="adj" fmla="val 4706"/>
            </a:avLst>
          </a:prstGeom>
          <a:solidFill>
            <a:srgbClr val="0F1A16"/>
          </a:solidFill>
          <a:ln w="12700">
            <a:solidFill>
              <a:srgbClr val="1C2B24"/>
            </a:solidFill>
            <a:prstDash val="solid"/>
          </a:ln>
          <a:effectLst>
            <a:outerShdw sx="100000" sy="100000" kx="0" ky="0" algn="bl" rotWithShape="0" blurRad="76200" dist="25400" dir="5400000">
              <a:srgbClr val="000000">
                <a:alpha val="35000"/>
              </a:srgbClr>
            </a:outerShdw>
          </a:effectLst>
        </p:spPr>
      </p:sp>
      <p:sp>
        <p:nvSpPr>
          <p:cNvPr id="16" name="Text 14"/>
          <p:cNvSpPr/>
          <p:nvPr/>
        </p:nvSpPr>
        <p:spPr>
          <a:xfrm>
            <a:off x="6411316" y="3941064"/>
            <a:ext cx="5030572" cy="365760"/>
          </a:xfrm>
          <a:prstGeom prst="rect">
            <a:avLst/>
          </a:prstGeom>
          <a:noFill/>
          <a:ln/>
        </p:spPr>
        <p:txBody>
          <a:bodyPr wrap="square" lIns="0" tIns="0" rIns="0" bIns="0" rtlCol="0" anchor="t"/>
          <a:lstStyle/>
          <a:p>
            <a:pPr indent="0" marL="0">
              <a:buNone/>
            </a:pPr>
            <a:r>
              <a:rPr lang="en-US" sz="1700" b="1" dirty="0">
                <a:solidFill>
                  <a:srgbClr val="EAF1F9"/>
                </a:solidFill>
                <a:latin typeface="Calibri" pitchFamily="34" charset="0"/>
                <a:ea typeface="Calibri" pitchFamily="34" charset="-122"/>
                <a:cs typeface="Calibri" pitchFamily="34" charset="-120"/>
              </a:rPr>
              <a:t>Secret redaction</a:t>
            </a:r>
            <a:endParaRPr lang="en-US" sz="1700" dirty="0"/>
          </a:p>
        </p:txBody>
      </p:sp>
      <p:sp>
        <p:nvSpPr>
          <p:cNvPr id="17" name="Text 15"/>
          <p:cNvSpPr/>
          <p:nvPr/>
        </p:nvSpPr>
        <p:spPr>
          <a:xfrm>
            <a:off x="6411316" y="4306824"/>
            <a:ext cx="5030572" cy="932688"/>
          </a:xfrm>
          <a:prstGeom prst="rect">
            <a:avLst/>
          </a:prstGeom>
          <a:noFill/>
          <a:ln/>
        </p:spPr>
        <p:txBody>
          <a:bodyPr wrap="square" lIns="0" tIns="0" rIns="0" bIns="0" rtlCol="0" anchor="t"/>
          <a:lstStyle/>
          <a:p>
            <a:pPr indent="0" marL="0">
              <a:lnSpc>
                <a:spcPct val="110000"/>
              </a:lnSpc>
              <a:buNone/>
            </a:pPr>
            <a:r>
              <a:rPr lang="en-US" sz="1300" dirty="0">
                <a:solidFill>
                  <a:srgbClr val="9DAFC2"/>
                </a:solidFill>
                <a:latin typeface="Calibri" pitchFamily="34" charset="0"/>
                <a:ea typeface="Calibri" pitchFamily="34" charset="-122"/>
                <a:cs typeface="Calibri" pitchFamily="34" charset="-120"/>
              </a:rPr>
              <a:t>No secret ever reaches a log, a response, or the browser bundle — checked every CI push.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200" b="1" dirty="0">
                <a:solidFill>
                  <a:srgbClr val="EAF1F9"/>
                </a:solidFill>
                <a:latin typeface="Calibri" pitchFamily="34" charset="0"/>
                <a:ea typeface="Calibri" pitchFamily="34" charset="-122"/>
                <a:cs typeface="Calibri" pitchFamily="34" charset="-120"/>
              </a:rPr>
              <a:t>One door in, one door out</a:t>
            </a:r>
            <a:endParaRPr lang="en-US" sz="32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12 / 17</a:t>
            </a:r>
            <a:endParaRPr lang="en-US" sz="1000" dirty="0"/>
          </a:p>
        </p:txBody>
      </p:sp>
      <p:sp>
        <p:nvSpPr>
          <p:cNvPr id="6" name="Shape 4"/>
          <p:cNvSpPr/>
          <p:nvPr/>
        </p:nvSpPr>
        <p:spPr>
          <a:xfrm>
            <a:off x="822960" y="2286000"/>
            <a:ext cx="2011680" cy="1005840"/>
          </a:xfrm>
          <a:prstGeom prst="roundRect">
            <a:avLst>
              <a:gd name="adj" fmla="val 5455"/>
            </a:avLst>
          </a:prstGeom>
          <a:solidFill>
            <a:srgbClr val="0F1A16"/>
          </a:solidFill>
          <a:ln w="12700">
            <a:solidFill>
              <a:srgbClr val="35C477"/>
            </a:solidFill>
            <a:prstDash val="solid"/>
          </a:ln>
        </p:spPr>
      </p:sp>
      <p:sp>
        <p:nvSpPr>
          <p:cNvPr id="7" name="Text 5"/>
          <p:cNvSpPr/>
          <p:nvPr/>
        </p:nvSpPr>
        <p:spPr>
          <a:xfrm>
            <a:off x="868680" y="2286000"/>
            <a:ext cx="1920240" cy="100584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Frontend</a:t>
            </a:r>
            <a:endParaRPr lang="en-US" sz="1250" dirty="0"/>
          </a:p>
          <a:p>
            <a:pPr algn="ctr" indent="0" marL="0">
              <a:buNone/>
            </a:pPr>
            <a:r>
              <a:rPr lang="en-US" sz="900" dirty="0">
                <a:solidFill>
                  <a:srgbClr val="9DAFC2"/>
                </a:solidFill>
                <a:latin typeface="Calibri" pitchFamily="34" charset="0"/>
                <a:ea typeface="Calibri" pitchFamily="34" charset="-122"/>
                <a:cs typeface="Calibri" pitchFamily="34" charset="-120"/>
              </a:rPr>
              <a:t>React · Vite</a:t>
            </a:r>
            <a:endParaRPr lang="en-US" sz="1250" dirty="0"/>
          </a:p>
        </p:txBody>
      </p:sp>
      <p:sp>
        <p:nvSpPr>
          <p:cNvPr id="8" name="Shape 6"/>
          <p:cNvSpPr/>
          <p:nvPr/>
        </p:nvSpPr>
        <p:spPr>
          <a:xfrm>
            <a:off x="2834640" y="2651760"/>
            <a:ext cx="274320" cy="274320"/>
          </a:xfrm>
          <a:prstGeom prst="rightArrow">
            <a:avLst/>
          </a:prstGeom>
          <a:solidFill>
            <a:srgbClr val="35C477"/>
          </a:solidFill>
          <a:ln/>
        </p:spPr>
      </p:sp>
      <p:sp>
        <p:nvSpPr>
          <p:cNvPr id="9" name="Shape 7"/>
          <p:cNvSpPr/>
          <p:nvPr/>
        </p:nvSpPr>
        <p:spPr>
          <a:xfrm>
            <a:off x="3108960" y="2286000"/>
            <a:ext cx="2011680" cy="1005840"/>
          </a:xfrm>
          <a:prstGeom prst="roundRect">
            <a:avLst>
              <a:gd name="adj" fmla="val 5455"/>
            </a:avLst>
          </a:prstGeom>
          <a:solidFill>
            <a:srgbClr val="0F1A16"/>
          </a:solidFill>
          <a:ln w="12700">
            <a:solidFill>
              <a:srgbClr val="35C477"/>
            </a:solidFill>
            <a:prstDash val="solid"/>
          </a:ln>
        </p:spPr>
      </p:sp>
      <p:sp>
        <p:nvSpPr>
          <p:cNvPr id="10" name="Text 8"/>
          <p:cNvSpPr/>
          <p:nvPr/>
        </p:nvSpPr>
        <p:spPr>
          <a:xfrm>
            <a:off x="3154680" y="2286000"/>
            <a:ext cx="1920240" cy="100584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REST API</a:t>
            </a:r>
            <a:endParaRPr lang="en-US" sz="1250" dirty="0"/>
          </a:p>
          <a:p>
            <a:pPr algn="ctr" indent="0" marL="0">
              <a:buNone/>
            </a:pPr>
            <a:r>
              <a:rPr lang="en-US" sz="900" dirty="0">
                <a:solidFill>
                  <a:srgbClr val="9DAFC2"/>
                </a:solidFill>
                <a:latin typeface="Calibri" pitchFamily="34" charset="0"/>
                <a:ea typeface="Calibri" pitchFamily="34" charset="-122"/>
                <a:cs typeface="Calibri" pitchFamily="34" charset="-120"/>
              </a:rPr>
              <a:t>Express</a:t>
            </a:r>
            <a:endParaRPr lang="en-US" sz="1250" dirty="0"/>
          </a:p>
        </p:txBody>
      </p:sp>
      <p:sp>
        <p:nvSpPr>
          <p:cNvPr id="11" name="Shape 9"/>
          <p:cNvSpPr/>
          <p:nvPr/>
        </p:nvSpPr>
        <p:spPr>
          <a:xfrm>
            <a:off x="5120640" y="2651760"/>
            <a:ext cx="274320" cy="274320"/>
          </a:xfrm>
          <a:prstGeom prst="rightArrow">
            <a:avLst/>
          </a:prstGeom>
          <a:solidFill>
            <a:srgbClr val="35C477"/>
          </a:solidFill>
          <a:ln/>
        </p:spPr>
      </p:sp>
      <p:sp>
        <p:nvSpPr>
          <p:cNvPr id="12" name="Shape 10"/>
          <p:cNvSpPr/>
          <p:nvPr/>
        </p:nvSpPr>
        <p:spPr>
          <a:xfrm>
            <a:off x="5394960" y="2286000"/>
            <a:ext cx="2011680" cy="1005840"/>
          </a:xfrm>
          <a:prstGeom prst="roundRect">
            <a:avLst>
              <a:gd name="adj" fmla="val 5455"/>
            </a:avLst>
          </a:prstGeom>
          <a:solidFill>
            <a:srgbClr val="0F1A16"/>
          </a:solidFill>
          <a:ln w="12700">
            <a:solidFill>
              <a:srgbClr val="35C477"/>
            </a:solidFill>
            <a:prstDash val="solid"/>
          </a:ln>
        </p:spPr>
      </p:sp>
      <p:sp>
        <p:nvSpPr>
          <p:cNvPr id="13" name="Text 11"/>
          <p:cNvSpPr/>
          <p:nvPr/>
        </p:nvSpPr>
        <p:spPr>
          <a:xfrm>
            <a:off x="5440680" y="2286000"/>
            <a:ext cx="1920240" cy="100584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Services</a:t>
            </a:r>
            <a:endParaRPr lang="en-US" sz="1250" dirty="0"/>
          </a:p>
          <a:p>
            <a:pPr algn="ctr" indent="0" marL="0">
              <a:buNone/>
            </a:pPr>
            <a:r>
              <a:rPr lang="en-US" sz="900" dirty="0">
                <a:solidFill>
                  <a:srgbClr val="9DAFC2"/>
                </a:solidFill>
                <a:latin typeface="Calibri" pitchFamily="34" charset="0"/>
                <a:ea typeface="Calibri" pitchFamily="34" charset="-122"/>
                <a:cs typeface="Calibri" pitchFamily="34" charset="-120"/>
              </a:rPr>
              <a:t>domain logic</a:t>
            </a:r>
            <a:endParaRPr lang="en-US" sz="1250" dirty="0"/>
          </a:p>
        </p:txBody>
      </p:sp>
      <p:sp>
        <p:nvSpPr>
          <p:cNvPr id="14" name="Shape 12"/>
          <p:cNvSpPr/>
          <p:nvPr/>
        </p:nvSpPr>
        <p:spPr>
          <a:xfrm>
            <a:off x="7406640" y="2651760"/>
            <a:ext cx="274320" cy="274320"/>
          </a:xfrm>
          <a:prstGeom prst="rightArrow">
            <a:avLst/>
          </a:prstGeom>
          <a:solidFill>
            <a:srgbClr val="35C477"/>
          </a:solidFill>
          <a:ln/>
        </p:spPr>
      </p:sp>
      <p:sp>
        <p:nvSpPr>
          <p:cNvPr id="15" name="Shape 13"/>
          <p:cNvSpPr/>
          <p:nvPr/>
        </p:nvSpPr>
        <p:spPr>
          <a:xfrm>
            <a:off x="7680960" y="2286000"/>
            <a:ext cx="2011680" cy="1005840"/>
          </a:xfrm>
          <a:prstGeom prst="roundRect">
            <a:avLst>
              <a:gd name="adj" fmla="val 5455"/>
            </a:avLst>
          </a:prstGeom>
          <a:solidFill>
            <a:srgbClr val="0F1A16"/>
          </a:solidFill>
          <a:ln w="12700">
            <a:solidFill>
              <a:srgbClr val="35C477"/>
            </a:solidFill>
            <a:prstDash val="solid"/>
          </a:ln>
        </p:spPr>
      </p:sp>
      <p:sp>
        <p:nvSpPr>
          <p:cNvPr id="16" name="Text 14"/>
          <p:cNvSpPr/>
          <p:nvPr/>
        </p:nvSpPr>
        <p:spPr>
          <a:xfrm>
            <a:off x="7726680" y="2286000"/>
            <a:ext cx="1920240" cy="100584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PostgreSQL</a:t>
            </a:r>
            <a:endParaRPr lang="en-US" sz="1250" dirty="0"/>
          </a:p>
          <a:p>
            <a:pPr algn="ctr" indent="0" marL="0">
              <a:buNone/>
            </a:pPr>
            <a:r>
              <a:rPr lang="en-US" sz="900" dirty="0">
                <a:solidFill>
                  <a:srgbClr val="9DAFC2"/>
                </a:solidFill>
                <a:latin typeface="Calibri" pitchFamily="34" charset="0"/>
                <a:ea typeface="Calibri" pitchFamily="34" charset="-122"/>
                <a:cs typeface="Calibri" pitchFamily="34" charset="-120"/>
              </a:rPr>
              <a:t>via Prisma</a:t>
            </a:r>
            <a:endParaRPr lang="en-US" sz="1250" dirty="0"/>
          </a:p>
        </p:txBody>
      </p:sp>
      <p:sp>
        <p:nvSpPr>
          <p:cNvPr id="17" name="Shape 15"/>
          <p:cNvSpPr/>
          <p:nvPr/>
        </p:nvSpPr>
        <p:spPr>
          <a:xfrm>
            <a:off x="6400800" y="3291840"/>
            <a:ext cx="0" cy="640080"/>
          </a:xfrm>
          <a:prstGeom prst="line">
            <a:avLst/>
          </a:prstGeom>
          <a:noFill/>
          <a:ln w="15875">
            <a:solidFill>
              <a:srgbClr val="9DAFC2"/>
            </a:solidFill>
            <a:prstDash val="dash"/>
          </a:ln>
        </p:spPr>
      </p:sp>
      <p:sp>
        <p:nvSpPr>
          <p:cNvPr id="18" name="Shape 16"/>
          <p:cNvSpPr/>
          <p:nvPr/>
        </p:nvSpPr>
        <p:spPr>
          <a:xfrm>
            <a:off x="5120640" y="3931920"/>
            <a:ext cx="2560320" cy="777240"/>
          </a:xfrm>
          <a:prstGeom prst="roundRect">
            <a:avLst>
              <a:gd name="adj" fmla="val 7059"/>
            </a:avLst>
          </a:prstGeom>
          <a:solidFill>
            <a:srgbClr val="0F1A16"/>
          </a:solidFill>
          <a:ln w="12700">
            <a:solidFill>
              <a:srgbClr val="35C477"/>
            </a:solidFill>
            <a:prstDash val="solid"/>
          </a:ln>
        </p:spPr>
      </p:sp>
      <p:sp>
        <p:nvSpPr>
          <p:cNvPr id="19" name="Text 17"/>
          <p:cNvSpPr/>
          <p:nvPr/>
        </p:nvSpPr>
        <p:spPr>
          <a:xfrm>
            <a:off x="5166360" y="3931920"/>
            <a:ext cx="2468880" cy="777240"/>
          </a:xfrm>
          <a:prstGeom prst="rect">
            <a:avLst/>
          </a:prstGeom>
          <a:noFill/>
          <a:ln/>
        </p:spPr>
        <p:txBody>
          <a:bodyPr wrap="square" lIns="0" tIns="0" rIns="0" bIns="0" rtlCol="0" anchor="ctr"/>
          <a:lstStyle/>
          <a:p>
            <a:pPr algn="ctr" indent="0" marL="0">
              <a:buNone/>
            </a:pPr>
            <a:r>
              <a:rPr lang="en-US" sz="1250" b="1" dirty="0">
                <a:solidFill>
                  <a:srgbClr val="EAF1F9"/>
                </a:solidFill>
                <a:latin typeface="Calibri" pitchFamily="34" charset="0"/>
                <a:ea typeface="Calibri" pitchFamily="34" charset="-122"/>
                <a:cs typeface="Calibri" pitchFamily="34" charset="-120"/>
              </a:rPr>
              <a:t>Provider adapters</a:t>
            </a:r>
            <a:endParaRPr lang="en-US" sz="1250" dirty="0"/>
          </a:p>
          <a:p>
            <a:pPr algn="ctr" indent="0" marL="0">
              <a:buNone/>
            </a:pPr>
            <a:r>
              <a:rPr lang="en-US" sz="900" dirty="0">
                <a:solidFill>
                  <a:srgbClr val="9DAFC2"/>
                </a:solidFill>
                <a:latin typeface="Calibri" pitchFamily="34" charset="0"/>
                <a:ea typeface="Calibri" pitchFamily="34" charset="-122"/>
                <a:cs typeface="Calibri" pitchFamily="34" charset="-120"/>
              </a:rPr>
              <a:t>human-triggered lookup only</a:t>
            </a:r>
            <a:endParaRPr lang="en-US" sz="1250" dirty="0"/>
          </a:p>
        </p:txBody>
      </p:sp>
      <p:sp>
        <p:nvSpPr>
          <p:cNvPr id="20" name="Text 18"/>
          <p:cNvSpPr/>
          <p:nvPr/>
        </p:nvSpPr>
        <p:spPr>
          <a:xfrm>
            <a:off x="548640" y="5349240"/>
            <a:ext cx="11094415" cy="640080"/>
          </a:xfrm>
          <a:prstGeom prst="rect">
            <a:avLst/>
          </a:prstGeom>
          <a:noFill/>
          <a:ln/>
        </p:spPr>
        <p:txBody>
          <a:bodyPr wrap="square" lIns="0" tIns="0" rIns="0" bIns="0" rtlCol="0" anchor="ctr"/>
          <a:lstStyle/>
          <a:p>
            <a:pPr algn="ctr" indent="0" marL="0">
              <a:buNone/>
            </a:pPr>
            <a:r>
              <a:rPr lang="en-US" sz="1400" i="1" dirty="0">
                <a:solidFill>
                  <a:srgbClr val="9DAFC2"/>
                </a:solidFill>
                <a:latin typeface="Calibri" pitchFamily="34" charset="0"/>
                <a:ea typeface="Calibri" pitchFamily="34" charset="-122"/>
                <a:cs typeface="Calibri" pitchFamily="34" charset="-120"/>
              </a:rPr>
              <a:t>The frontend never reaches a provider or the database directly — the backend is the only authorization boundary.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LIVE DEMONSTRATION</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000" b="1" dirty="0">
                <a:solidFill>
                  <a:srgbClr val="EAF1F9"/>
                </a:solidFill>
                <a:latin typeface="Calibri" pitchFamily="34" charset="0"/>
                <a:ea typeface="Calibri" pitchFamily="34" charset="-122"/>
                <a:cs typeface="Calibri" pitchFamily="34" charset="-120"/>
              </a:rPr>
              <a:t>What a PKCERT reviewer will see</a:t>
            </a:r>
            <a:endParaRPr lang="en-US" sz="30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13 / 17</a:t>
            </a:r>
            <a:endParaRPr lang="en-US" sz="1000" dirty="0"/>
          </a:p>
        </p:txBody>
      </p:sp>
      <p:sp>
        <p:nvSpPr>
          <p:cNvPr id="6" name="Shape 4"/>
          <p:cNvSpPr/>
          <p:nvPr/>
        </p:nvSpPr>
        <p:spPr>
          <a:xfrm>
            <a:off x="548640" y="1965960"/>
            <a:ext cx="384048" cy="384048"/>
          </a:xfrm>
          <a:prstGeom prst="ellipse">
            <a:avLst/>
          </a:prstGeom>
          <a:solidFill>
            <a:srgbClr val="0F1A16"/>
          </a:solidFill>
          <a:ln w="19050">
            <a:solidFill>
              <a:srgbClr val="35C477"/>
            </a:solidFill>
            <a:prstDash val="solid"/>
          </a:ln>
        </p:spPr>
      </p:sp>
      <p:sp>
        <p:nvSpPr>
          <p:cNvPr id="7" name="Text 5"/>
          <p:cNvSpPr/>
          <p:nvPr/>
        </p:nvSpPr>
        <p:spPr>
          <a:xfrm>
            <a:off x="548640" y="1965960"/>
            <a:ext cx="384048" cy="384048"/>
          </a:xfrm>
          <a:prstGeom prst="rect">
            <a:avLst/>
          </a:prstGeom>
          <a:noFill/>
          <a:ln/>
        </p:spPr>
        <p:txBody>
          <a:bodyPr wrap="square" lIns="0" tIns="0" rIns="0" bIns="0" rtlCol="0" anchor="ctr"/>
          <a:lstStyle/>
          <a:p>
            <a:pPr algn="ctr" indent="0" marL="0">
              <a:buNone/>
            </a:pPr>
            <a:r>
              <a:rPr lang="en-US" sz="1500" b="1" dirty="0">
                <a:solidFill>
                  <a:srgbClr val="35C477"/>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97280" y="1911096"/>
            <a:ext cx="10545775" cy="685800"/>
          </a:xfrm>
          <a:prstGeom prst="rect">
            <a:avLst/>
          </a:prstGeom>
          <a:noFill/>
          <a:ln/>
        </p:spPr>
        <p:txBody>
          <a:bodyPr wrap="square" lIns="0" tIns="0" rIns="0" bIns="0" rtlCol="0" anchor="t"/>
          <a:lstStyle/>
          <a:p>
            <a:pPr indent="0" marL="0">
              <a:buNone/>
            </a:pPr>
            <a:r>
              <a:rPr lang="en-US" sz="1600" b="1" dirty="0">
                <a:solidFill>
                  <a:srgbClr val="EAF1F9"/>
                </a:solidFill>
                <a:latin typeface="Calibri" pitchFamily="34" charset="0"/>
                <a:ea typeface="Calibri" pitchFamily="34" charset="-122"/>
                <a:cs typeface="Calibri" pitchFamily="34" charset="-120"/>
              </a:rPr>
              <a:t>Dashboard integrity model</a:t>
            </a:r>
            <a:endParaRPr lang="en-US" sz="1600" dirty="0"/>
          </a:p>
          <a:p>
            <a:pPr indent="0" marL="0">
              <a:buNone/>
            </a:pPr>
            <a:r>
              <a:rPr lang="en-US" sz="1250" dirty="0">
                <a:solidFill>
                  <a:srgbClr val="9DAFC2"/>
                </a:solidFill>
                <a:latin typeface="Calibri" pitchFamily="34" charset="0"/>
                <a:ea typeface="Calibri" pitchFamily="34" charset="-122"/>
                <a:cs typeface="Calibri" pitchFamily="34" charset="-120"/>
              </a:rPr>
              <a:t>Sourced figures, unknown never rendered as zero</a:t>
            </a:r>
            <a:endParaRPr lang="en-US" sz="1600" dirty="0"/>
          </a:p>
        </p:txBody>
      </p:sp>
      <p:sp>
        <p:nvSpPr>
          <p:cNvPr id="9" name="Shape 7"/>
          <p:cNvSpPr/>
          <p:nvPr/>
        </p:nvSpPr>
        <p:spPr>
          <a:xfrm>
            <a:off x="548640" y="2807208"/>
            <a:ext cx="384048" cy="384048"/>
          </a:xfrm>
          <a:prstGeom prst="ellipse">
            <a:avLst/>
          </a:prstGeom>
          <a:solidFill>
            <a:srgbClr val="0F1A16"/>
          </a:solidFill>
          <a:ln w="19050">
            <a:solidFill>
              <a:srgbClr val="35C477"/>
            </a:solidFill>
            <a:prstDash val="solid"/>
          </a:ln>
        </p:spPr>
      </p:sp>
      <p:sp>
        <p:nvSpPr>
          <p:cNvPr id="10" name="Text 8"/>
          <p:cNvSpPr/>
          <p:nvPr/>
        </p:nvSpPr>
        <p:spPr>
          <a:xfrm>
            <a:off x="548640" y="2807208"/>
            <a:ext cx="384048" cy="384048"/>
          </a:xfrm>
          <a:prstGeom prst="rect">
            <a:avLst/>
          </a:prstGeom>
          <a:noFill/>
          <a:ln/>
        </p:spPr>
        <p:txBody>
          <a:bodyPr wrap="square" lIns="0" tIns="0" rIns="0" bIns="0" rtlCol="0" anchor="ctr"/>
          <a:lstStyle/>
          <a:p>
            <a:pPr algn="ctr" indent="0" marL="0">
              <a:buNone/>
            </a:pPr>
            <a:r>
              <a:rPr lang="en-US" sz="1500" b="1" dirty="0">
                <a:solidFill>
                  <a:srgbClr val="35C477"/>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097280" y="2752344"/>
            <a:ext cx="10545775" cy="685800"/>
          </a:xfrm>
          <a:prstGeom prst="rect">
            <a:avLst/>
          </a:prstGeom>
          <a:noFill/>
          <a:ln/>
        </p:spPr>
        <p:txBody>
          <a:bodyPr wrap="square" lIns="0" tIns="0" rIns="0" bIns="0" rtlCol="0" anchor="t"/>
          <a:lstStyle/>
          <a:p>
            <a:pPr indent="0" marL="0">
              <a:buNone/>
            </a:pPr>
            <a:r>
              <a:rPr lang="en-US" sz="1600" b="1" dirty="0">
                <a:solidFill>
                  <a:srgbClr val="EAF1F9"/>
                </a:solidFill>
                <a:latin typeface="Calibri" pitchFamily="34" charset="0"/>
                <a:ea typeface="Calibri" pitchFamily="34" charset="-122"/>
                <a:cs typeface="Calibri" pitchFamily="34" charset="-120"/>
              </a:rPr>
              <a:t>A Finding's risk explanation</a:t>
            </a:r>
            <a:endParaRPr lang="en-US" sz="1600" dirty="0"/>
          </a:p>
          <a:p>
            <a:pPr indent="0" marL="0">
              <a:buNone/>
            </a:pPr>
            <a:r>
              <a:rPr lang="en-US" sz="1250" dirty="0">
                <a:solidFill>
                  <a:srgbClr val="9DAFC2"/>
                </a:solidFill>
                <a:latin typeface="Calibri" pitchFamily="34" charset="0"/>
                <a:ea typeface="Calibri" pitchFamily="34" charset="-122"/>
                <a:cs typeface="Calibri" pitchFamily="34" charset="-120"/>
              </a:rPr>
              <a:t>Applied / Not available / Not applicable, factor by factor</a:t>
            </a:r>
            <a:endParaRPr lang="en-US" sz="1600" dirty="0"/>
          </a:p>
        </p:txBody>
      </p:sp>
      <p:sp>
        <p:nvSpPr>
          <p:cNvPr id="12" name="Shape 10"/>
          <p:cNvSpPr/>
          <p:nvPr/>
        </p:nvSpPr>
        <p:spPr>
          <a:xfrm>
            <a:off x="548640" y="3648456"/>
            <a:ext cx="384048" cy="384048"/>
          </a:xfrm>
          <a:prstGeom prst="ellipse">
            <a:avLst/>
          </a:prstGeom>
          <a:solidFill>
            <a:srgbClr val="0F1A16"/>
          </a:solidFill>
          <a:ln w="19050">
            <a:solidFill>
              <a:srgbClr val="35C477"/>
            </a:solidFill>
            <a:prstDash val="solid"/>
          </a:ln>
        </p:spPr>
      </p:sp>
      <p:sp>
        <p:nvSpPr>
          <p:cNvPr id="13" name="Text 11"/>
          <p:cNvSpPr/>
          <p:nvPr/>
        </p:nvSpPr>
        <p:spPr>
          <a:xfrm>
            <a:off x="548640" y="3648456"/>
            <a:ext cx="384048" cy="384048"/>
          </a:xfrm>
          <a:prstGeom prst="rect">
            <a:avLst/>
          </a:prstGeom>
          <a:noFill/>
          <a:ln/>
        </p:spPr>
        <p:txBody>
          <a:bodyPr wrap="square" lIns="0" tIns="0" rIns="0" bIns="0" rtlCol="0" anchor="ctr"/>
          <a:lstStyle/>
          <a:p>
            <a:pPr algn="ctr" indent="0" marL="0">
              <a:buNone/>
            </a:pPr>
            <a:r>
              <a:rPr lang="en-US" sz="1500" b="1" dirty="0">
                <a:solidFill>
                  <a:srgbClr val="35C477"/>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097280" y="3593592"/>
            <a:ext cx="10545775" cy="685800"/>
          </a:xfrm>
          <a:prstGeom prst="rect">
            <a:avLst/>
          </a:prstGeom>
          <a:noFill/>
          <a:ln/>
        </p:spPr>
        <p:txBody>
          <a:bodyPr wrap="square" lIns="0" tIns="0" rIns="0" bIns="0" rtlCol="0" anchor="t"/>
          <a:lstStyle/>
          <a:p>
            <a:pPr indent="0" marL="0">
              <a:buNone/>
            </a:pPr>
            <a:r>
              <a:rPr lang="en-US" sz="1600" b="1" dirty="0">
                <a:solidFill>
                  <a:srgbClr val="EAF1F9"/>
                </a:solidFill>
                <a:latin typeface="Calibri" pitchFamily="34" charset="0"/>
                <a:ea typeface="Calibri" pitchFamily="34" charset="-122"/>
                <a:cs typeface="Calibri" pitchFamily="34" charset="-120"/>
              </a:rPr>
              <a:t>A closure refused to its own requester</a:t>
            </a:r>
            <a:endParaRPr lang="en-US" sz="1600" dirty="0"/>
          </a:p>
          <a:p>
            <a:pPr indent="0" marL="0">
              <a:buNone/>
            </a:pPr>
            <a:r>
              <a:rPr lang="en-US" sz="1250" dirty="0">
                <a:solidFill>
                  <a:srgbClr val="9DAFC2"/>
                </a:solidFill>
                <a:latin typeface="Calibri" pitchFamily="34" charset="0"/>
                <a:ea typeface="Calibri" pitchFamily="34" charset="-122"/>
                <a:cs typeface="Calibri" pitchFamily="34" charset="-120"/>
              </a:rPr>
              <a:t>Approved instead by a separate reviewer</a:t>
            </a:r>
            <a:endParaRPr lang="en-US" sz="1600" dirty="0"/>
          </a:p>
        </p:txBody>
      </p:sp>
      <p:sp>
        <p:nvSpPr>
          <p:cNvPr id="15" name="Shape 13"/>
          <p:cNvSpPr/>
          <p:nvPr/>
        </p:nvSpPr>
        <p:spPr>
          <a:xfrm>
            <a:off x="548640" y="4489704"/>
            <a:ext cx="384048" cy="384048"/>
          </a:xfrm>
          <a:prstGeom prst="ellipse">
            <a:avLst/>
          </a:prstGeom>
          <a:solidFill>
            <a:srgbClr val="0F1A16"/>
          </a:solidFill>
          <a:ln w="19050">
            <a:solidFill>
              <a:srgbClr val="35C477"/>
            </a:solidFill>
            <a:prstDash val="solid"/>
          </a:ln>
        </p:spPr>
      </p:sp>
      <p:sp>
        <p:nvSpPr>
          <p:cNvPr id="16" name="Text 14"/>
          <p:cNvSpPr/>
          <p:nvPr/>
        </p:nvSpPr>
        <p:spPr>
          <a:xfrm>
            <a:off x="548640" y="4489704"/>
            <a:ext cx="384048" cy="384048"/>
          </a:xfrm>
          <a:prstGeom prst="rect">
            <a:avLst/>
          </a:prstGeom>
          <a:noFill/>
          <a:ln/>
        </p:spPr>
        <p:txBody>
          <a:bodyPr wrap="square" lIns="0" tIns="0" rIns="0" bIns="0" rtlCol="0" anchor="ctr"/>
          <a:lstStyle/>
          <a:p>
            <a:pPr algn="ctr" indent="0" marL="0">
              <a:buNone/>
            </a:pPr>
            <a:r>
              <a:rPr lang="en-US" sz="1500" b="1" dirty="0">
                <a:solidFill>
                  <a:srgbClr val="35C477"/>
                </a:solidFill>
                <a:latin typeface="Calibri" pitchFamily="34" charset="0"/>
                <a:ea typeface="Calibri" pitchFamily="34" charset="-122"/>
                <a:cs typeface="Calibri" pitchFamily="34" charset="-120"/>
              </a:rPr>
              <a:t>4</a:t>
            </a:r>
            <a:endParaRPr lang="en-US" sz="1500" dirty="0"/>
          </a:p>
        </p:txBody>
      </p:sp>
      <p:sp>
        <p:nvSpPr>
          <p:cNvPr id="17" name="Text 15"/>
          <p:cNvSpPr/>
          <p:nvPr/>
        </p:nvSpPr>
        <p:spPr>
          <a:xfrm>
            <a:off x="1097280" y="4434840"/>
            <a:ext cx="10545775" cy="685800"/>
          </a:xfrm>
          <a:prstGeom prst="rect">
            <a:avLst/>
          </a:prstGeom>
          <a:noFill/>
          <a:ln/>
        </p:spPr>
        <p:txBody>
          <a:bodyPr wrap="square" lIns="0" tIns="0" rIns="0" bIns="0" rtlCol="0" anchor="t"/>
          <a:lstStyle/>
          <a:p>
            <a:pPr indent="0" marL="0">
              <a:buNone/>
            </a:pPr>
            <a:r>
              <a:rPr lang="en-US" sz="1600" b="1" dirty="0">
                <a:solidFill>
                  <a:srgbClr val="EAF1F9"/>
                </a:solidFill>
                <a:latin typeface="Calibri" pitchFamily="34" charset="0"/>
                <a:ea typeface="Calibri" pitchFamily="34" charset="-122"/>
                <a:cs typeface="Calibri" pitchFamily="34" charset="-120"/>
              </a:rPr>
              <a:t>A weak ATT&amp;CK justification refused</a:t>
            </a:r>
            <a:endParaRPr lang="en-US" sz="1600" dirty="0"/>
          </a:p>
          <a:p>
            <a:pPr indent="0" marL="0">
              <a:buNone/>
            </a:pPr>
            <a:r>
              <a:rPr lang="en-US" sz="1250" dirty="0">
                <a:solidFill>
                  <a:srgbClr val="9DAFC2"/>
                </a:solidFill>
                <a:latin typeface="Calibri" pitchFamily="34" charset="0"/>
                <a:ea typeface="Calibri" pitchFamily="34" charset="-122"/>
                <a:cs typeface="Calibri" pitchFamily="34" charset="-120"/>
              </a:rPr>
              <a:t>Server-side, not a UI-only check</a:t>
            </a:r>
            <a:endParaRPr lang="en-US" sz="1600" dirty="0"/>
          </a:p>
        </p:txBody>
      </p:sp>
      <p:sp>
        <p:nvSpPr>
          <p:cNvPr id="18" name="Shape 16"/>
          <p:cNvSpPr/>
          <p:nvPr/>
        </p:nvSpPr>
        <p:spPr>
          <a:xfrm>
            <a:off x="548640" y="5330952"/>
            <a:ext cx="384048" cy="384048"/>
          </a:xfrm>
          <a:prstGeom prst="ellipse">
            <a:avLst/>
          </a:prstGeom>
          <a:solidFill>
            <a:srgbClr val="0F1A16"/>
          </a:solidFill>
          <a:ln w="19050">
            <a:solidFill>
              <a:srgbClr val="35C477"/>
            </a:solidFill>
            <a:prstDash val="solid"/>
          </a:ln>
        </p:spPr>
      </p:sp>
      <p:sp>
        <p:nvSpPr>
          <p:cNvPr id="19" name="Text 17"/>
          <p:cNvSpPr/>
          <p:nvPr/>
        </p:nvSpPr>
        <p:spPr>
          <a:xfrm>
            <a:off x="548640" y="5330952"/>
            <a:ext cx="384048" cy="384048"/>
          </a:xfrm>
          <a:prstGeom prst="rect">
            <a:avLst/>
          </a:prstGeom>
          <a:noFill/>
          <a:ln/>
        </p:spPr>
        <p:txBody>
          <a:bodyPr wrap="square" lIns="0" tIns="0" rIns="0" bIns="0" rtlCol="0" anchor="ctr"/>
          <a:lstStyle/>
          <a:p>
            <a:pPr algn="ctr" indent="0" marL="0">
              <a:buNone/>
            </a:pPr>
            <a:r>
              <a:rPr lang="en-US" sz="1500" b="1" dirty="0">
                <a:solidFill>
                  <a:srgbClr val="35C477"/>
                </a:solidFill>
                <a:latin typeface="Calibri" pitchFamily="34" charset="0"/>
                <a:ea typeface="Calibri" pitchFamily="34" charset="-122"/>
                <a:cs typeface="Calibri" pitchFamily="34" charset="-120"/>
              </a:rPr>
              <a:t>5</a:t>
            </a:r>
            <a:endParaRPr lang="en-US" sz="1500" dirty="0"/>
          </a:p>
        </p:txBody>
      </p:sp>
      <p:sp>
        <p:nvSpPr>
          <p:cNvPr id="20" name="Text 18"/>
          <p:cNvSpPr/>
          <p:nvPr/>
        </p:nvSpPr>
        <p:spPr>
          <a:xfrm>
            <a:off x="1097280" y="5276088"/>
            <a:ext cx="10545775" cy="685800"/>
          </a:xfrm>
          <a:prstGeom prst="rect">
            <a:avLst/>
          </a:prstGeom>
          <a:noFill/>
          <a:ln/>
        </p:spPr>
        <p:txBody>
          <a:bodyPr wrap="square" lIns="0" tIns="0" rIns="0" bIns="0" rtlCol="0" anchor="t"/>
          <a:lstStyle/>
          <a:p>
            <a:pPr indent="0" marL="0">
              <a:buNone/>
            </a:pPr>
            <a:r>
              <a:rPr lang="en-US" sz="1600" b="1" dirty="0">
                <a:solidFill>
                  <a:srgbClr val="EAF1F9"/>
                </a:solidFill>
                <a:latin typeface="Calibri" pitchFamily="34" charset="0"/>
                <a:ea typeface="Calibri" pitchFamily="34" charset="-122"/>
                <a:cs typeface="Calibri" pitchFamily="34" charset="-120"/>
              </a:rPr>
              <a:t>Export vs. delivery</a:t>
            </a:r>
            <a:endParaRPr lang="en-US" sz="1600" dirty="0"/>
          </a:p>
          <a:p>
            <a:pPr indent="0" marL="0">
              <a:buNone/>
            </a:pPr>
            <a:r>
              <a:rPr lang="en-US" sz="1250" dirty="0">
                <a:solidFill>
                  <a:srgbClr val="9DAFC2"/>
                </a:solidFill>
                <a:latin typeface="Calibri" pitchFamily="34" charset="0"/>
                <a:ea typeface="Calibri" pitchFamily="34" charset="-122"/>
                <a:cs typeface="Calibri" pitchFamily="34" charset="-120"/>
              </a:rPr>
              <a:t>Tracked as two separate, honest events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THE TEAM</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EAF1F9"/>
                </a:solidFill>
                <a:latin typeface="Calibri" pitchFamily="34" charset="0"/>
                <a:ea typeface="Calibri" pitchFamily="34" charset="-122"/>
                <a:cs typeface="Calibri" pitchFamily="34" charset="-120"/>
              </a:rPr>
              <a:t>Meet the team</a:t>
            </a:r>
            <a:endParaRPr lang="en-US" sz="34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14 / 17</a:t>
            </a:r>
            <a:endParaRPr lang="en-US" sz="1000" dirty="0"/>
          </a:p>
        </p:txBody>
      </p:sp>
      <p:sp>
        <p:nvSpPr>
          <p:cNvPr id="6" name="Shape 4"/>
          <p:cNvSpPr/>
          <p:nvPr/>
        </p:nvSpPr>
        <p:spPr>
          <a:xfrm>
            <a:off x="1375372" y="2423160"/>
            <a:ext cx="914400" cy="914400"/>
          </a:xfrm>
          <a:prstGeom prst="ellipse">
            <a:avLst/>
          </a:prstGeom>
          <a:solidFill>
            <a:srgbClr val="0F1A16"/>
          </a:solidFill>
          <a:ln w="19050">
            <a:solidFill>
              <a:srgbClr val="35C477"/>
            </a:solidFill>
            <a:prstDash val="solid"/>
          </a:ln>
        </p:spPr>
      </p:sp>
      <p:sp>
        <p:nvSpPr>
          <p:cNvPr id="7" name="Text 5"/>
          <p:cNvSpPr/>
          <p:nvPr/>
        </p:nvSpPr>
        <p:spPr>
          <a:xfrm>
            <a:off x="1375372" y="2423160"/>
            <a:ext cx="914400" cy="914400"/>
          </a:xfrm>
          <a:prstGeom prst="rect">
            <a:avLst/>
          </a:prstGeom>
          <a:noFill/>
          <a:ln/>
        </p:spPr>
        <p:txBody>
          <a:bodyPr wrap="square" lIns="0" tIns="0" rIns="0" bIns="0" rtlCol="0" anchor="ctr"/>
          <a:lstStyle/>
          <a:p>
            <a:pPr algn="ctr" indent="0" marL="0">
              <a:buNone/>
            </a:pPr>
            <a:r>
              <a:rPr lang="en-US" sz="2200" b="1" dirty="0">
                <a:solidFill>
                  <a:srgbClr val="35C477"/>
                </a:solidFill>
                <a:latin typeface="Calibri" pitchFamily="34" charset="0"/>
                <a:ea typeface="Calibri" pitchFamily="34" charset="-122"/>
                <a:cs typeface="Calibri" pitchFamily="34" charset="-120"/>
              </a:rPr>
              <a:t>MI</a:t>
            </a:r>
            <a:endParaRPr lang="en-US" sz="2200" dirty="0"/>
          </a:p>
        </p:txBody>
      </p:sp>
      <p:sp>
        <p:nvSpPr>
          <p:cNvPr id="8" name="Text 6"/>
          <p:cNvSpPr/>
          <p:nvPr/>
        </p:nvSpPr>
        <p:spPr>
          <a:xfrm>
            <a:off x="548640" y="3566160"/>
            <a:ext cx="2567864" cy="365760"/>
          </a:xfrm>
          <a:prstGeom prst="rect">
            <a:avLst/>
          </a:prstGeom>
          <a:noFill/>
          <a:ln/>
        </p:spPr>
        <p:txBody>
          <a:bodyPr wrap="square" lIns="0" tIns="0" rIns="0" bIns="0" rtlCol="0" anchor="ctr"/>
          <a:lstStyle/>
          <a:p>
            <a:pPr algn="ctr" indent="0" marL="0">
              <a:buNone/>
            </a:pPr>
            <a:r>
              <a:rPr lang="en-US" sz="1500" b="1" dirty="0">
                <a:solidFill>
                  <a:srgbClr val="EAF1F9"/>
                </a:solidFill>
                <a:latin typeface="Calibri" pitchFamily="34" charset="0"/>
                <a:ea typeface="Calibri" pitchFamily="34" charset="-122"/>
                <a:cs typeface="Calibri" pitchFamily="34" charset="-120"/>
              </a:rPr>
              <a:t>M. Ismail</a:t>
            </a:r>
            <a:endParaRPr lang="en-US" sz="1500" dirty="0"/>
          </a:p>
        </p:txBody>
      </p:sp>
      <p:sp>
        <p:nvSpPr>
          <p:cNvPr id="9" name="Text 7"/>
          <p:cNvSpPr/>
          <p:nvPr/>
        </p:nvSpPr>
        <p:spPr>
          <a:xfrm>
            <a:off x="640080" y="3931920"/>
            <a:ext cx="2384984" cy="822960"/>
          </a:xfrm>
          <a:prstGeom prst="rect">
            <a:avLst/>
          </a:prstGeom>
          <a:noFill/>
          <a:ln/>
        </p:spPr>
        <p:txBody>
          <a:bodyPr wrap="square" lIns="0" tIns="0" rIns="0" bIns="0" rtlCol="0" anchor="t"/>
          <a:lstStyle/>
          <a:p>
            <a:pPr algn="ctr" indent="0" marL="0">
              <a:buNone/>
            </a:pPr>
            <a:r>
              <a:rPr lang="en-US" sz="1150" dirty="0">
                <a:solidFill>
                  <a:srgbClr val="9DAFC2"/>
                </a:solidFill>
                <a:latin typeface="Calibri" pitchFamily="34" charset="0"/>
                <a:ea typeface="Calibri" pitchFamily="34" charset="-122"/>
                <a:cs typeface="Calibri" pitchFamily="34" charset="-120"/>
              </a:rPr>
              <a:t>Threat Intelligence &amp; System Coordination</a:t>
            </a:r>
            <a:endParaRPr lang="en-US" sz="1150" dirty="0"/>
          </a:p>
        </p:txBody>
      </p:sp>
      <p:sp>
        <p:nvSpPr>
          <p:cNvPr id="10" name="Shape 8"/>
          <p:cNvSpPr/>
          <p:nvPr/>
        </p:nvSpPr>
        <p:spPr>
          <a:xfrm>
            <a:off x="4217556" y="2423160"/>
            <a:ext cx="914400" cy="914400"/>
          </a:xfrm>
          <a:prstGeom prst="ellipse">
            <a:avLst/>
          </a:prstGeom>
          <a:solidFill>
            <a:srgbClr val="0F1A16"/>
          </a:solidFill>
          <a:ln w="19050">
            <a:solidFill>
              <a:srgbClr val="35C477"/>
            </a:solidFill>
            <a:prstDash val="solid"/>
          </a:ln>
        </p:spPr>
      </p:sp>
      <p:sp>
        <p:nvSpPr>
          <p:cNvPr id="11" name="Text 9"/>
          <p:cNvSpPr/>
          <p:nvPr/>
        </p:nvSpPr>
        <p:spPr>
          <a:xfrm>
            <a:off x="4217556" y="2423160"/>
            <a:ext cx="914400" cy="914400"/>
          </a:xfrm>
          <a:prstGeom prst="rect">
            <a:avLst/>
          </a:prstGeom>
          <a:noFill/>
          <a:ln/>
        </p:spPr>
        <p:txBody>
          <a:bodyPr wrap="square" lIns="0" tIns="0" rIns="0" bIns="0" rtlCol="0" anchor="ctr"/>
          <a:lstStyle/>
          <a:p>
            <a:pPr algn="ctr" indent="0" marL="0">
              <a:buNone/>
            </a:pPr>
            <a:r>
              <a:rPr lang="en-US" sz="2200" b="1" dirty="0">
                <a:solidFill>
                  <a:srgbClr val="35C477"/>
                </a:solidFill>
                <a:latin typeface="Calibri" pitchFamily="34" charset="0"/>
                <a:ea typeface="Calibri" pitchFamily="34" charset="-122"/>
                <a:cs typeface="Calibri" pitchFamily="34" charset="-120"/>
              </a:rPr>
              <a:t>AH</a:t>
            </a:r>
            <a:endParaRPr lang="en-US" sz="2200" dirty="0"/>
          </a:p>
        </p:txBody>
      </p:sp>
      <p:sp>
        <p:nvSpPr>
          <p:cNvPr id="12" name="Text 10"/>
          <p:cNvSpPr/>
          <p:nvPr/>
        </p:nvSpPr>
        <p:spPr>
          <a:xfrm>
            <a:off x="3390824" y="3566160"/>
            <a:ext cx="2567864" cy="365760"/>
          </a:xfrm>
          <a:prstGeom prst="rect">
            <a:avLst/>
          </a:prstGeom>
          <a:noFill/>
          <a:ln/>
        </p:spPr>
        <p:txBody>
          <a:bodyPr wrap="square" lIns="0" tIns="0" rIns="0" bIns="0" rtlCol="0" anchor="ctr"/>
          <a:lstStyle/>
          <a:p>
            <a:pPr algn="ctr" indent="0" marL="0">
              <a:buNone/>
            </a:pPr>
            <a:r>
              <a:rPr lang="en-US" sz="1500" b="1" dirty="0">
                <a:solidFill>
                  <a:srgbClr val="EAF1F9"/>
                </a:solidFill>
                <a:latin typeface="Calibri" pitchFamily="34" charset="0"/>
                <a:ea typeface="Calibri" pitchFamily="34" charset="-122"/>
                <a:cs typeface="Calibri" pitchFamily="34" charset="-120"/>
              </a:rPr>
              <a:t>Ali Haider</a:t>
            </a:r>
            <a:endParaRPr lang="en-US" sz="1500" dirty="0"/>
          </a:p>
        </p:txBody>
      </p:sp>
      <p:sp>
        <p:nvSpPr>
          <p:cNvPr id="13" name="Text 11"/>
          <p:cNvSpPr/>
          <p:nvPr/>
        </p:nvSpPr>
        <p:spPr>
          <a:xfrm>
            <a:off x="3482264" y="3931920"/>
            <a:ext cx="2384984" cy="822960"/>
          </a:xfrm>
          <a:prstGeom prst="rect">
            <a:avLst/>
          </a:prstGeom>
          <a:noFill/>
          <a:ln/>
        </p:spPr>
        <p:txBody>
          <a:bodyPr wrap="square" lIns="0" tIns="0" rIns="0" bIns="0" rtlCol="0" anchor="t"/>
          <a:lstStyle/>
          <a:p>
            <a:pPr algn="ctr" indent="0" marL="0">
              <a:buNone/>
            </a:pPr>
            <a:r>
              <a:rPr lang="en-US" sz="1150" dirty="0">
                <a:solidFill>
                  <a:srgbClr val="9DAFC2"/>
                </a:solidFill>
                <a:latin typeface="Calibri" pitchFamily="34" charset="0"/>
                <a:ea typeface="Calibri" pitchFamily="34" charset="-122"/>
                <a:cs typeface="Calibri" pitchFamily="34" charset="-120"/>
              </a:rPr>
              <a:t>Software Engineering &amp; Backend Systems</a:t>
            </a:r>
            <a:endParaRPr lang="en-US" sz="1150" dirty="0"/>
          </a:p>
        </p:txBody>
      </p:sp>
      <p:sp>
        <p:nvSpPr>
          <p:cNvPr id="14" name="Shape 12"/>
          <p:cNvSpPr/>
          <p:nvPr/>
        </p:nvSpPr>
        <p:spPr>
          <a:xfrm>
            <a:off x="7059740" y="2423160"/>
            <a:ext cx="914400" cy="914400"/>
          </a:xfrm>
          <a:prstGeom prst="ellipse">
            <a:avLst/>
          </a:prstGeom>
          <a:solidFill>
            <a:srgbClr val="0F1A16"/>
          </a:solidFill>
          <a:ln w="19050">
            <a:solidFill>
              <a:srgbClr val="35C477"/>
            </a:solidFill>
            <a:prstDash val="solid"/>
          </a:ln>
        </p:spPr>
      </p:sp>
      <p:sp>
        <p:nvSpPr>
          <p:cNvPr id="15" name="Text 13"/>
          <p:cNvSpPr/>
          <p:nvPr/>
        </p:nvSpPr>
        <p:spPr>
          <a:xfrm>
            <a:off x="7059740" y="2423160"/>
            <a:ext cx="914400" cy="914400"/>
          </a:xfrm>
          <a:prstGeom prst="rect">
            <a:avLst/>
          </a:prstGeom>
          <a:noFill/>
          <a:ln/>
        </p:spPr>
        <p:txBody>
          <a:bodyPr wrap="square" lIns="0" tIns="0" rIns="0" bIns="0" rtlCol="0" anchor="ctr"/>
          <a:lstStyle/>
          <a:p>
            <a:pPr algn="ctr" indent="0" marL="0">
              <a:buNone/>
            </a:pPr>
            <a:r>
              <a:rPr lang="en-US" sz="2200" b="1" dirty="0">
                <a:solidFill>
                  <a:srgbClr val="35C477"/>
                </a:solidFill>
                <a:latin typeface="Calibri" pitchFamily="34" charset="0"/>
                <a:ea typeface="Calibri" pitchFamily="34" charset="-122"/>
                <a:cs typeface="Calibri" pitchFamily="34" charset="-120"/>
              </a:rPr>
              <a:t>AZ</a:t>
            </a:r>
            <a:endParaRPr lang="en-US" sz="2200" dirty="0"/>
          </a:p>
        </p:txBody>
      </p:sp>
      <p:sp>
        <p:nvSpPr>
          <p:cNvPr id="16" name="Text 14"/>
          <p:cNvSpPr/>
          <p:nvPr/>
        </p:nvSpPr>
        <p:spPr>
          <a:xfrm>
            <a:off x="6233008" y="3566160"/>
            <a:ext cx="2567864" cy="365760"/>
          </a:xfrm>
          <a:prstGeom prst="rect">
            <a:avLst/>
          </a:prstGeom>
          <a:noFill/>
          <a:ln/>
        </p:spPr>
        <p:txBody>
          <a:bodyPr wrap="square" lIns="0" tIns="0" rIns="0" bIns="0" rtlCol="0" anchor="ctr"/>
          <a:lstStyle/>
          <a:p>
            <a:pPr algn="ctr" indent="0" marL="0">
              <a:buNone/>
            </a:pPr>
            <a:r>
              <a:rPr lang="en-US" sz="1500" b="1" dirty="0">
                <a:solidFill>
                  <a:srgbClr val="EAF1F9"/>
                </a:solidFill>
                <a:latin typeface="Calibri" pitchFamily="34" charset="0"/>
                <a:ea typeface="Calibri" pitchFamily="34" charset="-122"/>
                <a:cs typeface="Calibri" pitchFamily="34" charset="-120"/>
              </a:rPr>
              <a:t>Aun Zulfiqar</a:t>
            </a:r>
            <a:endParaRPr lang="en-US" sz="1500" dirty="0"/>
          </a:p>
        </p:txBody>
      </p:sp>
      <p:sp>
        <p:nvSpPr>
          <p:cNvPr id="17" name="Text 15"/>
          <p:cNvSpPr/>
          <p:nvPr/>
        </p:nvSpPr>
        <p:spPr>
          <a:xfrm>
            <a:off x="6324448" y="3931920"/>
            <a:ext cx="2384984" cy="822960"/>
          </a:xfrm>
          <a:prstGeom prst="rect">
            <a:avLst/>
          </a:prstGeom>
          <a:noFill/>
          <a:ln/>
        </p:spPr>
        <p:txBody>
          <a:bodyPr wrap="square" lIns="0" tIns="0" rIns="0" bIns="0" rtlCol="0" anchor="t"/>
          <a:lstStyle/>
          <a:p>
            <a:pPr algn="ctr" indent="0" marL="0">
              <a:buNone/>
            </a:pPr>
            <a:r>
              <a:rPr lang="en-US" sz="1150" dirty="0">
                <a:solidFill>
                  <a:srgbClr val="9DAFC2"/>
                </a:solidFill>
                <a:latin typeface="Calibri" pitchFamily="34" charset="0"/>
                <a:ea typeface="Calibri" pitchFamily="34" charset="-122"/>
                <a:cs typeface="Calibri" pitchFamily="34" charset="-120"/>
              </a:rPr>
              <a:t>Frontend &amp; UX</a:t>
            </a:r>
            <a:endParaRPr lang="en-US" sz="1150" dirty="0"/>
          </a:p>
        </p:txBody>
      </p:sp>
      <p:sp>
        <p:nvSpPr>
          <p:cNvPr id="18" name="Shape 16"/>
          <p:cNvSpPr/>
          <p:nvPr/>
        </p:nvSpPr>
        <p:spPr>
          <a:xfrm>
            <a:off x="9901923" y="2423160"/>
            <a:ext cx="914400" cy="914400"/>
          </a:xfrm>
          <a:prstGeom prst="ellipse">
            <a:avLst/>
          </a:prstGeom>
          <a:solidFill>
            <a:srgbClr val="0F1A16"/>
          </a:solidFill>
          <a:ln w="19050">
            <a:solidFill>
              <a:srgbClr val="35C477"/>
            </a:solidFill>
            <a:prstDash val="solid"/>
          </a:ln>
        </p:spPr>
      </p:sp>
      <p:sp>
        <p:nvSpPr>
          <p:cNvPr id="19" name="Text 17"/>
          <p:cNvSpPr/>
          <p:nvPr/>
        </p:nvSpPr>
        <p:spPr>
          <a:xfrm>
            <a:off x="9901923" y="2423160"/>
            <a:ext cx="914400" cy="914400"/>
          </a:xfrm>
          <a:prstGeom prst="rect">
            <a:avLst/>
          </a:prstGeom>
          <a:noFill/>
          <a:ln/>
        </p:spPr>
        <p:txBody>
          <a:bodyPr wrap="square" lIns="0" tIns="0" rIns="0" bIns="0" rtlCol="0" anchor="ctr"/>
          <a:lstStyle/>
          <a:p>
            <a:pPr algn="ctr" indent="0" marL="0">
              <a:buNone/>
            </a:pPr>
            <a:r>
              <a:rPr lang="en-US" sz="2200" b="1" dirty="0">
                <a:solidFill>
                  <a:srgbClr val="35C477"/>
                </a:solidFill>
                <a:latin typeface="Calibri" pitchFamily="34" charset="0"/>
                <a:ea typeface="Calibri" pitchFamily="34" charset="-122"/>
                <a:cs typeface="Calibri" pitchFamily="34" charset="-120"/>
              </a:rPr>
              <a:t>EK</a:t>
            </a:r>
            <a:endParaRPr lang="en-US" sz="2200" dirty="0"/>
          </a:p>
        </p:txBody>
      </p:sp>
      <p:sp>
        <p:nvSpPr>
          <p:cNvPr id="20" name="Text 18"/>
          <p:cNvSpPr/>
          <p:nvPr/>
        </p:nvSpPr>
        <p:spPr>
          <a:xfrm>
            <a:off x="9075191" y="3566160"/>
            <a:ext cx="2567864" cy="365760"/>
          </a:xfrm>
          <a:prstGeom prst="rect">
            <a:avLst/>
          </a:prstGeom>
          <a:noFill/>
          <a:ln/>
        </p:spPr>
        <p:txBody>
          <a:bodyPr wrap="square" lIns="0" tIns="0" rIns="0" bIns="0" rtlCol="0" anchor="ctr"/>
          <a:lstStyle/>
          <a:p>
            <a:pPr algn="ctr" indent="0" marL="0">
              <a:buNone/>
            </a:pPr>
            <a:r>
              <a:rPr lang="en-US" sz="1500" b="1" dirty="0">
                <a:solidFill>
                  <a:srgbClr val="EAF1F9"/>
                </a:solidFill>
                <a:latin typeface="Calibri" pitchFamily="34" charset="0"/>
                <a:ea typeface="Calibri" pitchFamily="34" charset="-122"/>
                <a:cs typeface="Calibri" pitchFamily="34" charset="-120"/>
              </a:rPr>
              <a:t>Eshaal Khan</a:t>
            </a:r>
            <a:endParaRPr lang="en-US" sz="1500" dirty="0"/>
          </a:p>
        </p:txBody>
      </p:sp>
      <p:sp>
        <p:nvSpPr>
          <p:cNvPr id="21" name="Text 19"/>
          <p:cNvSpPr/>
          <p:nvPr/>
        </p:nvSpPr>
        <p:spPr>
          <a:xfrm>
            <a:off x="9166631" y="3931920"/>
            <a:ext cx="2384984" cy="822960"/>
          </a:xfrm>
          <a:prstGeom prst="rect">
            <a:avLst/>
          </a:prstGeom>
          <a:noFill/>
          <a:ln/>
        </p:spPr>
        <p:txBody>
          <a:bodyPr wrap="square" lIns="0" tIns="0" rIns="0" bIns="0" rtlCol="0" anchor="t"/>
          <a:lstStyle/>
          <a:p>
            <a:pPr algn="ctr" indent="0" marL="0">
              <a:buNone/>
            </a:pPr>
            <a:r>
              <a:rPr lang="en-US" sz="1150" dirty="0">
                <a:solidFill>
                  <a:srgbClr val="9DAFC2"/>
                </a:solidFill>
                <a:latin typeface="Calibri" pitchFamily="34" charset="0"/>
                <a:ea typeface="Calibri" pitchFamily="34" charset="-122"/>
                <a:cs typeface="Calibri" pitchFamily="34" charset="-120"/>
              </a:rPr>
              <a:t>Security Workflow &amp; QA</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VALIDATION</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400" b="1" dirty="0">
                <a:solidFill>
                  <a:srgbClr val="EAF1F9"/>
                </a:solidFill>
                <a:latin typeface="Calibri" pitchFamily="34" charset="0"/>
                <a:ea typeface="Calibri" pitchFamily="34" charset="-122"/>
                <a:cs typeface="Calibri" pitchFamily="34" charset="-120"/>
              </a:rPr>
              <a:t>Proof, not assertion</a:t>
            </a:r>
            <a:endParaRPr lang="en-US" sz="34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15 / 17</a:t>
            </a:r>
            <a:endParaRPr lang="en-US" sz="1000" dirty="0"/>
          </a:p>
        </p:txBody>
      </p:sp>
      <p:sp>
        <p:nvSpPr>
          <p:cNvPr id="6" name="Text 4"/>
          <p:cNvSpPr/>
          <p:nvPr/>
        </p:nvSpPr>
        <p:spPr>
          <a:xfrm>
            <a:off x="548640" y="2468880"/>
            <a:ext cx="2773604" cy="822960"/>
          </a:xfrm>
          <a:prstGeom prst="rect">
            <a:avLst/>
          </a:prstGeom>
          <a:noFill/>
          <a:ln/>
        </p:spPr>
        <p:txBody>
          <a:bodyPr wrap="square" lIns="0" tIns="0" rIns="0" bIns="0" rtlCol="0" anchor="ctr"/>
          <a:lstStyle/>
          <a:p>
            <a:pPr algn="ctr" indent="0" marL="0">
              <a:buNone/>
            </a:pPr>
            <a:r>
              <a:rPr lang="en-US" sz="5200" b="1" dirty="0">
                <a:solidFill>
                  <a:srgbClr val="35C477"/>
                </a:solidFill>
                <a:latin typeface="Calibri" pitchFamily="34" charset="0"/>
                <a:ea typeface="Calibri" pitchFamily="34" charset="-122"/>
                <a:cs typeface="Calibri" pitchFamily="34" charset="-120"/>
              </a:rPr>
              <a:t>23</a:t>
            </a:r>
            <a:endParaRPr lang="en-US" sz="5200" dirty="0"/>
          </a:p>
        </p:txBody>
      </p:sp>
      <p:sp>
        <p:nvSpPr>
          <p:cNvPr id="7" name="Text 5"/>
          <p:cNvSpPr/>
          <p:nvPr/>
        </p:nvSpPr>
        <p:spPr>
          <a:xfrm>
            <a:off x="548640" y="3310128"/>
            <a:ext cx="2773604" cy="548640"/>
          </a:xfrm>
          <a:prstGeom prst="rect">
            <a:avLst/>
          </a:prstGeom>
          <a:noFill/>
          <a:ln/>
        </p:spPr>
        <p:txBody>
          <a:bodyPr wrap="square" lIns="0" tIns="0" rIns="0" bIns="0" rtlCol="0" anchor="t"/>
          <a:lstStyle/>
          <a:p>
            <a:pPr algn="ctr" indent="0" marL="0">
              <a:buNone/>
            </a:pPr>
            <a:r>
              <a:rPr lang="en-US" sz="1200" dirty="0">
                <a:solidFill>
                  <a:srgbClr val="9DAFC2"/>
                </a:solidFill>
                <a:latin typeface="Calibri" pitchFamily="34" charset="0"/>
                <a:ea typeface="Calibri" pitchFamily="34" charset="-122"/>
                <a:cs typeface="Calibri" pitchFamily="34" charset="-120"/>
              </a:rPr>
              <a:t>additive-only migrations</a:t>
            </a:r>
            <a:endParaRPr lang="en-US" sz="1200" dirty="0"/>
          </a:p>
        </p:txBody>
      </p:sp>
      <p:sp>
        <p:nvSpPr>
          <p:cNvPr id="8" name="Text 6"/>
          <p:cNvSpPr/>
          <p:nvPr/>
        </p:nvSpPr>
        <p:spPr>
          <a:xfrm>
            <a:off x="3322244" y="2468880"/>
            <a:ext cx="2773604" cy="822960"/>
          </a:xfrm>
          <a:prstGeom prst="rect">
            <a:avLst/>
          </a:prstGeom>
          <a:noFill/>
          <a:ln/>
        </p:spPr>
        <p:txBody>
          <a:bodyPr wrap="square" lIns="0" tIns="0" rIns="0" bIns="0" rtlCol="0" anchor="ctr"/>
          <a:lstStyle/>
          <a:p>
            <a:pPr algn="ctr" indent="0" marL="0">
              <a:buNone/>
            </a:pPr>
            <a:r>
              <a:rPr lang="en-US" sz="5200" b="1" dirty="0">
                <a:solidFill>
                  <a:srgbClr val="35C477"/>
                </a:solidFill>
                <a:latin typeface="Calibri" pitchFamily="34" charset="0"/>
                <a:ea typeface="Calibri" pitchFamily="34" charset="-122"/>
                <a:cs typeface="Calibri" pitchFamily="34" charset="-120"/>
              </a:rPr>
              <a:t>145</a:t>
            </a:r>
            <a:endParaRPr lang="en-US" sz="5200" dirty="0"/>
          </a:p>
        </p:txBody>
      </p:sp>
      <p:sp>
        <p:nvSpPr>
          <p:cNvPr id="9" name="Text 7"/>
          <p:cNvSpPr/>
          <p:nvPr/>
        </p:nvSpPr>
        <p:spPr>
          <a:xfrm>
            <a:off x="3322244" y="3310128"/>
            <a:ext cx="2773604" cy="548640"/>
          </a:xfrm>
          <a:prstGeom prst="rect">
            <a:avLst/>
          </a:prstGeom>
          <a:noFill/>
          <a:ln/>
        </p:spPr>
        <p:txBody>
          <a:bodyPr wrap="square" lIns="0" tIns="0" rIns="0" bIns="0" rtlCol="0" anchor="t"/>
          <a:lstStyle/>
          <a:p>
            <a:pPr algn="ctr" indent="0" marL="0">
              <a:buNone/>
            </a:pPr>
            <a:r>
              <a:rPr lang="en-US" sz="1200" dirty="0">
                <a:solidFill>
                  <a:srgbClr val="9DAFC2"/>
                </a:solidFill>
                <a:latin typeface="Calibri" pitchFamily="34" charset="0"/>
                <a:ea typeface="Calibri" pitchFamily="34" charset="-122"/>
                <a:cs typeface="Calibri" pitchFamily="34" charset="-120"/>
              </a:rPr>
              <a:t>backend test files</a:t>
            </a:r>
            <a:endParaRPr lang="en-US" sz="1200" dirty="0"/>
          </a:p>
        </p:txBody>
      </p:sp>
      <p:sp>
        <p:nvSpPr>
          <p:cNvPr id="10" name="Text 8"/>
          <p:cNvSpPr/>
          <p:nvPr/>
        </p:nvSpPr>
        <p:spPr>
          <a:xfrm>
            <a:off x="6095848" y="2468880"/>
            <a:ext cx="2773604" cy="822960"/>
          </a:xfrm>
          <a:prstGeom prst="rect">
            <a:avLst/>
          </a:prstGeom>
          <a:noFill/>
          <a:ln/>
        </p:spPr>
        <p:txBody>
          <a:bodyPr wrap="square" lIns="0" tIns="0" rIns="0" bIns="0" rtlCol="0" anchor="ctr"/>
          <a:lstStyle/>
          <a:p>
            <a:pPr algn="ctr" indent="0" marL="0">
              <a:buNone/>
            </a:pPr>
            <a:r>
              <a:rPr lang="en-US" sz="5200" b="1" dirty="0">
                <a:solidFill>
                  <a:srgbClr val="35C477"/>
                </a:solidFill>
                <a:latin typeface="Calibri" pitchFamily="34" charset="0"/>
                <a:ea typeface="Calibri" pitchFamily="34" charset="-122"/>
                <a:cs typeface="Calibri" pitchFamily="34" charset="-120"/>
              </a:rPr>
              <a:t>9</a:t>
            </a:r>
            <a:endParaRPr lang="en-US" sz="5200" dirty="0"/>
          </a:p>
        </p:txBody>
      </p:sp>
      <p:sp>
        <p:nvSpPr>
          <p:cNvPr id="11" name="Text 9"/>
          <p:cNvSpPr/>
          <p:nvPr/>
        </p:nvSpPr>
        <p:spPr>
          <a:xfrm>
            <a:off x="6095848" y="3310128"/>
            <a:ext cx="2773604" cy="548640"/>
          </a:xfrm>
          <a:prstGeom prst="rect">
            <a:avLst/>
          </a:prstGeom>
          <a:noFill/>
          <a:ln/>
        </p:spPr>
        <p:txBody>
          <a:bodyPr wrap="square" lIns="0" tIns="0" rIns="0" bIns="0" rtlCol="0" anchor="t"/>
          <a:lstStyle/>
          <a:p>
            <a:pPr algn="ctr" indent="0" marL="0">
              <a:buNone/>
            </a:pPr>
            <a:r>
              <a:rPr lang="en-US" sz="1200" dirty="0">
                <a:solidFill>
                  <a:srgbClr val="9DAFC2"/>
                </a:solidFill>
                <a:latin typeface="Calibri" pitchFamily="34" charset="0"/>
                <a:ea typeface="Calibri" pitchFamily="34" charset="-122"/>
                <a:cs typeface="Calibri" pitchFamily="34" charset="-120"/>
              </a:rPr>
              <a:t>browser-suite specs</a:t>
            </a:r>
            <a:endParaRPr lang="en-US" sz="1200" dirty="0"/>
          </a:p>
        </p:txBody>
      </p:sp>
      <p:sp>
        <p:nvSpPr>
          <p:cNvPr id="12" name="Text 10"/>
          <p:cNvSpPr/>
          <p:nvPr/>
        </p:nvSpPr>
        <p:spPr>
          <a:xfrm>
            <a:off x="8869451" y="2468880"/>
            <a:ext cx="2773604" cy="822960"/>
          </a:xfrm>
          <a:prstGeom prst="rect">
            <a:avLst/>
          </a:prstGeom>
          <a:noFill/>
          <a:ln/>
        </p:spPr>
        <p:txBody>
          <a:bodyPr wrap="square" lIns="0" tIns="0" rIns="0" bIns="0" rtlCol="0" anchor="ctr"/>
          <a:lstStyle/>
          <a:p>
            <a:pPr algn="ctr" indent="0" marL="0">
              <a:buNone/>
            </a:pPr>
            <a:r>
              <a:rPr lang="en-US" sz="5200" b="1" dirty="0">
                <a:solidFill>
                  <a:srgbClr val="35C477"/>
                </a:solidFill>
                <a:latin typeface="Calibri" pitchFamily="34" charset="0"/>
                <a:ea typeface="Calibri" pitchFamily="34" charset="-122"/>
                <a:cs typeface="Calibri" pitchFamily="34" charset="-120"/>
              </a:rPr>
              <a:t>9</a:t>
            </a:r>
            <a:endParaRPr lang="en-US" sz="5200" dirty="0"/>
          </a:p>
        </p:txBody>
      </p:sp>
      <p:sp>
        <p:nvSpPr>
          <p:cNvPr id="13" name="Text 11"/>
          <p:cNvSpPr/>
          <p:nvPr/>
        </p:nvSpPr>
        <p:spPr>
          <a:xfrm>
            <a:off x="8869451" y="3310128"/>
            <a:ext cx="2773604" cy="548640"/>
          </a:xfrm>
          <a:prstGeom prst="rect">
            <a:avLst/>
          </a:prstGeom>
          <a:noFill/>
          <a:ln/>
        </p:spPr>
        <p:txBody>
          <a:bodyPr wrap="square" lIns="0" tIns="0" rIns="0" bIns="0" rtlCol="0" anchor="t"/>
          <a:lstStyle/>
          <a:p>
            <a:pPr algn="ctr" indent="0" marL="0">
              <a:buNone/>
            </a:pPr>
            <a:r>
              <a:rPr lang="en-US" sz="1200" dirty="0">
                <a:solidFill>
                  <a:srgbClr val="9DAFC2"/>
                </a:solidFill>
                <a:latin typeface="Calibri" pitchFamily="34" charset="0"/>
                <a:ea typeface="Calibri" pitchFamily="34" charset="-122"/>
                <a:cs typeface="Calibri" pitchFamily="34" charset="-120"/>
              </a:rPr>
              <a:t>evaluator gates vs.</a:t>
            </a:r>
            <a:endParaRPr lang="en-US" sz="1200" dirty="0"/>
          </a:p>
          <a:p>
            <a:pPr algn="ctr" indent="0" marL="0">
              <a:buNone/>
            </a:pPr>
            <a:r>
              <a:rPr lang="en-US" sz="1200" dirty="0">
                <a:solidFill>
                  <a:srgbClr val="9DAFC2"/>
                </a:solidFill>
                <a:latin typeface="Calibri" pitchFamily="34" charset="0"/>
                <a:ea typeface="Calibri" pitchFamily="34" charset="-122"/>
                <a:cs typeface="Calibri" pitchFamily="34" charset="-120"/>
              </a:rPr>
              <a:t>hand-authored ground truth</a:t>
            </a:r>
            <a:endParaRPr lang="en-US" sz="1200" dirty="0"/>
          </a:p>
        </p:txBody>
      </p:sp>
      <p:sp>
        <p:nvSpPr>
          <p:cNvPr id="14" name="Text 12"/>
          <p:cNvSpPr/>
          <p:nvPr/>
        </p:nvSpPr>
        <p:spPr>
          <a:xfrm>
            <a:off x="548640" y="4480560"/>
            <a:ext cx="11094415" cy="548640"/>
          </a:xfrm>
          <a:prstGeom prst="rect">
            <a:avLst/>
          </a:prstGeom>
          <a:noFill/>
          <a:ln/>
        </p:spPr>
        <p:txBody>
          <a:bodyPr wrap="square" lIns="0" tIns="0" rIns="0" bIns="0" rtlCol="0" anchor="ctr"/>
          <a:lstStyle/>
          <a:p>
            <a:pPr algn="ctr" indent="0" marL="0">
              <a:buNone/>
            </a:pPr>
            <a:r>
              <a:rPr lang="en-US" sz="1400" i="1" dirty="0">
                <a:solidFill>
                  <a:srgbClr val="9DAFC2"/>
                </a:solidFill>
                <a:latin typeface="Calibri" pitchFamily="34" charset="0"/>
                <a:ea typeface="Calibri" pitchFamily="34" charset="-122"/>
                <a:cs typeface="Calibri" pitchFamily="34" charset="-120"/>
              </a:rPr>
              <a:t>CI on every push — schema integrity, secrets scan, zero live provider calls, proven structurally.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548640" y="438912"/>
            <a:ext cx="11094415" cy="292608"/>
          </a:xfrm>
          <a:prstGeom prst="rect">
            <a:avLst/>
          </a:prstGeom>
          <a:noFill/>
          <a:ln/>
        </p:spPr>
        <p:txBody>
          <a:bodyPr wrap="square" lIns="0" tIns="0" rIns="0" bIns="0" rtlCol="0" anchor="ctr"/>
          <a:lstStyle/>
          <a:p>
            <a:pPr indent="0" marL="0">
              <a:buNone/>
            </a:pPr>
            <a:r>
              <a:rPr lang="en-US" sz="1300" b="1" spc="200" kern="0" dirty="0">
                <a:solidFill>
                  <a:srgbClr val="35C477"/>
                </a:solidFill>
                <a:latin typeface="Calibri" pitchFamily="34" charset="0"/>
                <a:ea typeface="Calibri" pitchFamily="34" charset="-122"/>
                <a:cs typeface="Calibri" pitchFamily="34" charset="-120"/>
              </a:rPr>
              <a:t>HONEST LIMITS</a:t>
            </a:r>
            <a:endParaRPr lang="en-US" sz="1300" dirty="0"/>
          </a:p>
        </p:txBody>
      </p:sp>
      <p:sp>
        <p:nvSpPr>
          <p:cNvPr id="3" name="Text 1"/>
          <p:cNvSpPr/>
          <p:nvPr/>
        </p:nvSpPr>
        <p:spPr>
          <a:xfrm>
            <a:off x="548640" y="731520"/>
            <a:ext cx="11094415" cy="868680"/>
          </a:xfrm>
          <a:prstGeom prst="rect">
            <a:avLst/>
          </a:prstGeom>
          <a:noFill/>
          <a:ln/>
        </p:spPr>
        <p:txBody>
          <a:bodyPr wrap="square" lIns="0" tIns="0" rIns="0" bIns="0" rtlCol="0" anchor="t"/>
          <a:lstStyle/>
          <a:p>
            <a:pPr indent="0" marL="0">
              <a:buNone/>
            </a:pPr>
            <a:r>
              <a:rPr lang="en-US" sz="3200" b="1" dirty="0">
                <a:solidFill>
                  <a:srgbClr val="EAF1F9"/>
                </a:solidFill>
                <a:latin typeface="Calibri" pitchFamily="34" charset="0"/>
                <a:ea typeface="Calibri" pitchFamily="34" charset="-122"/>
                <a:cs typeface="Calibri" pitchFamily="34" charset="-120"/>
              </a:rPr>
              <a:t>What this isn't, yet</a:t>
            </a:r>
            <a:endParaRPr lang="en-US" sz="3200" dirty="0"/>
          </a:p>
        </p:txBody>
      </p:sp>
      <p:sp>
        <p:nvSpPr>
          <p:cNvPr id="4" name="Text 2"/>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DAFC2"/>
                </a:solidFill>
                <a:latin typeface="Calibri" pitchFamily="34" charset="0"/>
                <a:ea typeface="Calibri" pitchFamily="34" charset="-122"/>
                <a:cs typeface="Calibri" pitchFamily="34" charset="-120"/>
              </a:rPr>
              <a:t>ThreatNeXus — PKCERT Technical Review</a:t>
            </a:r>
            <a:endParaRPr lang="en-US" sz="1000" dirty="0"/>
          </a:p>
        </p:txBody>
      </p:sp>
      <p:sp>
        <p:nvSpPr>
          <p:cNvPr id="5" name="Text 3"/>
          <p:cNvSpPr/>
          <p:nvPr/>
        </p:nvSpPr>
        <p:spPr>
          <a:xfrm>
            <a:off x="9814255" y="6446520"/>
            <a:ext cx="1828800" cy="274320"/>
          </a:xfrm>
          <a:prstGeom prst="rect">
            <a:avLst/>
          </a:prstGeom>
          <a:noFill/>
          <a:ln/>
        </p:spPr>
        <p:txBody>
          <a:bodyPr wrap="square" lIns="0" tIns="0" rIns="0" bIns="0" rtlCol="0" anchor="ctr"/>
          <a:lstStyle/>
          <a:p>
            <a:pPr algn="r" indent="0" marL="0">
              <a:buNone/>
            </a:pPr>
            <a:r>
              <a:rPr lang="en-US" sz="1000" dirty="0">
                <a:solidFill>
                  <a:srgbClr val="9DAFC2"/>
                </a:solidFill>
                <a:latin typeface="Calibri" pitchFamily="34" charset="0"/>
                <a:ea typeface="Calibri" pitchFamily="34" charset="-122"/>
                <a:cs typeface="Calibri" pitchFamily="34" charset="-120"/>
              </a:rPr>
              <a:t>16 / 17</a:t>
            </a:r>
            <a:endParaRPr lang="en-US" sz="1000" dirty="0"/>
          </a:p>
        </p:txBody>
      </p:sp>
      <p:sp>
        <p:nvSpPr>
          <p:cNvPr id="6" name="Text 4"/>
          <p:cNvSpPr/>
          <p:nvPr/>
        </p:nvSpPr>
        <p:spPr>
          <a:xfrm>
            <a:off x="548640" y="1965960"/>
            <a:ext cx="11094415" cy="2743200"/>
          </a:xfrm>
          <a:prstGeom prst="rect">
            <a:avLst/>
          </a:prstGeom>
          <a:noFill/>
          <a:ln/>
        </p:spPr>
        <p:txBody>
          <a:bodyPr wrap="square" lIns="0" tIns="0" rIns="0" bIns="0" rtlCol="0" anchor="t"/>
          <a:lstStyle/>
          <a:p>
            <a:pPr marL="228600" indent="-228600">
              <a:lnSpc>
                <a:spcPct val="115000"/>
              </a:lnSpc>
              <a:spcAft>
                <a:spcPts val="1600"/>
              </a:spcAft>
              <a:buSzPct val="100000"/>
              <a:buChar char="●"/>
            </a:pPr>
            <a:r>
              <a:rPr lang="en-US" sz="1600" dirty="0">
                <a:solidFill>
                  <a:srgbClr val="EAF1F9"/>
                </a:solidFill>
                <a:latin typeface="Calibri" pitchFamily="34" charset="0"/>
                <a:ea typeface="Calibri" pitchFamily="34" charset="-122"/>
                <a:cs typeface="Calibri" pitchFamily="34" charset="-120"/>
              </a:rPr>
              <a:t>No in-app user management yet</a:t>
            </a:r>
            <a:endParaRPr lang="en-US" sz="1600" dirty="0"/>
          </a:p>
          <a:p>
            <a:pPr marL="228600" indent="-228600">
              <a:lnSpc>
                <a:spcPct val="115000"/>
              </a:lnSpc>
              <a:spcAft>
                <a:spcPts val="1600"/>
              </a:spcAft>
              <a:buSzPct val="100000"/>
              <a:buChar char="●"/>
            </a:pPr>
            <a:r>
              <a:rPr lang="en-US" sz="1600" dirty="0">
                <a:solidFill>
                  <a:srgbClr val="EAF1F9"/>
                </a:solidFill>
                <a:latin typeface="Calibri" pitchFamily="34" charset="0"/>
                <a:ea typeface="Calibri" pitchFamily="34" charset="-122"/>
                <a:cs typeface="Calibri" pitchFamily="34" charset="-120"/>
              </a:rPr>
              <a:t>No production deployment — Docker Compose only</a:t>
            </a:r>
            <a:endParaRPr lang="en-US" sz="1600" dirty="0"/>
          </a:p>
          <a:p>
            <a:pPr marL="228600" indent="-228600">
              <a:lnSpc>
                <a:spcPct val="115000"/>
              </a:lnSpc>
              <a:spcAft>
                <a:spcPts val="1600"/>
              </a:spcAft>
              <a:buSzPct val="100000"/>
              <a:buChar char="●"/>
            </a:pPr>
            <a:r>
              <a:rPr lang="en-US" sz="1600" dirty="0">
                <a:solidFill>
                  <a:srgbClr val="EAF1F9"/>
                </a:solidFill>
                <a:latin typeface="Calibri" pitchFamily="34" charset="0"/>
                <a:ea typeface="Calibri" pitchFamily="34" charset="-122"/>
                <a:cs typeface="Calibri" pitchFamily="34" charset="-120"/>
              </a:rPr>
              <a:t>Finding closure has no UI write path yet (the recurrence engine is tested and correct regardless)</a:t>
            </a:r>
            <a:endParaRPr lang="en-US" sz="1600" dirty="0"/>
          </a:p>
          <a:p>
            <a:pPr marL="228600" indent="-228600">
              <a:lnSpc>
                <a:spcPct val="115000"/>
              </a:lnSpc>
              <a:spcAft>
                <a:spcPts val="1600"/>
              </a:spcAft>
              <a:buSzPct val="100000"/>
              <a:buChar char="●"/>
            </a:pPr>
            <a:r>
              <a:rPr lang="en-US" sz="1600" dirty="0">
                <a:solidFill>
                  <a:srgbClr val="EAF1F9"/>
                </a:solidFill>
                <a:latin typeface="Calibri" pitchFamily="34" charset="0"/>
                <a:ea typeface="Calibri" pitchFamily="34" charset="-122"/>
                <a:cs typeface="Calibri" pitchFamily="34" charset="-120"/>
              </a:rPr>
              <a:t>No live AI provider, no live Shadowserver feed — deliberate scope boundaries</a:t>
            </a:r>
            <a:endParaRPr lang="en-US" sz="1600" dirty="0"/>
          </a:p>
        </p:txBody>
      </p:sp>
      <p:sp>
        <p:nvSpPr>
          <p:cNvPr id="7" name="Shape 5"/>
          <p:cNvSpPr/>
          <p:nvPr/>
        </p:nvSpPr>
        <p:spPr>
          <a:xfrm>
            <a:off x="548640" y="4937760"/>
            <a:ext cx="11094415" cy="685800"/>
          </a:xfrm>
          <a:prstGeom prst="roundRect">
            <a:avLst>
              <a:gd name="adj" fmla="val 10667"/>
            </a:avLst>
          </a:prstGeom>
          <a:solidFill>
            <a:srgbClr val="0F1A16"/>
          </a:solidFill>
          <a:ln w="12700">
            <a:solidFill>
              <a:srgbClr val="1C2B24"/>
            </a:solidFill>
            <a:prstDash val="solid"/>
          </a:ln>
        </p:spPr>
      </p:sp>
      <p:sp>
        <p:nvSpPr>
          <p:cNvPr id="8" name="Text 6"/>
          <p:cNvSpPr/>
          <p:nvPr/>
        </p:nvSpPr>
        <p:spPr>
          <a:xfrm>
            <a:off x="777240" y="4937760"/>
            <a:ext cx="10637215" cy="685800"/>
          </a:xfrm>
          <a:prstGeom prst="rect">
            <a:avLst/>
          </a:prstGeom>
          <a:noFill/>
          <a:ln/>
        </p:spPr>
        <p:txBody>
          <a:bodyPr wrap="square" lIns="0" tIns="0" rIns="0" bIns="0" rtlCol="0" anchor="ctr"/>
          <a:lstStyle/>
          <a:p>
            <a:pPr indent="0" marL="0">
              <a:buNone/>
            </a:pPr>
            <a:r>
              <a:rPr lang="en-US" sz="1350" b="1" dirty="0">
                <a:solidFill>
                  <a:srgbClr val="35C477"/>
                </a:solidFill>
                <a:latin typeface="Calibri" pitchFamily="34" charset="0"/>
                <a:ea typeface="Calibri" pitchFamily="34" charset="-122"/>
                <a:cs typeface="Calibri" pitchFamily="34" charset="-120"/>
              </a:rPr>
              <a:t>Next:  </a:t>
            </a:r>
            <a:pPr indent="0" marL="0">
              <a:buNone/>
            </a:pPr>
            <a:r>
              <a:rPr lang="en-US" sz="1350" dirty="0">
                <a:solidFill>
                  <a:srgbClr val="EAF1F9"/>
                </a:solidFill>
                <a:latin typeface="Calibri" pitchFamily="34" charset="0"/>
                <a:ea typeface="Calibri" pitchFamily="34" charset="-122"/>
                <a:cs typeface="Calibri" pitchFamily="34" charset="-120"/>
              </a:rPr>
              <a:t>a seventh provider, in-app user management, a production write path for Finding closure.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10"/>
        </a:solidFill>
      </p:bgPr>
    </p:bg>
    <p:spTree>
      <p:nvGrpSpPr>
        <p:cNvPr id="1" name=""/>
        <p:cNvGrpSpPr/>
        <p:nvPr/>
      </p:nvGrpSpPr>
      <p:grpSpPr>
        <a:xfrm>
          <a:off x="0" y="0"/>
          <a:ext cx="0" cy="0"/>
          <a:chOff x="0" y="0"/>
          <a:chExt cx="0" cy="0"/>
        </a:xfrm>
      </p:grpSpPr>
      <p:sp>
        <p:nvSpPr>
          <p:cNvPr id="2" name="Text 0"/>
          <p:cNvSpPr/>
          <p:nvPr/>
        </p:nvSpPr>
        <p:spPr>
          <a:xfrm>
            <a:off x="0" y="2331720"/>
            <a:ext cx="12191695" cy="320040"/>
          </a:xfrm>
          <a:prstGeom prst="rect">
            <a:avLst/>
          </a:prstGeom>
          <a:noFill/>
          <a:ln/>
        </p:spPr>
        <p:txBody>
          <a:bodyPr wrap="square" lIns="0" tIns="0" rIns="0" bIns="0" rtlCol="0" anchor="ctr"/>
          <a:lstStyle/>
          <a:p>
            <a:pPr algn="ctr" indent="0" marL="0">
              <a:buNone/>
            </a:pPr>
            <a:r>
              <a:rPr lang="en-US" sz="1300" b="1" spc="300" kern="0" dirty="0">
                <a:solidFill>
                  <a:srgbClr val="35C477"/>
                </a:solidFill>
                <a:latin typeface="Calibri" pitchFamily="34" charset="0"/>
                <a:ea typeface="Calibri" pitchFamily="34" charset="-122"/>
                <a:cs typeface="Calibri" pitchFamily="34" charset="-120"/>
              </a:rPr>
              <a:t>READY FOR TECHNICAL REVIEW</a:t>
            </a:r>
            <a:endParaRPr lang="en-US" sz="1300" dirty="0"/>
          </a:p>
        </p:txBody>
      </p:sp>
      <p:sp>
        <p:nvSpPr>
          <p:cNvPr id="3" name="Text 1"/>
          <p:cNvSpPr/>
          <p:nvPr/>
        </p:nvSpPr>
        <p:spPr>
          <a:xfrm>
            <a:off x="731520" y="2697480"/>
            <a:ext cx="10728655" cy="1188720"/>
          </a:xfrm>
          <a:prstGeom prst="rect">
            <a:avLst/>
          </a:prstGeom>
          <a:noFill/>
          <a:ln/>
        </p:spPr>
        <p:txBody>
          <a:bodyPr wrap="square" lIns="0" tIns="0" rIns="0" bIns="0" rtlCol="0" anchor="ctr"/>
          <a:lstStyle/>
          <a:p>
            <a:pPr algn="ctr" indent="0" marL="0">
              <a:buNone/>
            </a:pPr>
            <a:r>
              <a:rPr lang="en-US" sz="5400" b="1" dirty="0">
                <a:solidFill>
                  <a:srgbClr val="EAF1F9"/>
                </a:solidFill>
                <a:latin typeface="Calibri" pitchFamily="34" charset="0"/>
                <a:ea typeface="Calibri" pitchFamily="34" charset="-122"/>
                <a:cs typeface="Calibri" pitchFamily="34" charset="-120"/>
              </a:rPr>
              <a:t>ThreatNeXus</a:t>
            </a:r>
            <a:endParaRPr lang="en-US" sz="5400" dirty="0"/>
          </a:p>
        </p:txBody>
      </p:sp>
      <p:sp>
        <p:nvSpPr>
          <p:cNvPr id="4" name="Text 2"/>
          <p:cNvSpPr/>
          <p:nvPr/>
        </p:nvSpPr>
        <p:spPr>
          <a:xfrm>
            <a:off x="1188720" y="3794760"/>
            <a:ext cx="9814255" cy="548640"/>
          </a:xfrm>
          <a:prstGeom prst="rect">
            <a:avLst/>
          </a:prstGeom>
          <a:noFill/>
          <a:ln/>
        </p:spPr>
        <p:txBody>
          <a:bodyPr wrap="square" lIns="0" tIns="0" rIns="0" bIns="0" rtlCol="0" anchor="ctr"/>
          <a:lstStyle/>
          <a:p>
            <a:pPr algn="ctr" indent="0" marL="0">
              <a:buNone/>
            </a:pPr>
            <a:r>
              <a:rPr lang="en-US" sz="1900" i="1" dirty="0">
                <a:solidFill>
                  <a:srgbClr val="9DAFC2"/>
                </a:solidFill>
                <a:latin typeface="Calibri" pitchFamily="34" charset="0"/>
                <a:ea typeface="Calibri" pitchFamily="34" charset="-122"/>
                <a:cs typeface="Calibri" pitchFamily="34" charset="-120"/>
              </a:rPr>
              <a:t>a working, tested, audited analyst workflow —</a:t>
            </a:r>
            <a:endParaRPr lang="en-US" sz="1900" dirty="0"/>
          </a:p>
        </p:txBody>
      </p:sp>
      <p:sp>
        <p:nvSpPr>
          <p:cNvPr id="5" name="Text 3"/>
          <p:cNvSpPr/>
          <p:nvPr/>
        </p:nvSpPr>
        <p:spPr>
          <a:xfrm>
            <a:off x="1188720" y="4343400"/>
            <a:ext cx="9814255" cy="640080"/>
          </a:xfrm>
          <a:prstGeom prst="rect">
            <a:avLst/>
          </a:prstGeom>
          <a:noFill/>
          <a:ln/>
        </p:spPr>
        <p:txBody>
          <a:bodyPr wrap="square" lIns="0" tIns="0" rIns="0" bIns="0" rtlCol="0" anchor="ctr"/>
          <a:lstStyle/>
          <a:p>
            <a:pPr algn="ctr" indent="0" marL="0">
              <a:buNone/>
            </a:pPr>
            <a:r>
              <a:rPr lang="en-US" sz="1400" dirty="0">
                <a:solidFill>
                  <a:srgbClr val="9DAFC2"/>
                </a:solidFill>
                <a:latin typeface="Calibri" pitchFamily="34" charset="0"/>
                <a:ea typeface="Calibri" pitchFamily="34" charset="-122"/>
                <a:cs typeface="Calibri" pitchFamily="34" charset="-120"/>
              </a:rPr>
              <a:t>with its gaps stated as plainly as its guarantees.</a:t>
            </a:r>
            <a:endParaRPr lang="en-US" sz="1400" dirty="0"/>
          </a:p>
        </p:txBody>
      </p:sp>
      <p:sp>
        <p:nvSpPr>
          <p:cNvPr id="6" name="Text 4"/>
          <p:cNvSpPr/>
          <p:nvPr/>
        </p:nvSpPr>
        <p:spPr>
          <a:xfrm>
            <a:off x="0" y="5120640"/>
            <a:ext cx="12191695" cy="548640"/>
          </a:xfrm>
          <a:prstGeom prst="rect">
            <a:avLst/>
          </a:prstGeom>
          <a:noFill/>
          <a:ln/>
        </p:spPr>
        <p:txBody>
          <a:bodyPr wrap="square" lIns="0" tIns="0" rIns="0" bIns="0" rtlCol="0" anchor="ctr"/>
          <a:lstStyle/>
          <a:p>
            <a:pPr algn="ctr" indent="0" marL="0">
              <a:buNone/>
            </a:pPr>
            <a:r>
              <a:rPr lang="en-US" sz="2000" b="1" dirty="0">
                <a:solidFill>
                  <a:srgbClr val="35C477"/>
                </a:solidFill>
                <a:latin typeface="Calibri" pitchFamily="34" charset="0"/>
                <a:ea typeface="Calibri" pitchFamily="34" charset="-122"/>
                <a:cs typeface="Calibri" pitchFamily="34" charset="-120"/>
              </a:rPr>
              <a:t>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ThreatNeXus — PKCERT Presentation Deck</dc:title>
  <dc:subject>PptxGenJS Presentation</dc:subject>
  <dc:creator>ThreatNeXus</dc:creator>
  <cp:lastModifiedBy>ThreatNeXus</cp:lastModifiedBy>
  <cp:revision>1</cp:revision>
  <dcterms:created xsi:type="dcterms:W3CDTF">2026-08-09T22:02:04Z</dcterms:created>
  <dcterms:modified xsi:type="dcterms:W3CDTF">2026-08-09T22:02:04Z</dcterms:modified>
</cp:coreProperties>
</file>